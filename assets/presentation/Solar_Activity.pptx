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Approx. speaking time: 30–35 sec
Speaker explanation:
Introduce the project as a statistical investigation of real GOES X-ray measurements. Do not lead with machine learning. Explain that the deck follows the signal from the Sun, through observation and statistics, into event classification.
Likely viva question:
Is this a forecasting project?
Short answer:
No. We detect observed flare-like activity and perform severity nowcasting at the observed peak; we do not predict a future flare before its signature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Approx. speaking time: 35 sec
Speaker explanation:
Define the three tasks before any algorithm discussion. Detection asks whether observed behavior is unusual. Nowcasting asks the class at the observed peak. Forecasting asks about the future and is explicitly outside the project. Briefly introduce B/C/M/X as peak-flux classes so later B vs C+ has context.
Likely viva question:
What does C+ mean?
Short answer:
C+ combines NOAA C and M events in our supervised target. U/undefined events are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Approx. speaking time: 30 sec
Speaker explanation:
Explain that flare classes are not arbitrary labels: they are defined from peak soft X-ray flux. This motivates both the B/C+ target and the later decision to exclude peak_flux from predictors.
Likely viva question:
Why are B, C, M and X ordered this way?
Short answer:
They represent progressively higher peak soft X-ray flux, with each class threshold increasing by roughly one order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Approx. speaking time: 35 sec
Speaker explanation:
Explain the measurement chain: solar soft X-rays reach GOES, XRS-B records flux repeatedly, and the ordered values become the time series. Emphasize that NOAA records are an external event reference, not part of our detector.
Likely viva question:
Why use XRS-B?
Short answer:
It is the GOES long soft X-ray channel used for NOAA flare classification and it is the main signal in our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1
Approx. speaking time: 35 sec
Speaker explanation:
Explain that we are not classifying raw rows. Preprocessing makes the time axis and missingness explicit so later rolling statistics, ROC and duration calculations are meaningful.
Likely viva question:
Why interpolate only short gaps?
Short answer:
Short interpolation preserves continuity for small missing stretches; long gaps are kept missing because inventing a long signal could distort event timing and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Approx. speaking time: 35 sec
Speaker explanation:
Start with the question: how can we call something unusual before defining normal? Solar background drifts, so we estimate center and spread from recent earlier observations rather than one global average.
Likely viva question:
Why exclude the current observation from its own baseline?
Short answer:
Otherwise an impulsive flare can raise its own mean/spread and make itself look less anomalous.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Approx. speaking time: 40 sec
Speaker explanation:
Keep the formulas secondary. Mean and SD are familiar center/spread measures, while median and MAD are robust alternatives that move less when flare values are extreme. Mention that the MAD scaling factor is applied exactly once.
Likely viva question:
Why do you calculate both SD and MAD?
Short answer:
SD is conventional but sensitive to extremes; MAD gives a robust spread estimate. Comparing both helps detect anomalies without letting flare points dominate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Approx. speaking time: 35 sec
Speaker explanation:
Explain the moving window: for each minute, use the previous 30 minutes to estimate recent background. Then move forward and repeat. This adapts to a background that changes through the day.
Likely viva question:
What is the rolling window size in the detector?
Short answer:
The current R detector uses a 30-minute trailing baseline, with an uncontaminated rule that lags the current point out of its own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Approx. speaking time: 40 sec
Speaker explanation:
First explain the ruler idea: a Z-score says how many normal-spread units the current observation sits above the recent background. Then show the formula. Our robust version swaps mean/SD for median/MAD.
Likely viva question:
Is your Z-score a hypothesis test?
Short answer:
No. It is a standardized anomaly score used in sequential detection; we do not report a Z-test p-value.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2
Approx. speaking time: 40 sec
Speaker explanation:
Explain the detector as sequential statistical logic, not a black box. It combines standard and robust Z scores with rate of change, then requires persistence. Segmentation converts the resulting point-wise signal into discrete event intervals.
Likely viva question:
Why use persistence after thresholding?
Short answer:
To reduce false detections from isolated noisy points. A candidate event must persist for multiple consecutive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Approx. speaking time: 30 sec
Speaker explanation:
Move from point-wise detection to one physical interval. The event lifecycle provides interpretable geometry: start, rise, peak, decay and end. The nowcasting model later uses only information available through the peak.
Likely viva question:
What is the unit of classification?
Short answer:
One independent physical solar event, not an individual one-minute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Approx. speaking time: 40 sec
Speaker explanation:
NOAA alignment compares two independent timelines: our statistically detected event and an official event catalog. Matching is based on timing. Emphasize that unmatched detections are not automatically proven false physical events.
Likely viva question:
Why is NOAA called ground truth here?
Short answer:
It is the external official reference used to assign supervised event labels and check timing correspondence; our detector itself is independent of those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Approx. speaking time: 40 sec
Speaker explanation:
Do not oversell the detector. Recall is high but precision is modest. The key scientific point is that matching and detector selection shape the event population that later reaches supervised ML.
Likely viva question:
Why can precision be low while recall is high?
Short answer:
The detector is sensitive and captures most NOAA events, but it also flags additional sub-B activity or noise that may not have NOAA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Approx. speaking time: 35 sec
Speaker explanation:
Feature engineering is measurement, not magic. We replace the visual event shape with a compact set of interpretable quantities that can be used by classical models.
Likely viva question:
Why not feed the raw time series directly into a neural network?
Short answer:
With only 31 independent ML events, an interpretable event-level feature approach is more defensible and better matched to the SML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3
Approx. speaking time: 40 sec
Speaker explanation:
Explain each feature using the human question shown on the slide. Mention that the three rise-rate features are related and later produce high multicollinearity, which is reported transparently.
Likely viva question:
What is bg_flux?
Short answer:
It is the pre-event background X-ray flux level, giving context for the event without directly supplying the target-defining peak flux.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Approx. speaking time: 45 sec
Speaker explanation:
This is the key scientific-integrity slide. The task is defined at the observed peak, so post-peak values are forbidden. Stage 8.5 corrected max_roc and mean_pos_roc to use START→PEAK only. Peak_flux is also excluded because NOAA class itself is defined from peak flux.
Likely viva question:
Is information at the peak leakage?
Short answer:
Not temporal leakage, because the task is explicitly nowcasting at the observed peak. However, we still report a target-proxy concern because rise-phase morphology is physically related to the peak that defines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Approx. speaking time: 35 sec
Speaker explanation:
Re-state the unit of analysis before models: one independent physical event becomes one row with five allowed predictors. Explain the 32→31 filtering and class distribution.
Likely viva question:
Why deduplicate before ML?
Short answer:
Because repeated detections of the same physical NOAA event would violate independence and could make performance look artificially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Approx. speaking time: 45 sec
Speaker explanation:
Explain chronology before results. The earliest 18 events train, the next 6 are development, and the final 7 are untouched until the model is frozen. Then introduce the three predefined classical models and the Macro-F1 / balanced-accuracy selection rule.
Likely viva question:
Why not use a random split?
Short answer:
A chronological split better reflects the intended temporal use: learn from earlier events and assess later ones without mixing future and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Approx. speaking time: 55 sec
Speaker explanation:
Show development and final test separately. State the exact 7/7 result, then immediately state test N=7. LOOCV is supplementary. Complete separation and high VIF mean Logistic coefficients are not stable physical effects, even though sample classification is clean.
Likely viva question:
If Logistic Regression has convergence warnings, why keep its result?
Short answer:
Because the experiment was frozen by the predefined development procedure. We report the warning rather than optimize after seeing the outcome; the warning mainly limits coefficient inference and reliability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4
Approx. speaking time: 45 sec
Speaker explanation:
Close by separating contribution from claims. The project demonstrates an auditable statistical workflow and a small-sample classification experiment. It does not establish operational forecasting or generalization. Then move directly into the frozen R Shiny GUI for the live laboratory demonstration.
Likely viva question:
What is the single strongest limitation?
Short answer:
The small number of independent physical events: 31 for ML and only 7 in the final chronological holdout, with no external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411480" y="6547104"/>
            <a:ext cx="11356848" cy="0"/>
          </a:xfrm>
          <a:prstGeom prst="line">
            <a:avLst/>
          </a:prstGeom>
          <a:noFill/>
          <a:ln w="10160">
            <a:solidFill>
              <a:srgbClr val="D6E7F7"/>
            </a:solidFill>
            <a:prstDash val="solid"/>
          </a:ln>
        </p:spPr>
      </p:sp>
      <p:sp>
        <p:nvSpPr>
          <p:cNvPr id="3" name="Text 1"/>
          <p:cNvSpPr/>
          <p:nvPr/>
        </p:nvSpPr>
        <p:spPr>
          <a:xfrm>
            <a:off x="502920" y="6565392"/>
            <a:ext cx="5303520" cy="164592"/>
          </a:xfrm>
          <a:prstGeom prst="rect">
            <a:avLst/>
          </a:prstGeom>
          <a:noFill/>
          <a:ln/>
        </p:spPr>
        <p:txBody>
          <a:bodyPr wrap="square" lIns="0" tIns="0" rIns="0" bIns="0" rtlCol="0" anchor="ctr"/>
          <a:lstStyle/>
          <a:p>
            <a:pPr indent="0" marL="0">
              <a:buNone/>
            </a:pPr>
            <a:r>
              <a:rPr lang="en-US" sz="750" dirty="0">
                <a:solidFill>
                  <a:srgbClr val="6D86A2"/>
                </a:solidFill>
                <a:latin typeface="Aptos" pitchFamily="34" charset="0"/>
                <a:ea typeface="Aptos" pitchFamily="34" charset="-122"/>
                <a:cs typeface="Aptos" pitchFamily="34" charset="-120"/>
              </a:rPr>
              <a:t>SML PBL · Solar Activity · GOES X-Ray Time-Series</a:t>
            </a:r>
            <a:endParaRPr lang="en-US" sz="7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pic>
        <p:nvPicPr>
          <p:cNvPr id="6" name="Image 1" descr="/mnt/data/image(20260919-172640).png">    </p:cNvPr>
          <p:cNvPicPr>
            <a:picLocks noChangeAspect="1"/>
          </p:cNvPicPr>
          <p:nvPr/>
        </p:nvPicPr>
        <p:blipFill>
          <a:blip r:embed="rId2"/>
          <a:stretch>
            <a:fillRect/>
          </a:stretch>
        </p:blipFill>
        <p:spPr>
          <a:xfrm>
            <a:off x="5751576" y="164592"/>
            <a:ext cx="658368" cy="658368"/>
          </a:xfrm>
          <a:prstGeom prst="rect">
            <a:avLst/>
          </a:prstGeom>
        </p:spPr>
      </p:pic>
      <p:sp>
        <p:nvSpPr>
          <p:cNvPr id="7" name="Text 3"/>
          <p:cNvSpPr/>
          <p:nvPr/>
        </p:nvSpPr>
        <p:spPr>
          <a:xfrm>
            <a:off x="2423160" y="749808"/>
            <a:ext cx="7680960" cy="329184"/>
          </a:xfrm>
          <a:prstGeom prst="rect">
            <a:avLst/>
          </a:prstGeom>
          <a:noFill/>
          <a:ln/>
        </p:spPr>
        <p:txBody>
          <a:bodyPr wrap="square" lIns="508" tIns="508" rIns="508" bIns="508" rtlCol="0" anchor="ctr">
            <a:normAutofit/>
          </a:bodyPr>
          <a:lstStyle/>
          <a:p>
            <a:pPr algn="ctr" indent="0" marL="0">
              <a:buNone/>
            </a:pPr>
            <a:r>
              <a:rPr lang="en-US" sz="1800" b="1" dirty="0">
                <a:solidFill>
                  <a:srgbClr val="0B1F5B"/>
                </a:solidFill>
                <a:latin typeface="Georgia" pitchFamily="34" charset="0"/>
                <a:ea typeface="Georgia" pitchFamily="34" charset="-122"/>
                <a:cs typeface="Georgia" pitchFamily="34" charset="-120"/>
              </a:rPr>
              <a:t>Geethanjali College of Engineering and Technology (Autonomous)</a:t>
            </a:r>
            <a:endParaRPr lang="en-US" sz="1800" dirty="0"/>
          </a:p>
        </p:txBody>
      </p:sp>
      <p:sp>
        <p:nvSpPr>
          <p:cNvPr id="8" name="Text 4"/>
          <p:cNvSpPr/>
          <p:nvPr/>
        </p:nvSpPr>
        <p:spPr>
          <a:xfrm>
            <a:off x="2331720" y="1097280"/>
            <a:ext cx="7909560" cy="256032"/>
          </a:xfrm>
          <a:prstGeom prst="rect">
            <a:avLst/>
          </a:prstGeom>
          <a:noFill/>
          <a:ln/>
        </p:spPr>
        <p:txBody>
          <a:bodyPr wrap="square" lIns="508" tIns="508" rIns="508" bIns="508" rtlCol="0" anchor="ctr">
            <a:normAutofit/>
          </a:bodyPr>
          <a:lstStyle/>
          <a:p>
            <a:pPr algn="ctr" indent="0" marL="0">
              <a:buNone/>
            </a:pPr>
            <a:r>
              <a:rPr lang="en-US" sz="1070" dirty="0">
                <a:solidFill>
                  <a:srgbClr val="0B1F5B"/>
                </a:solidFill>
                <a:latin typeface="Aptos" pitchFamily="34" charset="0"/>
                <a:ea typeface="Aptos" pitchFamily="34" charset="-122"/>
                <a:cs typeface="Aptos" pitchFamily="34" charset="-120"/>
              </a:rPr>
              <a:t>Department of Computer Science and Engineering (Artificial Intelligence and Machine Learning)</a:t>
            </a:r>
            <a:endParaRPr lang="en-US" sz="1070" dirty="0"/>
          </a:p>
        </p:txBody>
      </p:sp>
      <p:sp>
        <p:nvSpPr>
          <p:cNvPr id="9" name="Shape 5"/>
          <p:cNvSpPr/>
          <p:nvPr/>
        </p:nvSpPr>
        <p:spPr>
          <a:xfrm>
            <a:off x="2743200" y="1399032"/>
            <a:ext cx="7040880" cy="0"/>
          </a:xfrm>
          <a:prstGeom prst="line">
            <a:avLst/>
          </a:prstGeom>
          <a:noFill/>
          <a:ln w="13970">
            <a:solidFill>
              <a:srgbClr val="E9A21B"/>
            </a:solidFill>
            <a:prstDash val="solid"/>
          </a:ln>
        </p:spPr>
      </p:sp>
      <p:sp>
        <p:nvSpPr>
          <p:cNvPr id="10" name="Shape 6"/>
          <p:cNvSpPr/>
          <p:nvPr/>
        </p:nvSpPr>
        <p:spPr>
          <a:xfrm>
            <a:off x="6099048" y="1344168"/>
            <a:ext cx="91440" cy="91440"/>
          </a:xfrm>
          <a:prstGeom prst="ellipse">
            <a:avLst/>
          </a:prstGeom>
          <a:solidFill>
            <a:srgbClr val="E9A21B"/>
          </a:solidFill>
          <a:ln w="12700">
            <a:solidFill>
              <a:srgbClr val="E9A21B"/>
            </a:solidFill>
            <a:prstDash val="solid"/>
          </a:ln>
        </p:spPr>
      </p:sp>
      <p:sp>
        <p:nvSpPr>
          <p:cNvPr id="11" name="Text 7"/>
          <p:cNvSpPr/>
          <p:nvPr/>
        </p:nvSpPr>
        <p:spPr>
          <a:xfrm>
            <a:off x="2331720" y="1673352"/>
            <a:ext cx="7223760" cy="960120"/>
          </a:xfrm>
          <a:prstGeom prst="rect">
            <a:avLst/>
          </a:prstGeom>
          <a:noFill/>
          <a:ln/>
        </p:spPr>
        <p:txBody>
          <a:bodyPr wrap="square" lIns="508" tIns="508" rIns="508" bIns="508" rtlCol="0" anchor="ctr">
            <a:normAutofit/>
          </a:bodyPr>
          <a:lstStyle/>
          <a:p>
            <a:pPr algn="ctr" indent="0" marL="0">
              <a:buNone/>
            </a:pPr>
            <a:r>
              <a:rPr lang="en-US" sz="2800" b="1" dirty="0">
                <a:solidFill>
                  <a:srgbClr val="0B1F5B"/>
                </a:solidFill>
                <a:latin typeface="Georgia" pitchFamily="34" charset="0"/>
                <a:ea typeface="Georgia" pitchFamily="34" charset="-122"/>
                <a:cs typeface="Georgia" pitchFamily="34" charset="-120"/>
              </a:rPr>
              <a:t>Statistical Detection and Classification</a:t>
            </a:r>
            <a:endParaRPr lang="en-US" sz="2800" dirty="0"/>
          </a:p>
          <a:p>
            <a:pPr algn="ctr" indent="0" marL="0">
              <a:buNone/>
            </a:pPr>
            <a:r>
              <a:rPr lang="en-US" sz="2800" b="1" dirty="0">
                <a:solidFill>
                  <a:srgbClr val="0B1F5B"/>
                </a:solidFill>
                <a:latin typeface="Georgia" pitchFamily="34" charset="0"/>
                <a:ea typeface="Georgia" pitchFamily="34" charset="-122"/>
                <a:cs typeface="Georgia" pitchFamily="34" charset="-120"/>
              </a:rPr>
              <a:t>of Solar Activity</a:t>
            </a:r>
            <a:endParaRPr lang="en-US" sz="2800" dirty="0"/>
          </a:p>
        </p:txBody>
      </p:sp>
      <p:sp>
        <p:nvSpPr>
          <p:cNvPr id="12" name="Text 8"/>
          <p:cNvSpPr/>
          <p:nvPr/>
        </p:nvSpPr>
        <p:spPr>
          <a:xfrm>
            <a:off x="2331720" y="2670048"/>
            <a:ext cx="7223760" cy="411480"/>
          </a:xfrm>
          <a:prstGeom prst="rect">
            <a:avLst/>
          </a:prstGeom>
          <a:noFill/>
          <a:ln/>
        </p:spPr>
        <p:txBody>
          <a:bodyPr wrap="square" lIns="508" tIns="508" rIns="508" bIns="508" rtlCol="0" anchor="ctr">
            <a:normAutofit/>
          </a:bodyPr>
          <a:lstStyle/>
          <a:p>
            <a:pPr algn="ctr" indent="0" marL="0">
              <a:buNone/>
            </a:pPr>
            <a:r>
              <a:rPr lang="en-US" sz="2200" b="1" dirty="0">
                <a:solidFill>
                  <a:srgbClr val="1C67B5"/>
                </a:solidFill>
                <a:latin typeface="Georgia" pitchFamily="34" charset="0"/>
                <a:ea typeface="Georgia" pitchFamily="34" charset="-122"/>
                <a:cs typeface="Georgia" pitchFamily="34" charset="-120"/>
              </a:rPr>
              <a:t>Using Real-Time X-Ray Time-Series Data</a:t>
            </a:r>
            <a:endParaRPr lang="en-US" sz="2200" dirty="0"/>
          </a:p>
        </p:txBody>
      </p:sp>
      <p:sp>
        <p:nvSpPr>
          <p:cNvPr id="13" name="Text 9"/>
          <p:cNvSpPr/>
          <p:nvPr/>
        </p:nvSpPr>
        <p:spPr>
          <a:xfrm>
            <a:off x="2926080" y="3145536"/>
            <a:ext cx="6035040" cy="292608"/>
          </a:xfrm>
          <a:prstGeom prst="rect">
            <a:avLst/>
          </a:prstGeom>
          <a:noFill/>
          <a:ln/>
        </p:spPr>
        <p:txBody>
          <a:bodyPr wrap="square" lIns="508" tIns="508" rIns="508" bIns="508" rtlCol="0" anchor="ctr">
            <a:normAutofit/>
          </a:bodyPr>
          <a:lstStyle/>
          <a:p>
            <a:pPr algn="ctr" indent="0" marL="0">
              <a:buNone/>
            </a:pPr>
            <a:r>
              <a:rPr lang="en-US" sz="1250" b="1" dirty="0">
                <a:solidFill>
                  <a:srgbClr val="0B1F5B"/>
                </a:solidFill>
                <a:latin typeface="Aptos" pitchFamily="34" charset="0"/>
                <a:ea typeface="Aptos" pitchFamily="34" charset="-122"/>
                <a:cs typeface="Aptos" pitchFamily="34" charset="-120"/>
              </a:rPr>
              <a:t>SML — Statistics for Machine Learning  |  PBL</a:t>
            </a:r>
            <a:endParaRPr lang="en-US" sz="1250" dirty="0"/>
          </a:p>
        </p:txBody>
      </p:sp>
      <p:sp>
        <p:nvSpPr>
          <p:cNvPr id="14" name="Shape 10"/>
          <p:cNvSpPr/>
          <p:nvPr/>
        </p:nvSpPr>
        <p:spPr>
          <a:xfrm>
            <a:off x="9070848" y="1828800"/>
            <a:ext cx="2514600" cy="2011680"/>
          </a:xfrm>
          <a:prstGeom prst="roundRect">
            <a:avLst>
              <a:gd name="adj" fmla="val 3636"/>
            </a:avLst>
          </a:prstGeom>
          <a:solidFill>
            <a:srgbClr val="F1F8FE"/>
          </a:solidFill>
          <a:ln w="12700">
            <a:solidFill>
              <a:srgbClr val="A8CDEA"/>
            </a:solidFill>
            <a:prstDash val="solid"/>
          </a:ln>
        </p:spPr>
      </p:sp>
      <p:pic>
        <p:nvPicPr>
          <p:cNvPr id="15" name="Image 2" descr="/mnt/data/ppt_assets/goes_crop.jpg">    </p:cNvPr>
          <p:cNvPicPr>
            <a:picLocks noChangeAspect="1"/>
          </p:cNvPicPr>
          <p:nvPr/>
        </p:nvPicPr>
        <p:blipFill>
          <a:blip r:embed="rId3"/>
          <a:stretch>
            <a:fillRect/>
          </a:stretch>
        </p:blipFill>
        <p:spPr>
          <a:xfrm>
            <a:off x="9705889" y="1920240"/>
            <a:ext cx="1244517" cy="1042416"/>
          </a:xfrm>
          <a:prstGeom prst="rect">
            <a:avLst/>
          </a:prstGeom>
        </p:spPr>
      </p:pic>
      <p:sp>
        <p:nvSpPr>
          <p:cNvPr id="16" name="Text 11"/>
          <p:cNvSpPr/>
          <p:nvPr/>
        </p:nvSpPr>
        <p:spPr>
          <a:xfrm>
            <a:off x="9436608" y="2926080"/>
            <a:ext cx="1783080" cy="237744"/>
          </a:xfrm>
          <a:prstGeom prst="rect">
            <a:avLst/>
          </a:prstGeom>
          <a:noFill/>
          <a:ln/>
        </p:spPr>
        <p:txBody>
          <a:bodyPr wrap="square" lIns="508" tIns="508" rIns="508" bIns="508" rtlCol="0" anchor="ctr">
            <a:normAutofit/>
          </a:bodyPr>
          <a:lstStyle/>
          <a:p>
            <a:pPr algn="ctr" indent="0" marL="0">
              <a:buNone/>
            </a:pPr>
            <a:r>
              <a:rPr lang="en-US" sz="1200" b="1" dirty="0">
                <a:solidFill>
                  <a:srgbClr val="0B1F5B"/>
                </a:solidFill>
                <a:latin typeface="Aptos" pitchFamily="34" charset="0"/>
                <a:ea typeface="Aptos" pitchFamily="34" charset="-122"/>
                <a:cs typeface="Aptos" pitchFamily="34" charset="-120"/>
              </a:rPr>
              <a:t>GOES XRS-B</a:t>
            </a:r>
            <a:endParaRPr lang="en-US" sz="1200" dirty="0"/>
          </a:p>
        </p:txBody>
      </p:sp>
      <p:sp>
        <p:nvSpPr>
          <p:cNvPr id="17" name="Shape 12"/>
          <p:cNvSpPr/>
          <p:nvPr/>
        </p:nvSpPr>
        <p:spPr>
          <a:xfrm>
            <a:off x="9326880" y="3310128"/>
            <a:ext cx="1783080" cy="0"/>
          </a:xfrm>
          <a:prstGeom prst="line">
            <a:avLst/>
          </a:prstGeom>
          <a:noFill/>
          <a:ln w="16510">
            <a:solidFill>
              <a:srgbClr val="25A7D9"/>
            </a:solidFill>
            <a:prstDash val="solid"/>
          </a:ln>
        </p:spPr>
      </p:sp>
      <p:sp>
        <p:nvSpPr>
          <p:cNvPr id="18" name="Shape 13"/>
          <p:cNvSpPr/>
          <p:nvPr/>
        </p:nvSpPr>
        <p:spPr>
          <a:xfrm>
            <a:off x="9372600" y="3474720"/>
            <a:ext cx="0" cy="91440"/>
          </a:xfrm>
          <a:prstGeom prst="line">
            <a:avLst/>
          </a:prstGeom>
          <a:noFill/>
          <a:ln w="25400">
            <a:solidFill>
              <a:srgbClr val="25A7D9"/>
            </a:solidFill>
            <a:prstDash val="solid"/>
          </a:ln>
        </p:spPr>
      </p:sp>
      <p:sp>
        <p:nvSpPr>
          <p:cNvPr id="19" name="Shape 14"/>
          <p:cNvSpPr/>
          <p:nvPr/>
        </p:nvSpPr>
        <p:spPr>
          <a:xfrm>
            <a:off x="9619488" y="3401568"/>
            <a:ext cx="0" cy="164592"/>
          </a:xfrm>
          <a:prstGeom prst="line">
            <a:avLst/>
          </a:prstGeom>
          <a:noFill/>
          <a:ln w="25400">
            <a:solidFill>
              <a:srgbClr val="25A7D9"/>
            </a:solidFill>
            <a:prstDash val="solid"/>
          </a:ln>
        </p:spPr>
      </p:sp>
      <p:sp>
        <p:nvSpPr>
          <p:cNvPr id="20" name="Shape 15"/>
          <p:cNvSpPr/>
          <p:nvPr/>
        </p:nvSpPr>
        <p:spPr>
          <a:xfrm>
            <a:off x="9866376" y="3456432"/>
            <a:ext cx="0" cy="109728"/>
          </a:xfrm>
          <a:prstGeom prst="line">
            <a:avLst/>
          </a:prstGeom>
          <a:noFill/>
          <a:ln w="25400">
            <a:solidFill>
              <a:srgbClr val="25A7D9"/>
            </a:solidFill>
            <a:prstDash val="solid"/>
          </a:ln>
        </p:spPr>
      </p:sp>
      <p:sp>
        <p:nvSpPr>
          <p:cNvPr id="21" name="Shape 16"/>
          <p:cNvSpPr/>
          <p:nvPr/>
        </p:nvSpPr>
        <p:spPr>
          <a:xfrm>
            <a:off x="10113264" y="3246120"/>
            <a:ext cx="0" cy="320040"/>
          </a:xfrm>
          <a:prstGeom prst="line">
            <a:avLst/>
          </a:prstGeom>
          <a:noFill/>
          <a:ln w="25400">
            <a:solidFill>
              <a:srgbClr val="25A7D9"/>
            </a:solidFill>
            <a:prstDash val="solid"/>
          </a:ln>
        </p:spPr>
      </p:sp>
      <p:sp>
        <p:nvSpPr>
          <p:cNvPr id="22" name="Shape 17"/>
          <p:cNvSpPr/>
          <p:nvPr/>
        </p:nvSpPr>
        <p:spPr>
          <a:xfrm>
            <a:off x="10360152" y="3438144"/>
            <a:ext cx="0" cy="128016"/>
          </a:xfrm>
          <a:prstGeom prst="line">
            <a:avLst/>
          </a:prstGeom>
          <a:noFill/>
          <a:ln w="25400">
            <a:solidFill>
              <a:srgbClr val="25A7D9"/>
            </a:solidFill>
            <a:prstDash val="solid"/>
          </a:ln>
        </p:spPr>
      </p:sp>
      <p:sp>
        <p:nvSpPr>
          <p:cNvPr id="23" name="Shape 18"/>
          <p:cNvSpPr/>
          <p:nvPr/>
        </p:nvSpPr>
        <p:spPr>
          <a:xfrm>
            <a:off x="10607040" y="3063240"/>
            <a:ext cx="0" cy="502920"/>
          </a:xfrm>
          <a:prstGeom prst="line">
            <a:avLst/>
          </a:prstGeom>
          <a:noFill/>
          <a:ln w="25400">
            <a:solidFill>
              <a:srgbClr val="25A7D9"/>
            </a:solidFill>
            <a:prstDash val="solid"/>
          </a:ln>
        </p:spPr>
      </p:sp>
      <p:sp>
        <p:nvSpPr>
          <p:cNvPr id="24" name="Shape 19"/>
          <p:cNvSpPr/>
          <p:nvPr/>
        </p:nvSpPr>
        <p:spPr>
          <a:xfrm>
            <a:off x="10853928" y="3383280"/>
            <a:ext cx="0" cy="182880"/>
          </a:xfrm>
          <a:prstGeom prst="line">
            <a:avLst/>
          </a:prstGeom>
          <a:noFill/>
          <a:ln w="25400">
            <a:solidFill>
              <a:srgbClr val="25A7D9"/>
            </a:solidFill>
            <a:prstDash val="solid"/>
          </a:ln>
        </p:spPr>
      </p:sp>
      <p:sp>
        <p:nvSpPr>
          <p:cNvPr id="25" name="Text 20"/>
          <p:cNvSpPr/>
          <p:nvPr/>
        </p:nvSpPr>
        <p:spPr>
          <a:xfrm>
            <a:off x="9308592" y="3602736"/>
            <a:ext cx="1828800" cy="201168"/>
          </a:xfrm>
          <a:prstGeom prst="rect">
            <a:avLst/>
          </a:prstGeom>
          <a:noFill/>
          <a:ln/>
        </p:spPr>
        <p:txBody>
          <a:bodyPr wrap="square" lIns="508" tIns="508" rIns="508" bIns="508" rtlCol="0" anchor="ctr">
            <a:normAutofit/>
          </a:bodyPr>
          <a:lstStyle/>
          <a:p>
            <a:pPr algn="ctr" indent="0" marL="0">
              <a:buNone/>
            </a:pPr>
            <a:r>
              <a:rPr lang="en-US" sz="850" dirty="0">
                <a:solidFill>
                  <a:srgbClr val="637B93"/>
                </a:solidFill>
                <a:latin typeface="Aptos" pitchFamily="34" charset="0"/>
                <a:ea typeface="Aptos" pitchFamily="34" charset="-122"/>
                <a:cs typeface="Aptos" pitchFamily="34" charset="-120"/>
              </a:rPr>
              <a:t>observed X-ray flux</a:t>
            </a:r>
            <a:endParaRPr lang="en-US" sz="850" dirty="0"/>
          </a:p>
        </p:txBody>
      </p:sp>
      <p:sp>
        <p:nvSpPr>
          <p:cNvPr id="26" name="Shape 21"/>
          <p:cNvSpPr/>
          <p:nvPr/>
        </p:nvSpPr>
        <p:spPr>
          <a:xfrm>
            <a:off x="2907792" y="3822192"/>
            <a:ext cx="1124712" cy="594360"/>
          </a:xfrm>
          <a:prstGeom prst="roundRect">
            <a:avLst>
              <a:gd name="adj" fmla="val 12308"/>
            </a:avLst>
          </a:prstGeom>
          <a:solidFill>
            <a:srgbClr val="FFF4D5"/>
          </a:solidFill>
          <a:ln w="12700">
            <a:solidFill>
              <a:srgbClr val="E9A21B"/>
            </a:solidFill>
            <a:prstDash val="solid"/>
          </a:ln>
        </p:spPr>
      </p:sp>
      <p:sp>
        <p:nvSpPr>
          <p:cNvPr id="27" name="Text 22"/>
          <p:cNvSpPr/>
          <p:nvPr/>
        </p:nvSpPr>
        <p:spPr>
          <a:xfrm>
            <a:off x="2907792" y="4005072"/>
            <a:ext cx="1124712" cy="201168"/>
          </a:xfrm>
          <a:prstGeom prst="rect">
            <a:avLst/>
          </a:prstGeom>
          <a:noFill/>
          <a:ln/>
        </p:spPr>
        <p:txBody>
          <a:bodyPr wrap="square" lIns="508" tIns="508" rIns="508" bIns="508" rtlCol="0" anchor="ctr">
            <a:normAutofit/>
          </a:bodyPr>
          <a:lstStyle/>
          <a:p>
            <a:pPr algn="ctr" indent="0" marL="0">
              <a:buNone/>
            </a:pPr>
            <a:r>
              <a:rPr lang="en-US" sz="1000" b="1" dirty="0">
                <a:solidFill>
                  <a:srgbClr val="0B1F5B"/>
                </a:solidFill>
                <a:latin typeface="Aptos" pitchFamily="34" charset="0"/>
                <a:ea typeface="Aptos" pitchFamily="34" charset="-122"/>
                <a:cs typeface="Aptos" pitchFamily="34" charset="-120"/>
              </a:rPr>
              <a:t>SUN</a:t>
            </a:r>
            <a:endParaRPr lang="en-US" sz="1000" dirty="0"/>
          </a:p>
        </p:txBody>
      </p:sp>
      <p:sp>
        <p:nvSpPr>
          <p:cNvPr id="28" name="Shape 23"/>
          <p:cNvSpPr/>
          <p:nvPr/>
        </p:nvSpPr>
        <p:spPr>
          <a:xfrm>
            <a:off x="4059936" y="3995928"/>
            <a:ext cx="137160" cy="256032"/>
          </a:xfrm>
          <a:prstGeom prst="chevron">
            <a:avLst/>
          </a:prstGeom>
          <a:solidFill>
            <a:srgbClr val="1C67B5"/>
          </a:solidFill>
          <a:ln w="12700">
            <a:solidFill>
              <a:srgbClr val="1C67B5">
                <a:alpha val="0"/>
              </a:srgbClr>
            </a:solidFill>
            <a:prstDash val="solid"/>
          </a:ln>
        </p:spPr>
      </p:sp>
      <p:sp>
        <p:nvSpPr>
          <p:cNvPr id="29" name="Shape 24"/>
          <p:cNvSpPr/>
          <p:nvPr/>
        </p:nvSpPr>
        <p:spPr>
          <a:xfrm>
            <a:off x="4242816" y="3822192"/>
            <a:ext cx="1124712" cy="594360"/>
          </a:xfrm>
          <a:prstGeom prst="roundRect">
            <a:avLst>
              <a:gd name="adj" fmla="val 12308"/>
            </a:avLst>
          </a:prstGeom>
          <a:solidFill>
            <a:srgbClr val="EAF8FD"/>
          </a:solidFill>
          <a:ln w="12700">
            <a:solidFill>
              <a:srgbClr val="25A7D9"/>
            </a:solidFill>
            <a:prstDash val="solid"/>
          </a:ln>
        </p:spPr>
      </p:sp>
      <p:sp>
        <p:nvSpPr>
          <p:cNvPr id="30" name="Text 25"/>
          <p:cNvSpPr/>
          <p:nvPr/>
        </p:nvSpPr>
        <p:spPr>
          <a:xfrm>
            <a:off x="4242816" y="4005072"/>
            <a:ext cx="1124712" cy="201168"/>
          </a:xfrm>
          <a:prstGeom prst="rect">
            <a:avLst/>
          </a:prstGeom>
          <a:noFill/>
          <a:ln/>
        </p:spPr>
        <p:txBody>
          <a:bodyPr wrap="square" lIns="508" tIns="508" rIns="508" bIns="508" rtlCol="0" anchor="ctr">
            <a:normAutofit/>
          </a:bodyPr>
          <a:lstStyle/>
          <a:p>
            <a:pPr algn="ctr" indent="0" marL="0">
              <a:buNone/>
            </a:pPr>
            <a:r>
              <a:rPr lang="en-US" sz="1000" b="1" dirty="0">
                <a:solidFill>
                  <a:srgbClr val="0B1F5B"/>
                </a:solidFill>
                <a:latin typeface="Aptos" pitchFamily="34" charset="0"/>
                <a:ea typeface="Aptos" pitchFamily="34" charset="-122"/>
                <a:cs typeface="Aptos" pitchFamily="34" charset="-120"/>
              </a:rPr>
              <a:t>X-RAYS</a:t>
            </a:r>
            <a:endParaRPr lang="en-US" sz="1000" dirty="0"/>
          </a:p>
        </p:txBody>
      </p:sp>
      <p:sp>
        <p:nvSpPr>
          <p:cNvPr id="31" name="Shape 26"/>
          <p:cNvSpPr/>
          <p:nvPr/>
        </p:nvSpPr>
        <p:spPr>
          <a:xfrm>
            <a:off x="5394960" y="3995928"/>
            <a:ext cx="137160" cy="256032"/>
          </a:xfrm>
          <a:prstGeom prst="chevron">
            <a:avLst/>
          </a:prstGeom>
          <a:solidFill>
            <a:srgbClr val="1C67B5"/>
          </a:solidFill>
          <a:ln w="12700">
            <a:solidFill>
              <a:srgbClr val="1C67B5">
                <a:alpha val="0"/>
              </a:srgbClr>
            </a:solidFill>
            <a:prstDash val="solid"/>
          </a:ln>
        </p:spPr>
      </p:sp>
      <p:sp>
        <p:nvSpPr>
          <p:cNvPr id="32" name="Shape 27"/>
          <p:cNvSpPr/>
          <p:nvPr/>
        </p:nvSpPr>
        <p:spPr>
          <a:xfrm>
            <a:off x="5577840" y="3822192"/>
            <a:ext cx="1124712" cy="594360"/>
          </a:xfrm>
          <a:prstGeom prst="roundRect">
            <a:avLst>
              <a:gd name="adj" fmla="val 12308"/>
            </a:avLst>
          </a:prstGeom>
          <a:solidFill>
            <a:srgbClr val="EDF4FD"/>
          </a:solidFill>
          <a:ln w="12700">
            <a:solidFill>
              <a:srgbClr val="1C67B5"/>
            </a:solidFill>
            <a:prstDash val="solid"/>
          </a:ln>
        </p:spPr>
      </p:sp>
      <p:sp>
        <p:nvSpPr>
          <p:cNvPr id="33" name="Text 28"/>
          <p:cNvSpPr/>
          <p:nvPr/>
        </p:nvSpPr>
        <p:spPr>
          <a:xfrm>
            <a:off x="5577840" y="4005072"/>
            <a:ext cx="1124712" cy="201168"/>
          </a:xfrm>
          <a:prstGeom prst="rect">
            <a:avLst/>
          </a:prstGeom>
          <a:noFill/>
          <a:ln/>
        </p:spPr>
        <p:txBody>
          <a:bodyPr wrap="square" lIns="508" tIns="508" rIns="508" bIns="508" rtlCol="0" anchor="ctr">
            <a:normAutofit/>
          </a:bodyPr>
          <a:lstStyle/>
          <a:p>
            <a:pPr algn="ctr" indent="0" marL="0">
              <a:buNone/>
            </a:pPr>
            <a:r>
              <a:rPr lang="en-US" sz="1000" b="1" dirty="0">
                <a:solidFill>
                  <a:srgbClr val="0B1F5B"/>
                </a:solidFill>
                <a:latin typeface="Aptos" pitchFamily="34" charset="0"/>
                <a:ea typeface="Aptos" pitchFamily="34" charset="-122"/>
                <a:cs typeface="Aptos" pitchFamily="34" charset="-120"/>
              </a:rPr>
              <a:t>GOES</a:t>
            </a:r>
            <a:endParaRPr lang="en-US" sz="1000" dirty="0"/>
          </a:p>
        </p:txBody>
      </p:sp>
      <p:sp>
        <p:nvSpPr>
          <p:cNvPr id="34" name="Shape 29"/>
          <p:cNvSpPr/>
          <p:nvPr/>
        </p:nvSpPr>
        <p:spPr>
          <a:xfrm>
            <a:off x="6729984" y="3995928"/>
            <a:ext cx="137160" cy="256032"/>
          </a:xfrm>
          <a:prstGeom prst="chevron">
            <a:avLst/>
          </a:prstGeom>
          <a:solidFill>
            <a:srgbClr val="1C67B5"/>
          </a:solidFill>
          <a:ln w="12700">
            <a:solidFill>
              <a:srgbClr val="1C67B5">
                <a:alpha val="0"/>
              </a:srgbClr>
            </a:solidFill>
            <a:prstDash val="solid"/>
          </a:ln>
        </p:spPr>
      </p:sp>
      <p:sp>
        <p:nvSpPr>
          <p:cNvPr id="35" name="Shape 30"/>
          <p:cNvSpPr/>
          <p:nvPr/>
        </p:nvSpPr>
        <p:spPr>
          <a:xfrm>
            <a:off x="6912864" y="3822192"/>
            <a:ext cx="1124712" cy="594360"/>
          </a:xfrm>
          <a:prstGeom prst="roundRect">
            <a:avLst>
              <a:gd name="adj" fmla="val 12308"/>
            </a:avLst>
          </a:prstGeom>
          <a:solidFill>
            <a:srgbClr val="EDF4FD"/>
          </a:solidFill>
          <a:ln w="12700">
            <a:solidFill>
              <a:srgbClr val="1C67B5"/>
            </a:solidFill>
            <a:prstDash val="solid"/>
          </a:ln>
        </p:spPr>
      </p:sp>
      <p:sp>
        <p:nvSpPr>
          <p:cNvPr id="36" name="Text 31"/>
          <p:cNvSpPr/>
          <p:nvPr/>
        </p:nvSpPr>
        <p:spPr>
          <a:xfrm>
            <a:off x="6912864" y="4005072"/>
            <a:ext cx="1124712" cy="201168"/>
          </a:xfrm>
          <a:prstGeom prst="rect">
            <a:avLst/>
          </a:prstGeom>
          <a:noFill/>
          <a:ln/>
        </p:spPr>
        <p:txBody>
          <a:bodyPr wrap="square" lIns="508" tIns="508" rIns="508" bIns="508" rtlCol="0" anchor="ctr">
            <a:normAutofit/>
          </a:bodyPr>
          <a:lstStyle/>
          <a:p>
            <a:pPr algn="ctr" indent="0" marL="0">
              <a:buNone/>
            </a:pPr>
            <a:r>
              <a:rPr lang="en-US" sz="1000" b="1" dirty="0">
                <a:solidFill>
                  <a:srgbClr val="0B1F5B"/>
                </a:solidFill>
                <a:latin typeface="Aptos" pitchFamily="34" charset="0"/>
                <a:ea typeface="Aptos" pitchFamily="34" charset="-122"/>
                <a:cs typeface="Aptos" pitchFamily="34" charset="-120"/>
              </a:rPr>
              <a:t>TIME SERIES</a:t>
            </a:r>
            <a:endParaRPr lang="en-US" sz="1000" dirty="0"/>
          </a:p>
        </p:txBody>
      </p:sp>
      <p:sp>
        <p:nvSpPr>
          <p:cNvPr id="37" name="Shape 32"/>
          <p:cNvSpPr/>
          <p:nvPr/>
        </p:nvSpPr>
        <p:spPr>
          <a:xfrm>
            <a:off x="3090672" y="4690872"/>
            <a:ext cx="5257800" cy="1344168"/>
          </a:xfrm>
          <a:prstGeom prst="roundRect">
            <a:avLst>
              <a:gd name="adj" fmla="val 5442"/>
            </a:avLst>
          </a:prstGeom>
          <a:solidFill>
            <a:srgbClr val="FFFFFF"/>
          </a:solidFill>
          <a:ln w="12700">
            <a:solidFill>
              <a:srgbClr val="A9CBE8"/>
            </a:solidFill>
            <a:prstDash val="solid"/>
          </a:ln>
        </p:spPr>
      </p:sp>
      <p:sp>
        <p:nvSpPr>
          <p:cNvPr id="38" name="Text 33"/>
          <p:cNvSpPr/>
          <p:nvPr/>
        </p:nvSpPr>
        <p:spPr>
          <a:xfrm>
            <a:off x="3246120" y="4782312"/>
            <a:ext cx="4937760" cy="256032"/>
          </a:xfrm>
          <a:prstGeom prst="rect">
            <a:avLst/>
          </a:prstGeom>
          <a:noFill/>
          <a:ln/>
        </p:spPr>
        <p:txBody>
          <a:bodyPr wrap="square" lIns="508" tIns="508" rIns="508" bIns="508" rtlCol="0" anchor="ctr">
            <a:normAutofit/>
          </a:bodyPr>
          <a:lstStyle/>
          <a:p>
            <a:pPr algn="ctr" indent="0" marL="0">
              <a:buNone/>
            </a:pPr>
            <a:r>
              <a:rPr lang="en-US" sz="1500" b="1" dirty="0">
                <a:solidFill>
                  <a:srgbClr val="0B1F5B"/>
                </a:solidFill>
                <a:latin typeface="Georgia" pitchFamily="34" charset="0"/>
                <a:ea typeface="Georgia" pitchFamily="34" charset="-122"/>
                <a:cs typeface="Georgia" pitchFamily="34" charset="-120"/>
              </a:rPr>
              <a:t>Team Members</a:t>
            </a:r>
            <a:endParaRPr lang="en-US" sz="1500" dirty="0"/>
          </a:p>
        </p:txBody>
      </p:sp>
      <p:sp>
        <p:nvSpPr>
          <p:cNvPr id="39" name="Shape 34"/>
          <p:cNvSpPr/>
          <p:nvPr/>
        </p:nvSpPr>
        <p:spPr>
          <a:xfrm>
            <a:off x="3840480" y="5074920"/>
            <a:ext cx="3749040" cy="0"/>
          </a:xfrm>
          <a:prstGeom prst="line">
            <a:avLst/>
          </a:prstGeom>
          <a:noFill/>
          <a:ln w="8890">
            <a:solidFill>
              <a:srgbClr val="DFEBF6"/>
            </a:solidFill>
            <a:prstDash val="solid"/>
          </a:ln>
        </p:spPr>
      </p:sp>
      <p:sp>
        <p:nvSpPr>
          <p:cNvPr id="40" name="Text 35"/>
          <p:cNvSpPr/>
          <p:nvPr/>
        </p:nvSpPr>
        <p:spPr>
          <a:xfrm>
            <a:off x="3337560" y="5184648"/>
            <a:ext cx="1536192" cy="173736"/>
          </a:xfrm>
          <a:prstGeom prst="rect">
            <a:avLst/>
          </a:prstGeom>
          <a:noFill/>
          <a:ln/>
        </p:spPr>
        <p:txBody>
          <a:bodyPr wrap="square" lIns="508" tIns="508" rIns="508" bIns="508" rtlCol="0" anchor="ctr">
            <a:normAutofit/>
          </a:bodyPr>
          <a:lstStyle/>
          <a:p>
            <a:pPr algn="r" indent="0" marL="0">
              <a:buNone/>
            </a:pPr>
            <a:r>
              <a:rPr lang="en-US" sz="1070" dirty="0">
                <a:solidFill>
                  <a:srgbClr val="0B1F5B"/>
                </a:solidFill>
                <a:latin typeface="Aptos" pitchFamily="34" charset="0"/>
                <a:ea typeface="Aptos" pitchFamily="34" charset="-122"/>
                <a:cs typeface="Aptos" pitchFamily="34" charset="-120"/>
              </a:rPr>
              <a:t>24R11A6670</a:t>
            </a:r>
            <a:endParaRPr lang="en-US" sz="1070" dirty="0"/>
          </a:p>
        </p:txBody>
      </p:sp>
      <p:sp>
        <p:nvSpPr>
          <p:cNvPr id="41" name="Text 36"/>
          <p:cNvSpPr/>
          <p:nvPr/>
        </p:nvSpPr>
        <p:spPr>
          <a:xfrm>
            <a:off x="4974336" y="5184648"/>
            <a:ext cx="201168" cy="173736"/>
          </a:xfrm>
          <a:prstGeom prst="rect">
            <a:avLst/>
          </a:prstGeom>
          <a:noFill/>
          <a:ln/>
        </p:spPr>
        <p:txBody>
          <a:bodyPr wrap="square" lIns="508" tIns="508" rIns="508" bIns="508" rtlCol="0" anchor="ctr">
            <a:normAutofit/>
          </a:bodyPr>
          <a:lstStyle/>
          <a:p>
            <a:pPr algn="ctr" indent="0" marL="0">
              <a:buNone/>
            </a:pPr>
            <a:r>
              <a:rPr lang="en-US" sz="1070" dirty="0">
                <a:solidFill>
                  <a:srgbClr val="637B93"/>
                </a:solidFill>
                <a:latin typeface="Aptos" pitchFamily="34" charset="0"/>
                <a:ea typeface="Aptos" pitchFamily="34" charset="-122"/>
                <a:cs typeface="Aptos" pitchFamily="34" charset="-120"/>
              </a:rPr>
              <a:t>—</a:t>
            </a:r>
            <a:endParaRPr lang="en-US" sz="1070" dirty="0"/>
          </a:p>
        </p:txBody>
      </p:sp>
      <p:sp>
        <p:nvSpPr>
          <p:cNvPr id="42" name="Text 37"/>
          <p:cNvSpPr/>
          <p:nvPr/>
        </p:nvSpPr>
        <p:spPr>
          <a:xfrm>
            <a:off x="5257800" y="5184648"/>
            <a:ext cx="2697480" cy="173736"/>
          </a:xfrm>
          <a:prstGeom prst="rect">
            <a:avLst/>
          </a:prstGeom>
          <a:noFill/>
          <a:ln/>
        </p:spPr>
        <p:txBody>
          <a:bodyPr wrap="square" lIns="508" tIns="508" rIns="508" bIns="508" rtlCol="0" anchor="ctr">
            <a:normAutofit/>
          </a:bodyPr>
          <a:lstStyle/>
          <a:p>
            <a:pPr algn="l" indent="0" marL="0">
              <a:buNone/>
            </a:pPr>
            <a:r>
              <a:rPr lang="en-US" sz="1070" dirty="0">
                <a:solidFill>
                  <a:srgbClr val="0B1F5B"/>
                </a:solidFill>
                <a:latin typeface="Aptos" pitchFamily="34" charset="0"/>
                <a:ea typeface="Aptos" pitchFamily="34" charset="-122"/>
                <a:cs typeface="Aptos" pitchFamily="34" charset="-120"/>
              </a:rPr>
              <a:t>Metri Naveen Kumar</a:t>
            </a:r>
            <a:endParaRPr lang="en-US" sz="1070" dirty="0"/>
          </a:p>
        </p:txBody>
      </p:sp>
      <p:sp>
        <p:nvSpPr>
          <p:cNvPr id="43" name="Text 38"/>
          <p:cNvSpPr/>
          <p:nvPr/>
        </p:nvSpPr>
        <p:spPr>
          <a:xfrm>
            <a:off x="3337560" y="5376672"/>
            <a:ext cx="1536192" cy="173736"/>
          </a:xfrm>
          <a:prstGeom prst="rect">
            <a:avLst/>
          </a:prstGeom>
          <a:noFill/>
          <a:ln/>
        </p:spPr>
        <p:txBody>
          <a:bodyPr wrap="square" lIns="508" tIns="508" rIns="508" bIns="508" rtlCol="0" anchor="ctr">
            <a:normAutofit/>
          </a:bodyPr>
          <a:lstStyle/>
          <a:p>
            <a:pPr algn="r" indent="0" marL="0">
              <a:buNone/>
            </a:pPr>
            <a:r>
              <a:rPr lang="en-US" sz="1070" dirty="0">
                <a:solidFill>
                  <a:srgbClr val="0B1F5B"/>
                </a:solidFill>
                <a:latin typeface="Aptos" pitchFamily="34" charset="0"/>
                <a:ea typeface="Aptos" pitchFamily="34" charset="-122"/>
                <a:cs typeface="Aptos" pitchFamily="34" charset="-120"/>
              </a:rPr>
              <a:t>24R11A6690</a:t>
            </a:r>
            <a:endParaRPr lang="en-US" sz="1070" dirty="0"/>
          </a:p>
        </p:txBody>
      </p:sp>
      <p:sp>
        <p:nvSpPr>
          <p:cNvPr id="44" name="Text 39"/>
          <p:cNvSpPr/>
          <p:nvPr/>
        </p:nvSpPr>
        <p:spPr>
          <a:xfrm>
            <a:off x="4974336" y="5376672"/>
            <a:ext cx="201168" cy="173736"/>
          </a:xfrm>
          <a:prstGeom prst="rect">
            <a:avLst/>
          </a:prstGeom>
          <a:noFill/>
          <a:ln/>
        </p:spPr>
        <p:txBody>
          <a:bodyPr wrap="square" lIns="508" tIns="508" rIns="508" bIns="508" rtlCol="0" anchor="ctr">
            <a:normAutofit/>
          </a:bodyPr>
          <a:lstStyle/>
          <a:p>
            <a:pPr algn="ctr" indent="0" marL="0">
              <a:buNone/>
            </a:pPr>
            <a:r>
              <a:rPr lang="en-US" sz="1070" dirty="0">
                <a:solidFill>
                  <a:srgbClr val="637B93"/>
                </a:solidFill>
                <a:latin typeface="Aptos" pitchFamily="34" charset="0"/>
                <a:ea typeface="Aptos" pitchFamily="34" charset="-122"/>
                <a:cs typeface="Aptos" pitchFamily="34" charset="-120"/>
              </a:rPr>
              <a:t>—</a:t>
            </a:r>
            <a:endParaRPr lang="en-US" sz="1070" dirty="0"/>
          </a:p>
        </p:txBody>
      </p:sp>
      <p:sp>
        <p:nvSpPr>
          <p:cNvPr id="45" name="Text 40"/>
          <p:cNvSpPr/>
          <p:nvPr/>
        </p:nvSpPr>
        <p:spPr>
          <a:xfrm>
            <a:off x="5257800" y="5376672"/>
            <a:ext cx="2697480" cy="173736"/>
          </a:xfrm>
          <a:prstGeom prst="rect">
            <a:avLst/>
          </a:prstGeom>
          <a:noFill/>
          <a:ln/>
        </p:spPr>
        <p:txBody>
          <a:bodyPr wrap="square" lIns="508" tIns="508" rIns="508" bIns="508" rtlCol="0" anchor="ctr">
            <a:normAutofit/>
          </a:bodyPr>
          <a:lstStyle/>
          <a:p>
            <a:pPr algn="l" indent="0" marL="0">
              <a:buNone/>
            </a:pPr>
            <a:r>
              <a:rPr lang="en-US" sz="1070" dirty="0">
                <a:solidFill>
                  <a:srgbClr val="0B1F5B"/>
                </a:solidFill>
                <a:latin typeface="Aptos" pitchFamily="34" charset="0"/>
                <a:ea typeface="Aptos" pitchFamily="34" charset="-122"/>
                <a:cs typeface="Aptos" pitchFamily="34" charset="-120"/>
              </a:rPr>
              <a:t>Shaik Zaheer Abbas</a:t>
            </a:r>
            <a:endParaRPr lang="en-US" sz="1070" dirty="0"/>
          </a:p>
        </p:txBody>
      </p:sp>
      <p:sp>
        <p:nvSpPr>
          <p:cNvPr id="46" name="Text 41"/>
          <p:cNvSpPr/>
          <p:nvPr/>
        </p:nvSpPr>
        <p:spPr>
          <a:xfrm>
            <a:off x="3337560" y="5568696"/>
            <a:ext cx="1536192" cy="173736"/>
          </a:xfrm>
          <a:prstGeom prst="rect">
            <a:avLst/>
          </a:prstGeom>
          <a:noFill/>
          <a:ln/>
        </p:spPr>
        <p:txBody>
          <a:bodyPr wrap="square" lIns="508" tIns="508" rIns="508" bIns="508" rtlCol="0" anchor="ctr">
            <a:normAutofit/>
          </a:bodyPr>
          <a:lstStyle/>
          <a:p>
            <a:pPr algn="r" indent="0" marL="0">
              <a:buNone/>
            </a:pPr>
            <a:r>
              <a:rPr lang="en-US" sz="1070" dirty="0">
                <a:solidFill>
                  <a:srgbClr val="0B1F5B"/>
                </a:solidFill>
                <a:latin typeface="Aptos" pitchFamily="34" charset="0"/>
                <a:ea typeface="Aptos" pitchFamily="34" charset="-122"/>
                <a:cs typeface="Aptos" pitchFamily="34" charset="-120"/>
              </a:rPr>
              <a:t>24R11A6687</a:t>
            </a:r>
            <a:endParaRPr lang="en-US" sz="1070" dirty="0"/>
          </a:p>
        </p:txBody>
      </p:sp>
      <p:sp>
        <p:nvSpPr>
          <p:cNvPr id="47" name="Text 42"/>
          <p:cNvSpPr/>
          <p:nvPr/>
        </p:nvSpPr>
        <p:spPr>
          <a:xfrm>
            <a:off x="4974336" y="5568696"/>
            <a:ext cx="201168" cy="173736"/>
          </a:xfrm>
          <a:prstGeom prst="rect">
            <a:avLst/>
          </a:prstGeom>
          <a:noFill/>
          <a:ln/>
        </p:spPr>
        <p:txBody>
          <a:bodyPr wrap="square" lIns="508" tIns="508" rIns="508" bIns="508" rtlCol="0" anchor="ctr">
            <a:normAutofit/>
          </a:bodyPr>
          <a:lstStyle/>
          <a:p>
            <a:pPr algn="ctr" indent="0" marL="0">
              <a:buNone/>
            </a:pPr>
            <a:r>
              <a:rPr lang="en-US" sz="1070" dirty="0">
                <a:solidFill>
                  <a:srgbClr val="637B93"/>
                </a:solidFill>
                <a:latin typeface="Aptos" pitchFamily="34" charset="0"/>
                <a:ea typeface="Aptos" pitchFamily="34" charset="-122"/>
                <a:cs typeface="Aptos" pitchFamily="34" charset="-120"/>
              </a:rPr>
              <a:t>—</a:t>
            </a:r>
            <a:endParaRPr lang="en-US" sz="1070" dirty="0"/>
          </a:p>
        </p:txBody>
      </p:sp>
      <p:sp>
        <p:nvSpPr>
          <p:cNvPr id="48" name="Text 43"/>
          <p:cNvSpPr/>
          <p:nvPr/>
        </p:nvSpPr>
        <p:spPr>
          <a:xfrm>
            <a:off x="5257800" y="5568696"/>
            <a:ext cx="2697480" cy="173736"/>
          </a:xfrm>
          <a:prstGeom prst="rect">
            <a:avLst/>
          </a:prstGeom>
          <a:noFill/>
          <a:ln/>
        </p:spPr>
        <p:txBody>
          <a:bodyPr wrap="square" lIns="508" tIns="508" rIns="508" bIns="508" rtlCol="0" anchor="ctr">
            <a:normAutofit/>
          </a:bodyPr>
          <a:lstStyle/>
          <a:p>
            <a:pPr algn="l" indent="0" marL="0">
              <a:buNone/>
            </a:pPr>
            <a:r>
              <a:rPr lang="en-US" sz="1070" dirty="0">
                <a:solidFill>
                  <a:srgbClr val="0B1F5B"/>
                </a:solidFill>
                <a:latin typeface="Aptos" pitchFamily="34" charset="0"/>
                <a:ea typeface="Aptos" pitchFamily="34" charset="-122"/>
                <a:cs typeface="Aptos" pitchFamily="34" charset="-120"/>
              </a:rPr>
              <a:t>Sahit Kumar Yadav</a:t>
            </a:r>
            <a:endParaRPr lang="en-US" sz="1070" dirty="0"/>
          </a:p>
        </p:txBody>
      </p:sp>
      <p:sp>
        <p:nvSpPr>
          <p:cNvPr id="49" name="Text 44"/>
          <p:cNvSpPr/>
          <p:nvPr/>
        </p:nvSpPr>
        <p:spPr>
          <a:xfrm>
            <a:off x="3337560" y="5760720"/>
            <a:ext cx="1536192" cy="173736"/>
          </a:xfrm>
          <a:prstGeom prst="rect">
            <a:avLst/>
          </a:prstGeom>
          <a:noFill/>
          <a:ln/>
        </p:spPr>
        <p:txBody>
          <a:bodyPr wrap="square" lIns="508" tIns="508" rIns="508" bIns="508" rtlCol="0" anchor="ctr">
            <a:normAutofit/>
          </a:bodyPr>
          <a:lstStyle/>
          <a:p>
            <a:pPr algn="r" indent="0" marL="0">
              <a:buNone/>
            </a:pPr>
            <a:r>
              <a:rPr lang="en-US" sz="1070" dirty="0">
                <a:solidFill>
                  <a:srgbClr val="0B1F5B"/>
                </a:solidFill>
                <a:latin typeface="Aptos" pitchFamily="34" charset="0"/>
                <a:ea typeface="Aptos" pitchFamily="34" charset="-122"/>
                <a:cs typeface="Aptos" pitchFamily="34" charset="-120"/>
              </a:rPr>
              <a:t>25R15A6610</a:t>
            </a:r>
            <a:endParaRPr lang="en-US" sz="1070" dirty="0"/>
          </a:p>
        </p:txBody>
      </p:sp>
      <p:sp>
        <p:nvSpPr>
          <p:cNvPr id="50" name="Text 45"/>
          <p:cNvSpPr/>
          <p:nvPr/>
        </p:nvSpPr>
        <p:spPr>
          <a:xfrm>
            <a:off x="4974336" y="5760720"/>
            <a:ext cx="201168" cy="173736"/>
          </a:xfrm>
          <a:prstGeom prst="rect">
            <a:avLst/>
          </a:prstGeom>
          <a:noFill/>
          <a:ln/>
        </p:spPr>
        <p:txBody>
          <a:bodyPr wrap="square" lIns="508" tIns="508" rIns="508" bIns="508" rtlCol="0" anchor="ctr">
            <a:normAutofit/>
          </a:bodyPr>
          <a:lstStyle/>
          <a:p>
            <a:pPr algn="ctr" indent="0" marL="0">
              <a:buNone/>
            </a:pPr>
            <a:r>
              <a:rPr lang="en-US" sz="1070" dirty="0">
                <a:solidFill>
                  <a:srgbClr val="637B93"/>
                </a:solidFill>
                <a:latin typeface="Aptos" pitchFamily="34" charset="0"/>
                <a:ea typeface="Aptos" pitchFamily="34" charset="-122"/>
                <a:cs typeface="Aptos" pitchFamily="34" charset="-120"/>
              </a:rPr>
              <a:t>—</a:t>
            </a:r>
            <a:endParaRPr lang="en-US" sz="1070" dirty="0"/>
          </a:p>
        </p:txBody>
      </p:sp>
      <p:sp>
        <p:nvSpPr>
          <p:cNvPr id="51" name="Text 46"/>
          <p:cNvSpPr/>
          <p:nvPr/>
        </p:nvSpPr>
        <p:spPr>
          <a:xfrm>
            <a:off x="5257800" y="5760720"/>
            <a:ext cx="2697480" cy="173736"/>
          </a:xfrm>
          <a:prstGeom prst="rect">
            <a:avLst/>
          </a:prstGeom>
          <a:noFill/>
          <a:ln/>
        </p:spPr>
        <p:txBody>
          <a:bodyPr wrap="square" lIns="508" tIns="508" rIns="508" bIns="508" rtlCol="0" anchor="ctr">
            <a:normAutofit/>
          </a:bodyPr>
          <a:lstStyle/>
          <a:p>
            <a:pPr algn="l" indent="0" marL="0">
              <a:buNone/>
            </a:pPr>
            <a:r>
              <a:rPr lang="en-US" sz="1070" dirty="0">
                <a:solidFill>
                  <a:srgbClr val="0B1F5B"/>
                </a:solidFill>
                <a:latin typeface="Aptos" pitchFamily="34" charset="0"/>
                <a:ea typeface="Aptos" pitchFamily="34" charset="-122"/>
                <a:cs typeface="Aptos" pitchFamily="34" charset="-120"/>
              </a:rPr>
              <a:t>A. Sai Eshwar</a:t>
            </a:r>
            <a:endParaRPr lang="en-US" sz="107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What Exactly Are We Trying to Do?</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Detection, severity nowcasting and forecasting are different tasks</a:t>
            </a:r>
            <a:endParaRPr lang="en-US" sz="1450" dirty="0"/>
          </a:p>
        </p:txBody>
      </p:sp>
      <p:sp>
        <p:nvSpPr>
          <p:cNvPr id="8" name="Shape 5"/>
          <p:cNvSpPr/>
          <p:nvPr/>
        </p:nvSpPr>
        <p:spPr>
          <a:xfrm>
            <a:off x="1572768" y="1234440"/>
            <a:ext cx="9875520" cy="822960"/>
          </a:xfrm>
          <a:prstGeom prst="roundRect">
            <a:avLst>
              <a:gd name="adj" fmla="val 8889"/>
            </a:avLst>
          </a:prstGeom>
          <a:solidFill>
            <a:srgbClr val="FFFFFF"/>
          </a:solidFill>
          <a:ln w="12700">
            <a:solidFill>
              <a:srgbClr val="B9D3E9"/>
            </a:solidFill>
            <a:prstDash val="solid"/>
          </a:ln>
        </p:spPr>
      </p:sp>
      <p:sp>
        <p:nvSpPr>
          <p:cNvPr id="9" name="Text 6"/>
          <p:cNvSpPr/>
          <p:nvPr/>
        </p:nvSpPr>
        <p:spPr>
          <a:xfrm>
            <a:off x="1792224" y="1353312"/>
            <a:ext cx="2697480" cy="201168"/>
          </a:xfrm>
          <a:prstGeom prst="rect">
            <a:avLst/>
          </a:prstGeom>
          <a:noFill/>
          <a:ln/>
        </p:spPr>
        <p:txBody>
          <a:bodyPr wrap="square" lIns="508" tIns="508" rIns="508" bIns="508" rtlCol="0" anchor="ctr">
            <a:normAutofit/>
          </a:bodyPr>
          <a:lstStyle/>
          <a:p>
            <a:pPr algn="l" indent="0" marL="0">
              <a:buNone/>
            </a:pPr>
            <a:r>
              <a:rPr lang="en-US" sz="1050" b="1" dirty="0">
                <a:solidFill>
                  <a:srgbClr val="0B1F5B"/>
                </a:solidFill>
                <a:latin typeface="Aptos" pitchFamily="34" charset="0"/>
                <a:ea typeface="Aptos" pitchFamily="34" charset="-122"/>
                <a:cs typeface="Aptos" pitchFamily="34" charset="-120"/>
              </a:rPr>
              <a:t>NOAA flare classes (0.1–0.8 nm peak flux)</a:t>
            </a:r>
            <a:endParaRPr lang="en-US" sz="1050" dirty="0"/>
          </a:p>
        </p:txBody>
      </p:sp>
      <p:sp>
        <p:nvSpPr>
          <p:cNvPr id="10" name="Shape 7"/>
          <p:cNvSpPr/>
          <p:nvPr/>
        </p:nvSpPr>
        <p:spPr>
          <a:xfrm>
            <a:off x="4617720" y="1618488"/>
            <a:ext cx="5760720" cy="0"/>
          </a:xfrm>
          <a:prstGeom prst="line">
            <a:avLst/>
          </a:prstGeom>
          <a:noFill/>
          <a:ln w="63500">
            <a:solidFill>
              <a:srgbClr val="1C67B5"/>
            </a:solidFill>
            <a:prstDash val="solid"/>
            <a:headEnd type="none"/>
            <a:tailEnd type="triangle"/>
          </a:ln>
        </p:spPr>
      </p:sp>
      <p:sp>
        <p:nvSpPr>
          <p:cNvPr id="11" name="Text 8"/>
          <p:cNvSpPr/>
          <p:nvPr/>
        </p:nvSpPr>
        <p:spPr>
          <a:xfrm>
            <a:off x="5074920" y="1261872"/>
            <a:ext cx="384048" cy="228600"/>
          </a:xfrm>
          <a:prstGeom prst="rect">
            <a:avLst/>
          </a:prstGeom>
          <a:noFill/>
          <a:ln/>
        </p:spPr>
        <p:txBody>
          <a:bodyPr wrap="square" lIns="508" tIns="508" rIns="508" bIns="508" rtlCol="0" anchor="ctr">
            <a:normAutofit/>
          </a:bodyPr>
          <a:lstStyle/>
          <a:p>
            <a:pPr algn="ctr" indent="0" marL="0">
              <a:buNone/>
            </a:pPr>
            <a:r>
              <a:rPr lang="en-US" sz="1700" b="1" dirty="0">
                <a:solidFill>
                  <a:srgbClr val="1C67B5"/>
                </a:solidFill>
                <a:latin typeface="Aptos" pitchFamily="34" charset="0"/>
                <a:ea typeface="Aptos" pitchFamily="34" charset="-122"/>
                <a:cs typeface="Aptos" pitchFamily="34" charset="-120"/>
              </a:rPr>
              <a:t>B</a:t>
            </a:r>
            <a:endParaRPr lang="en-US" sz="1700" dirty="0"/>
          </a:p>
        </p:txBody>
      </p:sp>
      <p:sp>
        <p:nvSpPr>
          <p:cNvPr id="12" name="Text 9"/>
          <p:cNvSpPr/>
          <p:nvPr/>
        </p:nvSpPr>
        <p:spPr>
          <a:xfrm>
            <a:off x="5029200" y="1682496"/>
            <a:ext cx="475488" cy="164592"/>
          </a:xfrm>
          <a:prstGeom prst="rect">
            <a:avLst/>
          </a:prstGeom>
          <a:noFill/>
          <a:ln/>
        </p:spPr>
        <p:txBody>
          <a:bodyPr wrap="square" lIns="508" tIns="508" rIns="508" bIns="508" rtlCol="0" anchor="ctr">
            <a:normAutofit/>
          </a:bodyPr>
          <a:lstStyle/>
          <a:p>
            <a:pPr algn="ctr" indent="0" marL="0">
              <a:buNone/>
            </a:pPr>
            <a:r>
              <a:rPr lang="en-US" sz="900" dirty="0">
                <a:solidFill>
                  <a:srgbClr val="637B93"/>
                </a:solidFill>
                <a:latin typeface="Aptos" pitchFamily="34" charset="0"/>
                <a:ea typeface="Aptos" pitchFamily="34" charset="-122"/>
                <a:cs typeface="Aptos" pitchFamily="34" charset="-120"/>
              </a:rPr>
              <a:t>10⁻⁷</a:t>
            </a:r>
            <a:endParaRPr lang="en-US" sz="900" dirty="0"/>
          </a:p>
        </p:txBody>
      </p:sp>
      <p:sp>
        <p:nvSpPr>
          <p:cNvPr id="13" name="Text 10"/>
          <p:cNvSpPr/>
          <p:nvPr/>
        </p:nvSpPr>
        <p:spPr>
          <a:xfrm>
            <a:off x="6446520" y="1261872"/>
            <a:ext cx="384048" cy="228600"/>
          </a:xfrm>
          <a:prstGeom prst="rect">
            <a:avLst/>
          </a:prstGeom>
          <a:noFill/>
          <a:ln/>
        </p:spPr>
        <p:txBody>
          <a:bodyPr wrap="square" lIns="508" tIns="508" rIns="508" bIns="508" rtlCol="0" anchor="ctr">
            <a:normAutofit/>
          </a:bodyPr>
          <a:lstStyle/>
          <a:p>
            <a:pPr algn="ctr" indent="0" marL="0">
              <a:buNone/>
            </a:pPr>
            <a:r>
              <a:rPr lang="en-US" sz="1700" b="1" dirty="0">
                <a:solidFill>
                  <a:srgbClr val="43A047"/>
                </a:solidFill>
                <a:latin typeface="Aptos" pitchFamily="34" charset="0"/>
                <a:ea typeface="Aptos" pitchFamily="34" charset="-122"/>
                <a:cs typeface="Aptos" pitchFamily="34" charset="-120"/>
              </a:rPr>
              <a:t>C</a:t>
            </a:r>
            <a:endParaRPr lang="en-US" sz="1700" dirty="0"/>
          </a:p>
        </p:txBody>
      </p:sp>
      <p:sp>
        <p:nvSpPr>
          <p:cNvPr id="14" name="Text 11"/>
          <p:cNvSpPr/>
          <p:nvPr/>
        </p:nvSpPr>
        <p:spPr>
          <a:xfrm>
            <a:off x="6400800" y="1682496"/>
            <a:ext cx="475488" cy="164592"/>
          </a:xfrm>
          <a:prstGeom prst="rect">
            <a:avLst/>
          </a:prstGeom>
          <a:noFill/>
          <a:ln/>
        </p:spPr>
        <p:txBody>
          <a:bodyPr wrap="square" lIns="508" tIns="508" rIns="508" bIns="508" rtlCol="0" anchor="ctr">
            <a:normAutofit/>
          </a:bodyPr>
          <a:lstStyle/>
          <a:p>
            <a:pPr algn="ctr" indent="0" marL="0">
              <a:buNone/>
            </a:pPr>
            <a:r>
              <a:rPr lang="en-US" sz="900" dirty="0">
                <a:solidFill>
                  <a:srgbClr val="637B93"/>
                </a:solidFill>
                <a:latin typeface="Aptos" pitchFamily="34" charset="0"/>
                <a:ea typeface="Aptos" pitchFamily="34" charset="-122"/>
                <a:cs typeface="Aptos" pitchFamily="34" charset="-120"/>
              </a:rPr>
              <a:t>10⁻⁶</a:t>
            </a:r>
            <a:endParaRPr lang="en-US" sz="900" dirty="0"/>
          </a:p>
        </p:txBody>
      </p:sp>
      <p:sp>
        <p:nvSpPr>
          <p:cNvPr id="15" name="Text 12"/>
          <p:cNvSpPr/>
          <p:nvPr/>
        </p:nvSpPr>
        <p:spPr>
          <a:xfrm>
            <a:off x="7818120" y="1261872"/>
            <a:ext cx="384048" cy="228600"/>
          </a:xfrm>
          <a:prstGeom prst="rect">
            <a:avLst/>
          </a:prstGeom>
          <a:noFill/>
          <a:ln/>
        </p:spPr>
        <p:txBody>
          <a:bodyPr wrap="square" lIns="508" tIns="508" rIns="508" bIns="508" rtlCol="0" anchor="ctr">
            <a:normAutofit/>
          </a:bodyPr>
          <a:lstStyle/>
          <a:p>
            <a:pPr algn="ctr" indent="0" marL="0">
              <a:buNone/>
            </a:pPr>
            <a:r>
              <a:rPr lang="en-US" sz="1700" b="1" dirty="0">
                <a:solidFill>
                  <a:srgbClr val="E9A21B"/>
                </a:solidFill>
                <a:latin typeface="Aptos" pitchFamily="34" charset="0"/>
                <a:ea typeface="Aptos" pitchFamily="34" charset="-122"/>
                <a:cs typeface="Aptos" pitchFamily="34" charset="-120"/>
              </a:rPr>
              <a:t>M</a:t>
            </a:r>
            <a:endParaRPr lang="en-US" sz="1700" dirty="0"/>
          </a:p>
        </p:txBody>
      </p:sp>
      <p:sp>
        <p:nvSpPr>
          <p:cNvPr id="16" name="Text 13"/>
          <p:cNvSpPr/>
          <p:nvPr/>
        </p:nvSpPr>
        <p:spPr>
          <a:xfrm>
            <a:off x="7772400" y="1682496"/>
            <a:ext cx="475488" cy="164592"/>
          </a:xfrm>
          <a:prstGeom prst="rect">
            <a:avLst/>
          </a:prstGeom>
          <a:noFill/>
          <a:ln/>
        </p:spPr>
        <p:txBody>
          <a:bodyPr wrap="square" lIns="508" tIns="508" rIns="508" bIns="508" rtlCol="0" anchor="ctr">
            <a:normAutofit/>
          </a:bodyPr>
          <a:lstStyle/>
          <a:p>
            <a:pPr algn="ctr" indent="0" marL="0">
              <a:buNone/>
            </a:pPr>
            <a:r>
              <a:rPr lang="en-US" sz="900" dirty="0">
                <a:solidFill>
                  <a:srgbClr val="637B93"/>
                </a:solidFill>
                <a:latin typeface="Aptos" pitchFamily="34" charset="0"/>
                <a:ea typeface="Aptos" pitchFamily="34" charset="-122"/>
                <a:cs typeface="Aptos" pitchFamily="34" charset="-120"/>
              </a:rPr>
              <a:t>10⁻⁵</a:t>
            </a:r>
            <a:endParaRPr lang="en-US" sz="900" dirty="0"/>
          </a:p>
        </p:txBody>
      </p:sp>
      <p:sp>
        <p:nvSpPr>
          <p:cNvPr id="17" name="Text 14"/>
          <p:cNvSpPr/>
          <p:nvPr/>
        </p:nvSpPr>
        <p:spPr>
          <a:xfrm>
            <a:off x="9189720" y="1261872"/>
            <a:ext cx="384048" cy="228600"/>
          </a:xfrm>
          <a:prstGeom prst="rect">
            <a:avLst/>
          </a:prstGeom>
          <a:noFill/>
          <a:ln/>
        </p:spPr>
        <p:txBody>
          <a:bodyPr wrap="square" lIns="508" tIns="508" rIns="508" bIns="508" rtlCol="0" anchor="ctr">
            <a:normAutofit/>
          </a:bodyPr>
          <a:lstStyle/>
          <a:p>
            <a:pPr algn="ctr" indent="0" marL="0">
              <a:buNone/>
            </a:pPr>
            <a:r>
              <a:rPr lang="en-US" sz="1700" b="1" dirty="0">
                <a:solidFill>
                  <a:srgbClr val="C73B3B"/>
                </a:solidFill>
                <a:latin typeface="Aptos" pitchFamily="34" charset="0"/>
                <a:ea typeface="Aptos" pitchFamily="34" charset="-122"/>
                <a:cs typeface="Aptos" pitchFamily="34" charset="-120"/>
              </a:rPr>
              <a:t>X</a:t>
            </a:r>
            <a:endParaRPr lang="en-US" sz="1700" dirty="0"/>
          </a:p>
        </p:txBody>
      </p:sp>
      <p:sp>
        <p:nvSpPr>
          <p:cNvPr id="18" name="Text 15"/>
          <p:cNvSpPr/>
          <p:nvPr/>
        </p:nvSpPr>
        <p:spPr>
          <a:xfrm>
            <a:off x="9144000" y="1682496"/>
            <a:ext cx="475488" cy="164592"/>
          </a:xfrm>
          <a:prstGeom prst="rect">
            <a:avLst/>
          </a:prstGeom>
          <a:noFill/>
          <a:ln/>
        </p:spPr>
        <p:txBody>
          <a:bodyPr wrap="square" lIns="508" tIns="508" rIns="508" bIns="508" rtlCol="0" anchor="ctr">
            <a:normAutofit/>
          </a:bodyPr>
          <a:lstStyle/>
          <a:p>
            <a:pPr algn="ctr" indent="0" marL="0">
              <a:buNone/>
            </a:pPr>
            <a:r>
              <a:rPr lang="en-US" sz="900" dirty="0">
                <a:solidFill>
                  <a:srgbClr val="637B93"/>
                </a:solidFill>
                <a:latin typeface="Aptos" pitchFamily="34" charset="0"/>
                <a:ea typeface="Aptos" pitchFamily="34" charset="-122"/>
                <a:cs typeface="Aptos" pitchFamily="34" charset="-120"/>
              </a:rPr>
              <a:t>10⁻⁴</a:t>
            </a:r>
            <a:endParaRPr lang="en-US" sz="900" dirty="0"/>
          </a:p>
        </p:txBody>
      </p:sp>
      <p:sp>
        <p:nvSpPr>
          <p:cNvPr id="19" name="Text 16"/>
          <p:cNvSpPr/>
          <p:nvPr/>
        </p:nvSpPr>
        <p:spPr>
          <a:xfrm>
            <a:off x="10213848" y="1389888"/>
            <a:ext cx="960120" cy="210312"/>
          </a:xfrm>
          <a:prstGeom prst="rect">
            <a:avLst/>
          </a:prstGeom>
          <a:noFill/>
          <a:ln/>
        </p:spPr>
        <p:txBody>
          <a:bodyPr wrap="square" lIns="508" tIns="508" rIns="508" bIns="508" rtlCol="0" anchor="ctr">
            <a:normAutofit/>
          </a:bodyPr>
          <a:lstStyle/>
          <a:p>
            <a:pPr algn="r" indent="0" marL="0">
              <a:buNone/>
            </a:pPr>
            <a:r>
              <a:rPr lang="en-US" sz="900" dirty="0">
                <a:solidFill>
                  <a:srgbClr val="637B93"/>
                </a:solidFill>
                <a:latin typeface="Aptos" pitchFamily="34" charset="0"/>
                <a:ea typeface="Aptos" pitchFamily="34" charset="-122"/>
                <a:cs typeface="Aptos" pitchFamily="34" charset="-120"/>
              </a:rPr>
              <a:t>higher peak flux →</a:t>
            </a:r>
            <a:endParaRPr lang="en-US" sz="900" dirty="0"/>
          </a:p>
        </p:txBody>
      </p:sp>
      <p:sp>
        <p:nvSpPr>
          <p:cNvPr id="20" name="Shape 17"/>
          <p:cNvSpPr/>
          <p:nvPr/>
        </p:nvSpPr>
        <p:spPr>
          <a:xfrm>
            <a:off x="1572768" y="2286000"/>
            <a:ext cx="2999232" cy="3154680"/>
          </a:xfrm>
          <a:prstGeom prst="roundRect">
            <a:avLst>
              <a:gd name="adj" fmla="val 2439"/>
            </a:avLst>
          </a:prstGeom>
          <a:solidFill>
            <a:srgbClr val="EEF9FD"/>
          </a:solidFill>
          <a:ln w="12700">
            <a:solidFill>
              <a:srgbClr val="25A7D9"/>
            </a:solidFill>
            <a:prstDash val="solid"/>
          </a:ln>
        </p:spPr>
      </p:sp>
      <p:sp>
        <p:nvSpPr>
          <p:cNvPr id="21" name="Text 18"/>
          <p:cNvSpPr/>
          <p:nvPr/>
        </p:nvSpPr>
        <p:spPr>
          <a:xfrm>
            <a:off x="1682496" y="2432304"/>
            <a:ext cx="2779776" cy="320040"/>
          </a:xfrm>
          <a:prstGeom prst="rect">
            <a:avLst/>
          </a:prstGeom>
          <a:noFill/>
          <a:ln/>
        </p:spPr>
        <p:txBody>
          <a:bodyPr wrap="square" lIns="508" tIns="508" rIns="508" bIns="508" rtlCol="0" anchor="ctr">
            <a:normAutofit/>
          </a:bodyPr>
          <a:lstStyle/>
          <a:p>
            <a:pPr algn="ctr" indent="0" marL="0">
              <a:buNone/>
            </a:pPr>
            <a:r>
              <a:rPr lang="en-US" sz="1450" b="1" dirty="0">
                <a:solidFill>
                  <a:srgbClr val="25A7D9"/>
                </a:solidFill>
                <a:latin typeface="Georgia" pitchFamily="34" charset="0"/>
                <a:ea typeface="Georgia" pitchFamily="34" charset="-122"/>
                <a:cs typeface="Georgia" pitchFamily="34" charset="-120"/>
              </a:rPr>
              <a:t>DETECTION</a:t>
            </a:r>
            <a:endParaRPr lang="en-US" sz="1450" dirty="0"/>
          </a:p>
        </p:txBody>
      </p:sp>
      <p:sp>
        <p:nvSpPr>
          <p:cNvPr id="22" name="Text 19"/>
          <p:cNvSpPr/>
          <p:nvPr/>
        </p:nvSpPr>
        <p:spPr>
          <a:xfrm>
            <a:off x="1773936" y="2871216"/>
            <a:ext cx="2596896" cy="530352"/>
          </a:xfrm>
          <a:prstGeom prst="rect">
            <a:avLst/>
          </a:prstGeom>
          <a:noFill/>
          <a:ln/>
        </p:spPr>
        <p:txBody>
          <a:bodyPr wrap="square" lIns="508" tIns="508" rIns="508" bIns="508" rtlCol="0" anchor="ctr">
            <a:normAutofit/>
          </a:bodyPr>
          <a:lstStyle/>
          <a:p>
            <a:pPr algn="ctr" indent="0" marL="0">
              <a:buNone/>
            </a:pPr>
            <a:r>
              <a:rPr lang="en-US" sz="1300" b="1" dirty="0">
                <a:solidFill>
                  <a:srgbClr val="0B1F5B"/>
                </a:solidFill>
                <a:latin typeface="Aptos" pitchFamily="34" charset="0"/>
                <a:ea typeface="Aptos" pitchFamily="34" charset="-122"/>
                <a:cs typeface="Aptos" pitchFamily="34" charset="-120"/>
              </a:rPr>
              <a:t>Did something unusual happen?</a:t>
            </a:r>
            <a:endParaRPr lang="en-US" sz="1300" dirty="0"/>
          </a:p>
        </p:txBody>
      </p:sp>
      <p:sp>
        <p:nvSpPr>
          <p:cNvPr id="23" name="Shape 20"/>
          <p:cNvSpPr/>
          <p:nvPr/>
        </p:nvSpPr>
        <p:spPr>
          <a:xfrm>
            <a:off x="1901952" y="4690872"/>
            <a:ext cx="2340864" cy="0"/>
          </a:xfrm>
          <a:prstGeom prst="line">
            <a:avLst/>
          </a:prstGeom>
          <a:noFill/>
          <a:ln w="10160">
            <a:solidFill>
              <a:srgbClr val="7895B0"/>
            </a:solidFill>
            <a:prstDash val="solid"/>
          </a:ln>
        </p:spPr>
      </p:sp>
      <p:sp>
        <p:nvSpPr>
          <p:cNvPr id="24" name="Shape 21"/>
          <p:cNvSpPr/>
          <p:nvPr/>
        </p:nvSpPr>
        <p:spPr>
          <a:xfrm>
            <a:off x="1901952" y="3822192"/>
            <a:ext cx="0" cy="868680"/>
          </a:xfrm>
          <a:prstGeom prst="line">
            <a:avLst/>
          </a:prstGeom>
          <a:noFill/>
          <a:ln w="10160">
            <a:solidFill>
              <a:srgbClr val="7895B0"/>
            </a:solidFill>
            <a:prstDash val="solid"/>
          </a:ln>
        </p:spPr>
      </p:sp>
      <p:sp>
        <p:nvSpPr>
          <p:cNvPr id="25" name="Shape 22"/>
          <p:cNvSpPr/>
          <p:nvPr/>
        </p:nvSpPr>
        <p:spPr>
          <a:xfrm>
            <a:off x="1901952" y="4480560"/>
            <a:ext cx="156058" cy="51135"/>
          </a:xfrm>
          <a:prstGeom prst="line">
            <a:avLst/>
          </a:prstGeom>
          <a:noFill/>
          <a:ln w="19050">
            <a:solidFill>
              <a:srgbClr val="1C67B5"/>
            </a:solidFill>
            <a:prstDash val="solid"/>
          </a:ln>
        </p:spPr>
      </p:sp>
      <p:sp>
        <p:nvSpPr>
          <p:cNvPr id="26" name="Shape 23"/>
          <p:cNvSpPr/>
          <p:nvPr/>
        </p:nvSpPr>
        <p:spPr>
          <a:xfrm>
            <a:off x="2058010" y="4531695"/>
            <a:ext cx="156058" cy="-14077"/>
          </a:xfrm>
          <a:prstGeom prst="line">
            <a:avLst/>
          </a:prstGeom>
          <a:noFill/>
          <a:ln w="19050">
            <a:solidFill>
              <a:srgbClr val="1C67B5"/>
            </a:solidFill>
            <a:prstDash val="solid"/>
          </a:ln>
        </p:spPr>
      </p:sp>
      <p:sp>
        <p:nvSpPr>
          <p:cNvPr id="27" name="Shape 24"/>
          <p:cNvSpPr/>
          <p:nvPr/>
        </p:nvSpPr>
        <p:spPr>
          <a:xfrm>
            <a:off x="2214067" y="4517619"/>
            <a:ext cx="156058" cy="-61337"/>
          </a:xfrm>
          <a:prstGeom prst="line">
            <a:avLst/>
          </a:prstGeom>
          <a:noFill/>
          <a:ln w="19050">
            <a:solidFill>
              <a:srgbClr val="1C67B5"/>
            </a:solidFill>
            <a:prstDash val="solid"/>
          </a:ln>
        </p:spPr>
      </p:sp>
      <p:sp>
        <p:nvSpPr>
          <p:cNvPr id="28" name="Shape 25"/>
          <p:cNvSpPr/>
          <p:nvPr/>
        </p:nvSpPr>
        <p:spPr>
          <a:xfrm>
            <a:off x="2370125" y="4456282"/>
            <a:ext cx="156058" cy="-30375"/>
          </a:xfrm>
          <a:prstGeom prst="line">
            <a:avLst/>
          </a:prstGeom>
          <a:noFill/>
          <a:ln w="19050">
            <a:solidFill>
              <a:srgbClr val="1C67B5"/>
            </a:solidFill>
            <a:prstDash val="solid"/>
          </a:ln>
        </p:spPr>
      </p:sp>
      <p:sp>
        <p:nvSpPr>
          <p:cNvPr id="29" name="Shape 26"/>
          <p:cNvSpPr/>
          <p:nvPr/>
        </p:nvSpPr>
        <p:spPr>
          <a:xfrm>
            <a:off x="2526182" y="4425906"/>
            <a:ext cx="156058" cy="39324"/>
          </a:xfrm>
          <a:prstGeom prst="line">
            <a:avLst/>
          </a:prstGeom>
          <a:noFill/>
          <a:ln w="19050">
            <a:solidFill>
              <a:srgbClr val="1C67B5"/>
            </a:solidFill>
            <a:prstDash val="solid"/>
          </a:ln>
        </p:spPr>
      </p:sp>
      <p:sp>
        <p:nvSpPr>
          <p:cNvPr id="30" name="Shape 27"/>
          <p:cNvSpPr/>
          <p:nvPr/>
        </p:nvSpPr>
        <p:spPr>
          <a:xfrm>
            <a:off x="2682240" y="4465230"/>
            <a:ext cx="156058" cy="58874"/>
          </a:xfrm>
          <a:prstGeom prst="line">
            <a:avLst/>
          </a:prstGeom>
          <a:noFill/>
          <a:ln w="19050">
            <a:solidFill>
              <a:srgbClr val="1C67B5"/>
            </a:solidFill>
            <a:prstDash val="solid"/>
          </a:ln>
        </p:spPr>
      </p:sp>
      <p:sp>
        <p:nvSpPr>
          <p:cNvPr id="31" name="Shape 28"/>
          <p:cNvSpPr/>
          <p:nvPr/>
        </p:nvSpPr>
        <p:spPr>
          <a:xfrm>
            <a:off x="2838298" y="4524104"/>
            <a:ext cx="156058" cy="3343"/>
          </a:xfrm>
          <a:prstGeom prst="line">
            <a:avLst/>
          </a:prstGeom>
          <a:noFill/>
          <a:ln w="19050">
            <a:solidFill>
              <a:srgbClr val="1C67B5"/>
            </a:solidFill>
            <a:prstDash val="solid"/>
          </a:ln>
        </p:spPr>
      </p:sp>
      <p:sp>
        <p:nvSpPr>
          <p:cNvPr id="32" name="Shape 29"/>
          <p:cNvSpPr/>
          <p:nvPr/>
        </p:nvSpPr>
        <p:spPr>
          <a:xfrm>
            <a:off x="2994355" y="4527447"/>
            <a:ext cx="156058" cy="-56451"/>
          </a:xfrm>
          <a:prstGeom prst="line">
            <a:avLst/>
          </a:prstGeom>
          <a:noFill/>
          <a:ln w="19050">
            <a:solidFill>
              <a:srgbClr val="1C67B5"/>
            </a:solidFill>
            <a:prstDash val="solid"/>
          </a:ln>
        </p:spPr>
      </p:sp>
      <p:sp>
        <p:nvSpPr>
          <p:cNvPr id="33" name="Shape 30"/>
          <p:cNvSpPr/>
          <p:nvPr/>
        </p:nvSpPr>
        <p:spPr>
          <a:xfrm>
            <a:off x="3150413" y="4470996"/>
            <a:ext cx="156058" cy="-44254"/>
          </a:xfrm>
          <a:prstGeom prst="line">
            <a:avLst/>
          </a:prstGeom>
          <a:noFill/>
          <a:ln w="19050">
            <a:solidFill>
              <a:srgbClr val="1C67B5"/>
            </a:solidFill>
            <a:prstDash val="solid"/>
          </a:ln>
        </p:spPr>
      </p:sp>
      <p:sp>
        <p:nvSpPr>
          <p:cNvPr id="34" name="Shape 31"/>
          <p:cNvSpPr/>
          <p:nvPr/>
        </p:nvSpPr>
        <p:spPr>
          <a:xfrm>
            <a:off x="3306470" y="4426742"/>
            <a:ext cx="156058" cy="-439958"/>
          </a:xfrm>
          <a:prstGeom prst="line">
            <a:avLst/>
          </a:prstGeom>
          <a:noFill/>
          <a:ln w="19050">
            <a:solidFill>
              <a:srgbClr val="1C67B5"/>
            </a:solidFill>
            <a:prstDash val="solid"/>
          </a:ln>
        </p:spPr>
      </p:sp>
      <p:sp>
        <p:nvSpPr>
          <p:cNvPr id="35" name="Shape 32"/>
          <p:cNvSpPr/>
          <p:nvPr/>
        </p:nvSpPr>
        <p:spPr>
          <a:xfrm>
            <a:off x="3462528" y="3986784"/>
            <a:ext cx="156058" cy="526260"/>
          </a:xfrm>
          <a:prstGeom prst="line">
            <a:avLst/>
          </a:prstGeom>
          <a:noFill/>
          <a:ln w="19050">
            <a:solidFill>
              <a:srgbClr val="1C67B5"/>
            </a:solidFill>
            <a:prstDash val="solid"/>
          </a:ln>
        </p:spPr>
      </p:sp>
      <p:sp>
        <p:nvSpPr>
          <p:cNvPr id="36" name="Shape 33"/>
          <p:cNvSpPr/>
          <p:nvPr/>
        </p:nvSpPr>
        <p:spPr>
          <a:xfrm>
            <a:off x="3618586" y="4513044"/>
            <a:ext cx="156058" cy="20496"/>
          </a:xfrm>
          <a:prstGeom prst="line">
            <a:avLst/>
          </a:prstGeom>
          <a:noFill/>
          <a:ln w="19050">
            <a:solidFill>
              <a:srgbClr val="1C67B5"/>
            </a:solidFill>
            <a:prstDash val="solid"/>
          </a:ln>
        </p:spPr>
      </p:sp>
      <p:sp>
        <p:nvSpPr>
          <p:cNvPr id="37" name="Shape 34"/>
          <p:cNvSpPr/>
          <p:nvPr/>
        </p:nvSpPr>
        <p:spPr>
          <a:xfrm>
            <a:off x="3774643" y="4533540"/>
            <a:ext cx="156058" cy="-47068"/>
          </a:xfrm>
          <a:prstGeom prst="line">
            <a:avLst/>
          </a:prstGeom>
          <a:noFill/>
          <a:ln w="19050">
            <a:solidFill>
              <a:srgbClr val="1C67B5"/>
            </a:solidFill>
            <a:prstDash val="solid"/>
          </a:ln>
        </p:spPr>
      </p:sp>
      <p:sp>
        <p:nvSpPr>
          <p:cNvPr id="38" name="Shape 35"/>
          <p:cNvSpPr/>
          <p:nvPr/>
        </p:nvSpPr>
        <p:spPr>
          <a:xfrm>
            <a:off x="3930701" y="4486472"/>
            <a:ext cx="156058" cy="-54607"/>
          </a:xfrm>
          <a:prstGeom prst="line">
            <a:avLst/>
          </a:prstGeom>
          <a:noFill/>
          <a:ln w="19050">
            <a:solidFill>
              <a:srgbClr val="1C67B5"/>
            </a:solidFill>
            <a:prstDash val="solid"/>
          </a:ln>
        </p:spPr>
      </p:sp>
      <p:sp>
        <p:nvSpPr>
          <p:cNvPr id="39" name="Shape 36"/>
          <p:cNvSpPr/>
          <p:nvPr/>
        </p:nvSpPr>
        <p:spPr>
          <a:xfrm>
            <a:off x="4086758" y="4431865"/>
            <a:ext cx="156058" cy="7493"/>
          </a:xfrm>
          <a:prstGeom prst="line">
            <a:avLst/>
          </a:prstGeom>
          <a:noFill/>
          <a:ln w="19050">
            <a:solidFill>
              <a:srgbClr val="1C67B5"/>
            </a:solidFill>
            <a:prstDash val="solid"/>
          </a:ln>
        </p:spPr>
      </p:sp>
      <p:sp>
        <p:nvSpPr>
          <p:cNvPr id="40" name="Shape 37"/>
          <p:cNvSpPr/>
          <p:nvPr/>
        </p:nvSpPr>
        <p:spPr>
          <a:xfrm>
            <a:off x="1773936" y="4846320"/>
            <a:ext cx="2596896" cy="384048"/>
          </a:xfrm>
          <a:prstGeom prst="roundRect">
            <a:avLst>
              <a:gd name="adj" fmla="val 19048"/>
            </a:avLst>
          </a:prstGeom>
          <a:solidFill>
            <a:srgbClr val="EEF9FD"/>
          </a:solidFill>
          <a:ln w="12700">
            <a:solidFill>
              <a:srgbClr val="25A7D9"/>
            </a:solidFill>
            <a:prstDash val="solid"/>
          </a:ln>
        </p:spPr>
      </p:sp>
      <p:sp>
        <p:nvSpPr>
          <p:cNvPr id="41" name="Text 38"/>
          <p:cNvSpPr/>
          <p:nvPr/>
        </p:nvSpPr>
        <p:spPr>
          <a:xfrm>
            <a:off x="1883664" y="4919472"/>
            <a:ext cx="2377440" cy="23774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Statistical event detection</a:t>
            </a:r>
            <a:endParaRPr lang="en-US" sz="1150" dirty="0"/>
          </a:p>
        </p:txBody>
      </p:sp>
      <p:sp>
        <p:nvSpPr>
          <p:cNvPr id="42" name="Shape 39"/>
          <p:cNvSpPr/>
          <p:nvPr/>
        </p:nvSpPr>
        <p:spPr>
          <a:xfrm>
            <a:off x="4901184" y="2286000"/>
            <a:ext cx="2999232" cy="3154680"/>
          </a:xfrm>
          <a:prstGeom prst="roundRect">
            <a:avLst>
              <a:gd name="adj" fmla="val 2439"/>
            </a:avLst>
          </a:prstGeom>
          <a:solidFill>
            <a:srgbClr val="FFF8E6"/>
          </a:solidFill>
          <a:ln w="12700">
            <a:solidFill>
              <a:srgbClr val="E9A21B"/>
            </a:solidFill>
            <a:prstDash val="solid"/>
          </a:ln>
        </p:spPr>
      </p:sp>
      <p:sp>
        <p:nvSpPr>
          <p:cNvPr id="43" name="Text 40"/>
          <p:cNvSpPr/>
          <p:nvPr/>
        </p:nvSpPr>
        <p:spPr>
          <a:xfrm>
            <a:off x="5010912" y="2432304"/>
            <a:ext cx="2779776" cy="320040"/>
          </a:xfrm>
          <a:prstGeom prst="rect">
            <a:avLst/>
          </a:prstGeom>
          <a:noFill/>
          <a:ln/>
        </p:spPr>
        <p:txBody>
          <a:bodyPr wrap="square" lIns="508" tIns="508" rIns="508" bIns="508" rtlCol="0" anchor="ctr">
            <a:normAutofit/>
          </a:bodyPr>
          <a:lstStyle/>
          <a:p>
            <a:pPr algn="ctr" indent="0" marL="0">
              <a:buNone/>
            </a:pPr>
            <a:r>
              <a:rPr lang="en-US" sz="1450" b="1" dirty="0">
                <a:solidFill>
                  <a:srgbClr val="E9A21B"/>
                </a:solidFill>
                <a:latin typeface="Georgia" pitchFamily="34" charset="0"/>
                <a:ea typeface="Georgia" pitchFamily="34" charset="-122"/>
                <a:cs typeface="Georgia" pitchFamily="34" charset="-120"/>
              </a:rPr>
              <a:t>CLASSIFICATION / NOWCASTING</a:t>
            </a:r>
            <a:endParaRPr lang="en-US" sz="1450" dirty="0"/>
          </a:p>
        </p:txBody>
      </p:sp>
      <p:sp>
        <p:nvSpPr>
          <p:cNvPr id="44" name="Text 41"/>
          <p:cNvSpPr/>
          <p:nvPr/>
        </p:nvSpPr>
        <p:spPr>
          <a:xfrm>
            <a:off x="5102352" y="2871216"/>
            <a:ext cx="2596896" cy="530352"/>
          </a:xfrm>
          <a:prstGeom prst="rect">
            <a:avLst/>
          </a:prstGeom>
          <a:noFill/>
          <a:ln/>
        </p:spPr>
        <p:txBody>
          <a:bodyPr wrap="square" lIns="508" tIns="508" rIns="508" bIns="508" rtlCol="0" anchor="ctr">
            <a:normAutofit/>
          </a:bodyPr>
          <a:lstStyle/>
          <a:p>
            <a:pPr algn="ctr" indent="0" marL="0">
              <a:buNone/>
            </a:pPr>
            <a:r>
              <a:rPr lang="en-US" sz="1300" b="1" dirty="0">
                <a:solidFill>
                  <a:srgbClr val="0B1F5B"/>
                </a:solidFill>
                <a:latin typeface="Aptos" pitchFamily="34" charset="0"/>
                <a:ea typeface="Aptos" pitchFamily="34" charset="-122"/>
                <a:cs typeface="Aptos" pitchFamily="34" charset="-120"/>
              </a:rPr>
              <a:t>At the observed peak, is the event B or C+?</a:t>
            </a:r>
            <a:endParaRPr lang="en-US" sz="1300" dirty="0"/>
          </a:p>
        </p:txBody>
      </p:sp>
      <p:sp>
        <p:nvSpPr>
          <p:cNvPr id="45" name="Shape 42"/>
          <p:cNvSpPr/>
          <p:nvPr/>
        </p:nvSpPr>
        <p:spPr>
          <a:xfrm>
            <a:off x="5230368" y="4690872"/>
            <a:ext cx="2340864" cy="0"/>
          </a:xfrm>
          <a:prstGeom prst="line">
            <a:avLst/>
          </a:prstGeom>
          <a:noFill/>
          <a:ln w="10160">
            <a:solidFill>
              <a:srgbClr val="7895B0"/>
            </a:solidFill>
            <a:prstDash val="solid"/>
          </a:ln>
        </p:spPr>
      </p:sp>
      <p:sp>
        <p:nvSpPr>
          <p:cNvPr id="46" name="Shape 43"/>
          <p:cNvSpPr/>
          <p:nvPr/>
        </p:nvSpPr>
        <p:spPr>
          <a:xfrm>
            <a:off x="5230368" y="3822192"/>
            <a:ext cx="0" cy="868680"/>
          </a:xfrm>
          <a:prstGeom prst="line">
            <a:avLst/>
          </a:prstGeom>
          <a:noFill/>
          <a:ln w="10160">
            <a:solidFill>
              <a:srgbClr val="7895B0"/>
            </a:solidFill>
            <a:prstDash val="solid"/>
          </a:ln>
        </p:spPr>
      </p:sp>
      <p:sp>
        <p:nvSpPr>
          <p:cNvPr id="47" name="Shape 44"/>
          <p:cNvSpPr/>
          <p:nvPr/>
        </p:nvSpPr>
        <p:spPr>
          <a:xfrm>
            <a:off x="5230368" y="4480560"/>
            <a:ext cx="156058" cy="51135"/>
          </a:xfrm>
          <a:prstGeom prst="line">
            <a:avLst/>
          </a:prstGeom>
          <a:noFill/>
          <a:ln w="19050">
            <a:solidFill>
              <a:srgbClr val="1C67B5"/>
            </a:solidFill>
            <a:prstDash val="solid"/>
          </a:ln>
        </p:spPr>
      </p:sp>
      <p:sp>
        <p:nvSpPr>
          <p:cNvPr id="48" name="Shape 45"/>
          <p:cNvSpPr/>
          <p:nvPr/>
        </p:nvSpPr>
        <p:spPr>
          <a:xfrm>
            <a:off x="5386426" y="4531695"/>
            <a:ext cx="156058" cy="-14077"/>
          </a:xfrm>
          <a:prstGeom prst="line">
            <a:avLst/>
          </a:prstGeom>
          <a:noFill/>
          <a:ln w="19050">
            <a:solidFill>
              <a:srgbClr val="1C67B5"/>
            </a:solidFill>
            <a:prstDash val="solid"/>
          </a:ln>
        </p:spPr>
      </p:sp>
      <p:sp>
        <p:nvSpPr>
          <p:cNvPr id="49" name="Shape 46"/>
          <p:cNvSpPr/>
          <p:nvPr/>
        </p:nvSpPr>
        <p:spPr>
          <a:xfrm>
            <a:off x="5542483" y="4517619"/>
            <a:ext cx="156058" cy="-61337"/>
          </a:xfrm>
          <a:prstGeom prst="line">
            <a:avLst/>
          </a:prstGeom>
          <a:noFill/>
          <a:ln w="19050">
            <a:solidFill>
              <a:srgbClr val="1C67B5"/>
            </a:solidFill>
            <a:prstDash val="solid"/>
          </a:ln>
        </p:spPr>
      </p:sp>
      <p:sp>
        <p:nvSpPr>
          <p:cNvPr id="50" name="Shape 47"/>
          <p:cNvSpPr/>
          <p:nvPr/>
        </p:nvSpPr>
        <p:spPr>
          <a:xfrm>
            <a:off x="5698541" y="4456282"/>
            <a:ext cx="156058" cy="-30375"/>
          </a:xfrm>
          <a:prstGeom prst="line">
            <a:avLst/>
          </a:prstGeom>
          <a:noFill/>
          <a:ln w="19050">
            <a:solidFill>
              <a:srgbClr val="1C67B5"/>
            </a:solidFill>
            <a:prstDash val="solid"/>
          </a:ln>
        </p:spPr>
      </p:sp>
      <p:sp>
        <p:nvSpPr>
          <p:cNvPr id="51" name="Shape 48"/>
          <p:cNvSpPr/>
          <p:nvPr/>
        </p:nvSpPr>
        <p:spPr>
          <a:xfrm>
            <a:off x="5854598" y="4425906"/>
            <a:ext cx="156058" cy="39324"/>
          </a:xfrm>
          <a:prstGeom prst="line">
            <a:avLst/>
          </a:prstGeom>
          <a:noFill/>
          <a:ln w="19050">
            <a:solidFill>
              <a:srgbClr val="1C67B5"/>
            </a:solidFill>
            <a:prstDash val="solid"/>
          </a:ln>
        </p:spPr>
      </p:sp>
      <p:sp>
        <p:nvSpPr>
          <p:cNvPr id="52" name="Shape 49"/>
          <p:cNvSpPr/>
          <p:nvPr/>
        </p:nvSpPr>
        <p:spPr>
          <a:xfrm>
            <a:off x="6010656" y="4465230"/>
            <a:ext cx="156058" cy="58874"/>
          </a:xfrm>
          <a:prstGeom prst="line">
            <a:avLst/>
          </a:prstGeom>
          <a:noFill/>
          <a:ln w="19050">
            <a:solidFill>
              <a:srgbClr val="1C67B5"/>
            </a:solidFill>
            <a:prstDash val="solid"/>
          </a:ln>
        </p:spPr>
      </p:sp>
      <p:sp>
        <p:nvSpPr>
          <p:cNvPr id="53" name="Shape 50"/>
          <p:cNvSpPr/>
          <p:nvPr/>
        </p:nvSpPr>
        <p:spPr>
          <a:xfrm>
            <a:off x="6166714" y="4524104"/>
            <a:ext cx="156058" cy="3343"/>
          </a:xfrm>
          <a:prstGeom prst="line">
            <a:avLst/>
          </a:prstGeom>
          <a:noFill/>
          <a:ln w="19050">
            <a:solidFill>
              <a:srgbClr val="1C67B5"/>
            </a:solidFill>
            <a:prstDash val="solid"/>
          </a:ln>
        </p:spPr>
      </p:sp>
      <p:sp>
        <p:nvSpPr>
          <p:cNvPr id="54" name="Shape 51"/>
          <p:cNvSpPr/>
          <p:nvPr/>
        </p:nvSpPr>
        <p:spPr>
          <a:xfrm>
            <a:off x="6322771" y="4527447"/>
            <a:ext cx="156058" cy="-540663"/>
          </a:xfrm>
          <a:prstGeom prst="line">
            <a:avLst/>
          </a:prstGeom>
          <a:noFill/>
          <a:ln w="19050">
            <a:solidFill>
              <a:srgbClr val="1C67B5"/>
            </a:solidFill>
            <a:prstDash val="solid"/>
          </a:ln>
        </p:spPr>
      </p:sp>
      <p:sp>
        <p:nvSpPr>
          <p:cNvPr id="55" name="Shape 52"/>
          <p:cNvSpPr/>
          <p:nvPr/>
        </p:nvSpPr>
        <p:spPr>
          <a:xfrm>
            <a:off x="6478829" y="3986784"/>
            <a:ext cx="156058" cy="439958"/>
          </a:xfrm>
          <a:prstGeom prst="line">
            <a:avLst/>
          </a:prstGeom>
          <a:noFill/>
          <a:ln w="19050">
            <a:solidFill>
              <a:srgbClr val="1C67B5"/>
            </a:solidFill>
            <a:prstDash val="solid"/>
          </a:ln>
        </p:spPr>
      </p:sp>
      <p:sp>
        <p:nvSpPr>
          <p:cNvPr id="56" name="Shape 53"/>
          <p:cNvSpPr/>
          <p:nvPr/>
        </p:nvSpPr>
        <p:spPr>
          <a:xfrm>
            <a:off x="6634886" y="4426742"/>
            <a:ext cx="156058" cy="24380"/>
          </a:xfrm>
          <a:prstGeom prst="line">
            <a:avLst/>
          </a:prstGeom>
          <a:noFill/>
          <a:ln w="19050">
            <a:solidFill>
              <a:srgbClr val="1C67B5"/>
            </a:solidFill>
            <a:prstDash val="solid"/>
          </a:ln>
        </p:spPr>
      </p:sp>
      <p:sp>
        <p:nvSpPr>
          <p:cNvPr id="57" name="Shape 54"/>
          <p:cNvSpPr/>
          <p:nvPr/>
        </p:nvSpPr>
        <p:spPr>
          <a:xfrm>
            <a:off x="6790944" y="4451121"/>
            <a:ext cx="156058" cy="61922"/>
          </a:xfrm>
          <a:prstGeom prst="line">
            <a:avLst/>
          </a:prstGeom>
          <a:noFill/>
          <a:ln w="19050">
            <a:solidFill>
              <a:srgbClr val="1C67B5"/>
            </a:solidFill>
            <a:prstDash val="solid"/>
          </a:ln>
        </p:spPr>
      </p:sp>
      <p:sp>
        <p:nvSpPr>
          <p:cNvPr id="58" name="Shape 55"/>
          <p:cNvSpPr/>
          <p:nvPr/>
        </p:nvSpPr>
        <p:spPr>
          <a:xfrm>
            <a:off x="6947002" y="4513044"/>
            <a:ext cx="156058" cy="20496"/>
          </a:xfrm>
          <a:prstGeom prst="line">
            <a:avLst/>
          </a:prstGeom>
          <a:noFill/>
          <a:ln w="19050">
            <a:solidFill>
              <a:srgbClr val="1C67B5"/>
            </a:solidFill>
            <a:prstDash val="solid"/>
          </a:ln>
        </p:spPr>
      </p:sp>
      <p:sp>
        <p:nvSpPr>
          <p:cNvPr id="59" name="Shape 56"/>
          <p:cNvSpPr/>
          <p:nvPr/>
        </p:nvSpPr>
        <p:spPr>
          <a:xfrm>
            <a:off x="7103059" y="4533540"/>
            <a:ext cx="156058" cy="-47068"/>
          </a:xfrm>
          <a:prstGeom prst="line">
            <a:avLst/>
          </a:prstGeom>
          <a:noFill/>
          <a:ln w="19050">
            <a:solidFill>
              <a:srgbClr val="1C67B5"/>
            </a:solidFill>
            <a:prstDash val="solid"/>
          </a:ln>
        </p:spPr>
      </p:sp>
      <p:sp>
        <p:nvSpPr>
          <p:cNvPr id="60" name="Shape 57"/>
          <p:cNvSpPr/>
          <p:nvPr/>
        </p:nvSpPr>
        <p:spPr>
          <a:xfrm>
            <a:off x="7259117" y="4486472"/>
            <a:ext cx="156058" cy="-54607"/>
          </a:xfrm>
          <a:prstGeom prst="line">
            <a:avLst/>
          </a:prstGeom>
          <a:noFill/>
          <a:ln w="19050">
            <a:solidFill>
              <a:srgbClr val="1C67B5"/>
            </a:solidFill>
            <a:prstDash val="solid"/>
          </a:ln>
        </p:spPr>
      </p:sp>
      <p:sp>
        <p:nvSpPr>
          <p:cNvPr id="61" name="Shape 58"/>
          <p:cNvSpPr/>
          <p:nvPr/>
        </p:nvSpPr>
        <p:spPr>
          <a:xfrm>
            <a:off x="7415174" y="4431865"/>
            <a:ext cx="156058" cy="7493"/>
          </a:xfrm>
          <a:prstGeom prst="line">
            <a:avLst/>
          </a:prstGeom>
          <a:noFill/>
          <a:ln w="19050">
            <a:solidFill>
              <a:srgbClr val="1C67B5"/>
            </a:solidFill>
            <a:prstDash val="solid"/>
          </a:ln>
        </p:spPr>
      </p:sp>
      <p:sp>
        <p:nvSpPr>
          <p:cNvPr id="62" name="Shape 59"/>
          <p:cNvSpPr/>
          <p:nvPr/>
        </p:nvSpPr>
        <p:spPr>
          <a:xfrm>
            <a:off x="6478829" y="3840480"/>
            <a:ext cx="0" cy="850392"/>
          </a:xfrm>
          <a:prstGeom prst="line">
            <a:avLst/>
          </a:prstGeom>
          <a:noFill/>
          <a:ln w="15240">
            <a:solidFill>
              <a:srgbClr val="E9A21B"/>
            </a:solidFill>
            <a:prstDash val="solid"/>
          </a:ln>
        </p:spPr>
      </p:sp>
      <p:sp>
        <p:nvSpPr>
          <p:cNvPr id="63" name="Text 60"/>
          <p:cNvSpPr/>
          <p:nvPr/>
        </p:nvSpPr>
        <p:spPr>
          <a:xfrm>
            <a:off x="7141464" y="3913632"/>
            <a:ext cx="347472" cy="228600"/>
          </a:xfrm>
          <a:prstGeom prst="rect">
            <a:avLst/>
          </a:prstGeom>
          <a:noFill/>
          <a:ln/>
        </p:spPr>
        <p:txBody>
          <a:bodyPr wrap="square" lIns="508" tIns="508" rIns="508" bIns="508" rtlCol="0" anchor="ctr">
            <a:normAutofit/>
          </a:bodyPr>
          <a:lstStyle/>
          <a:p>
            <a:pPr algn="ctr" indent="0" marL="0">
              <a:buNone/>
            </a:pPr>
            <a:r>
              <a:rPr lang="en-US" sz="1200" b="1" dirty="0">
                <a:solidFill>
                  <a:srgbClr val="1C67B5"/>
                </a:solidFill>
                <a:latin typeface="Aptos" pitchFamily="34" charset="0"/>
                <a:ea typeface="Aptos" pitchFamily="34" charset="-122"/>
                <a:cs typeface="Aptos" pitchFamily="34" charset="-120"/>
              </a:rPr>
              <a:t>B</a:t>
            </a:r>
            <a:endParaRPr lang="en-US" sz="1200" dirty="0"/>
          </a:p>
        </p:txBody>
      </p:sp>
      <p:sp>
        <p:nvSpPr>
          <p:cNvPr id="64" name="Text 61"/>
          <p:cNvSpPr/>
          <p:nvPr/>
        </p:nvSpPr>
        <p:spPr>
          <a:xfrm>
            <a:off x="7141464" y="4279392"/>
            <a:ext cx="347472" cy="228600"/>
          </a:xfrm>
          <a:prstGeom prst="rect">
            <a:avLst/>
          </a:prstGeom>
          <a:noFill/>
          <a:ln/>
        </p:spPr>
        <p:txBody>
          <a:bodyPr wrap="square" lIns="508" tIns="508" rIns="508" bIns="508" rtlCol="0" anchor="ctr">
            <a:normAutofit/>
          </a:bodyPr>
          <a:lstStyle/>
          <a:p>
            <a:pPr algn="ctr" indent="0" marL="0">
              <a:buNone/>
            </a:pPr>
            <a:r>
              <a:rPr lang="en-US" sz="1200" b="1" dirty="0">
                <a:solidFill>
                  <a:srgbClr val="E9A21B"/>
                </a:solidFill>
                <a:latin typeface="Aptos" pitchFamily="34" charset="0"/>
                <a:ea typeface="Aptos" pitchFamily="34" charset="-122"/>
                <a:cs typeface="Aptos" pitchFamily="34" charset="-120"/>
              </a:rPr>
              <a:t>C+</a:t>
            </a:r>
            <a:endParaRPr lang="en-US" sz="1200" dirty="0"/>
          </a:p>
        </p:txBody>
      </p:sp>
      <p:sp>
        <p:nvSpPr>
          <p:cNvPr id="65" name="Shape 62"/>
          <p:cNvSpPr/>
          <p:nvPr/>
        </p:nvSpPr>
        <p:spPr>
          <a:xfrm>
            <a:off x="5102352" y="4846320"/>
            <a:ext cx="2596896" cy="384048"/>
          </a:xfrm>
          <a:prstGeom prst="roundRect">
            <a:avLst>
              <a:gd name="adj" fmla="val 19048"/>
            </a:avLst>
          </a:prstGeom>
          <a:solidFill>
            <a:srgbClr val="FFF8E6"/>
          </a:solidFill>
          <a:ln w="12700">
            <a:solidFill>
              <a:srgbClr val="E9A21B"/>
            </a:solidFill>
            <a:prstDash val="solid"/>
          </a:ln>
        </p:spPr>
      </p:sp>
      <p:sp>
        <p:nvSpPr>
          <p:cNvPr id="66" name="Text 63"/>
          <p:cNvSpPr/>
          <p:nvPr/>
        </p:nvSpPr>
        <p:spPr>
          <a:xfrm>
            <a:off x="5212080" y="4919472"/>
            <a:ext cx="2377440" cy="23774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t_pred = t_peak</a:t>
            </a:r>
            <a:endParaRPr lang="en-US" sz="1150" dirty="0"/>
          </a:p>
        </p:txBody>
      </p:sp>
      <p:sp>
        <p:nvSpPr>
          <p:cNvPr id="67" name="Shape 64"/>
          <p:cNvSpPr/>
          <p:nvPr/>
        </p:nvSpPr>
        <p:spPr>
          <a:xfrm>
            <a:off x="8229600" y="2286000"/>
            <a:ext cx="2999232" cy="3154680"/>
          </a:xfrm>
          <a:prstGeom prst="roundRect">
            <a:avLst>
              <a:gd name="adj" fmla="val 2439"/>
            </a:avLst>
          </a:prstGeom>
          <a:solidFill>
            <a:srgbClr val="F4F5F6"/>
          </a:solidFill>
          <a:ln w="12700">
            <a:solidFill>
              <a:srgbClr val="9AA4AE"/>
            </a:solidFill>
            <a:prstDash val="solid"/>
          </a:ln>
        </p:spPr>
      </p:sp>
      <p:sp>
        <p:nvSpPr>
          <p:cNvPr id="68" name="Text 65"/>
          <p:cNvSpPr/>
          <p:nvPr/>
        </p:nvSpPr>
        <p:spPr>
          <a:xfrm>
            <a:off x="8339328" y="2432304"/>
            <a:ext cx="2779776" cy="320040"/>
          </a:xfrm>
          <a:prstGeom prst="rect">
            <a:avLst/>
          </a:prstGeom>
          <a:noFill/>
          <a:ln/>
        </p:spPr>
        <p:txBody>
          <a:bodyPr wrap="square" lIns="508" tIns="508" rIns="508" bIns="508" rtlCol="0" anchor="ctr">
            <a:normAutofit/>
          </a:bodyPr>
          <a:lstStyle/>
          <a:p>
            <a:pPr algn="ctr" indent="0" marL="0">
              <a:buNone/>
            </a:pPr>
            <a:r>
              <a:rPr lang="en-US" sz="1450" b="1" dirty="0">
                <a:solidFill>
                  <a:srgbClr val="9AA4AE"/>
                </a:solidFill>
                <a:latin typeface="Georgia" pitchFamily="34" charset="0"/>
                <a:ea typeface="Georgia" pitchFamily="34" charset="-122"/>
                <a:cs typeface="Georgia" pitchFamily="34" charset="-120"/>
              </a:rPr>
              <a:t>FORECASTING</a:t>
            </a:r>
            <a:endParaRPr lang="en-US" sz="1450" dirty="0"/>
          </a:p>
        </p:txBody>
      </p:sp>
      <p:sp>
        <p:nvSpPr>
          <p:cNvPr id="69" name="Text 66"/>
          <p:cNvSpPr/>
          <p:nvPr/>
        </p:nvSpPr>
        <p:spPr>
          <a:xfrm>
            <a:off x="8430768" y="2871216"/>
            <a:ext cx="2596896" cy="530352"/>
          </a:xfrm>
          <a:prstGeom prst="rect">
            <a:avLst/>
          </a:prstGeom>
          <a:noFill/>
          <a:ln/>
        </p:spPr>
        <p:txBody>
          <a:bodyPr wrap="square" lIns="508" tIns="508" rIns="508" bIns="508" rtlCol="0" anchor="ctr">
            <a:normAutofit/>
          </a:bodyPr>
          <a:lstStyle/>
          <a:p>
            <a:pPr algn="ctr" indent="0" marL="0">
              <a:buNone/>
            </a:pPr>
            <a:r>
              <a:rPr lang="en-US" sz="1300" b="1" dirty="0">
                <a:solidFill>
                  <a:srgbClr val="0B1F5B"/>
                </a:solidFill>
                <a:latin typeface="Aptos" pitchFamily="34" charset="0"/>
                <a:ea typeface="Aptos" pitchFamily="34" charset="-122"/>
                <a:cs typeface="Aptos" pitchFamily="34" charset="-120"/>
              </a:rPr>
              <a:t>Will a flare happen before its observed signature?</a:t>
            </a:r>
            <a:endParaRPr lang="en-US" sz="1300" dirty="0"/>
          </a:p>
        </p:txBody>
      </p:sp>
      <p:sp>
        <p:nvSpPr>
          <p:cNvPr id="70" name="Shape 67"/>
          <p:cNvSpPr/>
          <p:nvPr/>
        </p:nvSpPr>
        <p:spPr>
          <a:xfrm>
            <a:off x="8558784" y="4690872"/>
            <a:ext cx="2340864" cy="0"/>
          </a:xfrm>
          <a:prstGeom prst="line">
            <a:avLst/>
          </a:prstGeom>
          <a:noFill/>
          <a:ln w="10160">
            <a:solidFill>
              <a:srgbClr val="7895B0"/>
            </a:solidFill>
            <a:prstDash val="solid"/>
          </a:ln>
        </p:spPr>
      </p:sp>
      <p:sp>
        <p:nvSpPr>
          <p:cNvPr id="71" name="Shape 68"/>
          <p:cNvSpPr/>
          <p:nvPr/>
        </p:nvSpPr>
        <p:spPr>
          <a:xfrm>
            <a:off x="8558784" y="3822192"/>
            <a:ext cx="0" cy="868680"/>
          </a:xfrm>
          <a:prstGeom prst="line">
            <a:avLst/>
          </a:prstGeom>
          <a:noFill/>
          <a:ln w="10160">
            <a:solidFill>
              <a:srgbClr val="7895B0"/>
            </a:solidFill>
            <a:prstDash val="solid"/>
          </a:ln>
        </p:spPr>
      </p:sp>
      <p:sp>
        <p:nvSpPr>
          <p:cNvPr id="72" name="Shape 69"/>
          <p:cNvSpPr/>
          <p:nvPr/>
        </p:nvSpPr>
        <p:spPr>
          <a:xfrm>
            <a:off x="8558784" y="4480560"/>
            <a:ext cx="156058" cy="51135"/>
          </a:xfrm>
          <a:prstGeom prst="line">
            <a:avLst/>
          </a:prstGeom>
          <a:noFill/>
          <a:ln w="19050">
            <a:solidFill>
              <a:srgbClr val="1C67B5"/>
            </a:solidFill>
            <a:prstDash val="solid"/>
          </a:ln>
        </p:spPr>
      </p:sp>
      <p:sp>
        <p:nvSpPr>
          <p:cNvPr id="73" name="Shape 70"/>
          <p:cNvSpPr/>
          <p:nvPr/>
        </p:nvSpPr>
        <p:spPr>
          <a:xfrm>
            <a:off x="8714842" y="4531695"/>
            <a:ext cx="156058" cy="-14077"/>
          </a:xfrm>
          <a:prstGeom prst="line">
            <a:avLst/>
          </a:prstGeom>
          <a:noFill/>
          <a:ln w="19050">
            <a:solidFill>
              <a:srgbClr val="1C67B5"/>
            </a:solidFill>
            <a:prstDash val="solid"/>
          </a:ln>
        </p:spPr>
      </p:sp>
      <p:sp>
        <p:nvSpPr>
          <p:cNvPr id="74" name="Shape 71"/>
          <p:cNvSpPr/>
          <p:nvPr/>
        </p:nvSpPr>
        <p:spPr>
          <a:xfrm>
            <a:off x="8870899" y="4517619"/>
            <a:ext cx="156058" cy="-61337"/>
          </a:xfrm>
          <a:prstGeom prst="line">
            <a:avLst/>
          </a:prstGeom>
          <a:noFill/>
          <a:ln w="19050">
            <a:solidFill>
              <a:srgbClr val="1C67B5"/>
            </a:solidFill>
            <a:prstDash val="solid"/>
          </a:ln>
        </p:spPr>
      </p:sp>
      <p:sp>
        <p:nvSpPr>
          <p:cNvPr id="75" name="Shape 72"/>
          <p:cNvSpPr/>
          <p:nvPr/>
        </p:nvSpPr>
        <p:spPr>
          <a:xfrm>
            <a:off x="9026957" y="4456282"/>
            <a:ext cx="156058" cy="-30375"/>
          </a:xfrm>
          <a:prstGeom prst="line">
            <a:avLst/>
          </a:prstGeom>
          <a:noFill/>
          <a:ln w="19050">
            <a:solidFill>
              <a:srgbClr val="1C67B5"/>
            </a:solidFill>
            <a:prstDash val="solid"/>
          </a:ln>
        </p:spPr>
      </p:sp>
      <p:sp>
        <p:nvSpPr>
          <p:cNvPr id="76" name="Shape 73"/>
          <p:cNvSpPr/>
          <p:nvPr/>
        </p:nvSpPr>
        <p:spPr>
          <a:xfrm>
            <a:off x="9183014" y="4425906"/>
            <a:ext cx="156058" cy="39324"/>
          </a:xfrm>
          <a:prstGeom prst="line">
            <a:avLst/>
          </a:prstGeom>
          <a:noFill/>
          <a:ln w="19050">
            <a:solidFill>
              <a:srgbClr val="1C67B5"/>
            </a:solidFill>
            <a:prstDash val="solid"/>
          </a:ln>
        </p:spPr>
      </p:sp>
      <p:sp>
        <p:nvSpPr>
          <p:cNvPr id="77" name="Shape 74"/>
          <p:cNvSpPr/>
          <p:nvPr/>
        </p:nvSpPr>
        <p:spPr>
          <a:xfrm>
            <a:off x="9339072" y="4465230"/>
            <a:ext cx="156058" cy="58874"/>
          </a:xfrm>
          <a:prstGeom prst="line">
            <a:avLst/>
          </a:prstGeom>
          <a:noFill/>
          <a:ln w="19050">
            <a:solidFill>
              <a:srgbClr val="1C67B5"/>
            </a:solidFill>
            <a:prstDash val="solid"/>
          </a:ln>
        </p:spPr>
      </p:sp>
      <p:sp>
        <p:nvSpPr>
          <p:cNvPr id="78" name="Shape 75"/>
          <p:cNvSpPr/>
          <p:nvPr/>
        </p:nvSpPr>
        <p:spPr>
          <a:xfrm>
            <a:off x="9495130" y="4524104"/>
            <a:ext cx="156058" cy="3343"/>
          </a:xfrm>
          <a:prstGeom prst="line">
            <a:avLst/>
          </a:prstGeom>
          <a:noFill/>
          <a:ln w="19050">
            <a:solidFill>
              <a:srgbClr val="1C67B5"/>
            </a:solidFill>
            <a:prstDash val="solid"/>
          </a:ln>
        </p:spPr>
      </p:sp>
      <p:sp>
        <p:nvSpPr>
          <p:cNvPr id="79" name="Shape 76"/>
          <p:cNvSpPr/>
          <p:nvPr/>
        </p:nvSpPr>
        <p:spPr>
          <a:xfrm>
            <a:off x="9651187" y="4527447"/>
            <a:ext cx="156058" cy="-56451"/>
          </a:xfrm>
          <a:prstGeom prst="line">
            <a:avLst/>
          </a:prstGeom>
          <a:noFill/>
          <a:ln w="19050">
            <a:solidFill>
              <a:srgbClr val="1C67B5"/>
            </a:solidFill>
            <a:prstDash val="solid"/>
          </a:ln>
        </p:spPr>
      </p:sp>
      <p:sp>
        <p:nvSpPr>
          <p:cNvPr id="80" name="Shape 77"/>
          <p:cNvSpPr/>
          <p:nvPr/>
        </p:nvSpPr>
        <p:spPr>
          <a:xfrm>
            <a:off x="9807245" y="4470996"/>
            <a:ext cx="156058" cy="-44254"/>
          </a:xfrm>
          <a:prstGeom prst="line">
            <a:avLst/>
          </a:prstGeom>
          <a:noFill/>
          <a:ln w="19050">
            <a:solidFill>
              <a:srgbClr val="1C67B5"/>
            </a:solidFill>
            <a:prstDash val="solid"/>
          </a:ln>
        </p:spPr>
      </p:sp>
      <p:sp>
        <p:nvSpPr>
          <p:cNvPr id="81" name="Shape 78"/>
          <p:cNvSpPr/>
          <p:nvPr/>
        </p:nvSpPr>
        <p:spPr>
          <a:xfrm>
            <a:off x="9963302" y="4426742"/>
            <a:ext cx="156058" cy="24380"/>
          </a:xfrm>
          <a:prstGeom prst="line">
            <a:avLst/>
          </a:prstGeom>
          <a:noFill/>
          <a:ln w="19050">
            <a:solidFill>
              <a:srgbClr val="1C67B5"/>
            </a:solidFill>
            <a:prstDash val="solid"/>
          </a:ln>
        </p:spPr>
      </p:sp>
      <p:sp>
        <p:nvSpPr>
          <p:cNvPr id="82" name="Shape 79"/>
          <p:cNvSpPr/>
          <p:nvPr/>
        </p:nvSpPr>
        <p:spPr>
          <a:xfrm>
            <a:off x="10119360" y="4451121"/>
            <a:ext cx="156058" cy="61922"/>
          </a:xfrm>
          <a:prstGeom prst="line">
            <a:avLst/>
          </a:prstGeom>
          <a:noFill/>
          <a:ln w="19050">
            <a:solidFill>
              <a:srgbClr val="1C67B5"/>
            </a:solidFill>
            <a:prstDash val="solid"/>
          </a:ln>
        </p:spPr>
      </p:sp>
      <p:sp>
        <p:nvSpPr>
          <p:cNvPr id="83" name="Shape 80"/>
          <p:cNvSpPr/>
          <p:nvPr/>
        </p:nvSpPr>
        <p:spPr>
          <a:xfrm>
            <a:off x="10275418" y="4513044"/>
            <a:ext cx="156058" cy="20496"/>
          </a:xfrm>
          <a:prstGeom prst="line">
            <a:avLst/>
          </a:prstGeom>
          <a:noFill/>
          <a:ln w="19050">
            <a:solidFill>
              <a:srgbClr val="1C67B5"/>
            </a:solidFill>
            <a:prstDash val="solid"/>
          </a:ln>
        </p:spPr>
      </p:sp>
      <p:sp>
        <p:nvSpPr>
          <p:cNvPr id="84" name="Shape 81"/>
          <p:cNvSpPr/>
          <p:nvPr/>
        </p:nvSpPr>
        <p:spPr>
          <a:xfrm>
            <a:off x="10431475" y="4533540"/>
            <a:ext cx="156058" cy="-546756"/>
          </a:xfrm>
          <a:prstGeom prst="line">
            <a:avLst/>
          </a:prstGeom>
          <a:noFill/>
          <a:ln w="19050">
            <a:solidFill>
              <a:srgbClr val="1C67B5"/>
            </a:solidFill>
            <a:prstDash val="solid"/>
          </a:ln>
        </p:spPr>
      </p:sp>
      <p:sp>
        <p:nvSpPr>
          <p:cNvPr id="85" name="Shape 82"/>
          <p:cNvSpPr/>
          <p:nvPr/>
        </p:nvSpPr>
        <p:spPr>
          <a:xfrm>
            <a:off x="10587533" y="3986784"/>
            <a:ext cx="156058" cy="445081"/>
          </a:xfrm>
          <a:prstGeom prst="line">
            <a:avLst/>
          </a:prstGeom>
          <a:noFill/>
          <a:ln w="19050">
            <a:solidFill>
              <a:srgbClr val="1C67B5"/>
            </a:solidFill>
            <a:prstDash val="solid"/>
          </a:ln>
        </p:spPr>
      </p:sp>
      <p:sp>
        <p:nvSpPr>
          <p:cNvPr id="86" name="Shape 83"/>
          <p:cNvSpPr/>
          <p:nvPr/>
        </p:nvSpPr>
        <p:spPr>
          <a:xfrm>
            <a:off x="10743590" y="4431865"/>
            <a:ext cx="156058" cy="7493"/>
          </a:xfrm>
          <a:prstGeom prst="line">
            <a:avLst/>
          </a:prstGeom>
          <a:noFill/>
          <a:ln w="19050">
            <a:solidFill>
              <a:srgbClr val="1C67B5"/>
            </a:solidFill>
            <a:prstDash val="solid"/>
          </a:ln>
        </p:spPr>
      </p:sp>
      <p:sp>
        <p:nvSpPr>
          <p:cNvPr id="87" name="Shape 84"/>
          <p:cNvSpPr/>
          <p:nvPr/>
        </p:nvSpPr>
        <p:spPr>
          <a:xfrm>
            <a:off x="8549640" y="3611880"/>
            <a:ext cx="2331720" cy="1097280"/>
          </a:xfrm>
          <a:prstGeom prst="line">
            <a:avLst/>
          </a:prstGeom>
          <a:noFill/>
          <a:ln w="34290">
            <a:solidFill>
              <a:srgbClr val="C73B3B">
                <a:alpha val="75000"/>
              </a:srgbClr>
            </a:solidFill>
            <a:prstDash val="solid"/>
          </a:ln>
        </p:spPr>
      </p:sp>
      <p:sp>
        <p:nvSpPr>
          <p:cNvPr id="88" name="Shape 85"/>
          <p:cNvSpPr/>
          <p:nvPr/>
        </p:nvSpPr>
        <p:spPr>
          <a:xfrm>
            <a:off x="8430768" y="4846320"/>
            <a:ext cx="2596896" cy="384048"/>
          </a:xfrm>
          <a:prstGeom prst="roundRect">
            <a:avLst>
              <a:gd name="adj" fmla="val 19048"/>
            </a:avLst>
          </a:prstGeom>
          <a:solidFill>
            <a:srgbClr val="F4F5F6"/>
          </a:solidFill>
          <a:ln w="12700">
            <a:solidFill>
              <a:srgbClr val="9AA4AE"/>
            </a:solidFill>
            <a:prstDash val="solid"/>
          </a:ln>
        </p:spPr>
      </p:sp>
      <p:sp>
        <p:nvSpPr>
          <p:cNvPr id="89" name="Text 86"/>
          <p:cNvSpPr/>
          <p:nvPr/>
        </p:nvSpPr>
        <p:spPr>
          <a:xfrm>
            <a:off x="8540496" y="4919472"/>
            <a:ext cx="2377440" cy="23774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Not the task in this project</a:t>
            </a:r>
            <a:endParaRPr lang="en-US" sz="1150" dirty="0"/>
          </a:p>
        </p:txBody>
      </p:sp>
      <p:sp>
        <p:nvSpPr>
          <p:cNvPr id="90" name="Shape 87"/>
          <p:cNvSpPr/>
          <p:nvPr/>
        </p:nvSpPr>
        <p:spPr>
          <a:xfrm>
            <a:off x="1874520" y="5650992"/>
            <a:ext cx="9326880" cy="475488"/>
          </a:xfrm>
          <a:prstGeom prst="roundRect">
            <a:avLst>
              <a:gd name="adj" fmla="val 15385"/>
            </a:avLst>
          </a:prstGeom>
          <a:solidFill>
            <a:srgbClr val="F4F9FD"/>
          </a:solidFill>
          <a:ln w="12700">
            <a:solidFill>
              <a:srgbClr val="1C67B5"/>
            </a:solidFill>
            <a:prstDash val="solid"/>
          </a:ln>
        </p:spPr>
      </p:sp>
      <p:sp>
        <p:nvSpPr>
          <p:cNvPr id="91" name="Text 88"/>
          <p:cNvSpPr/>
          <p:nvPr/>
        </p:nvSpPr>
        <p:spPr>
          <a:xfrm>
            <a:off x="1984248" y="5724144"/>
            <a:ext cx="9107424" cy="32918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Stage 8: Impulsive-Phase Flare Severity Nowcasting   •   Target: B vs C+   •   C+ = NOAA C or M</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Why Solar X-Rays Matter</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Flare intensity is encoded in the observed soft X-ray peak</a:t>
            </a:r>
            <a:endParaRPr lang="en-US" sz="1450" dirty="0"/>
          </a:p>
        </p:txBody>
      </p:sp>
      <p:sp>
        <p:nvSpPr>
          <p:cNvPr id="8" name="Shape 5"/>
          <p:cNvSpPr/>
          <p:nvPr/>
        </p:nvSpPr>
        <p:spPr>
          <a:xfrm>
            <a:off x="1600200" y="1325880"/>
            <a:ext cx="4800600" cy="4343400"/>
          </a:xfrm>
          <a:prstGeom prst="roundRect">
            <a:avLst>
              <a:gd name="adj" fmla="val 1684"/>
            </a:avLst>
          </a:prstGeom>
          <a:solidFill>
            <a:srgbClr val="FFFFFF"/>
          </a:solidFill>
          <a:ln w="12700">
            <a:solidFill>
              <a:srgbClr val="BCD7EC"/>
            </a:solidFill>
            <a:prstDash val="solid"/>
          </a:ln>
        </p:spPr>
      </p:sp>
      <p:sp>
        <p:nvSpPr>
          <p:cNvPr id="9" name="Text 6"/>
          <p:cNvSpPr/>
          <p:nvPr/>
        </p:nvSpPr>
        <p:spPr>
          <a:xfrm>
            <a:off x="1874520" y="1554480"/>
            <a:ext cx="2560320" cy="320040"/>
          </a:xfrm>
          <a:prstGeom prst="rect">
            <a:avLst/>
          </a:prstGeom>
          <a:noFill/>
          <a:ln/>
        </p:spPr>
        <p:txBody>
          <a:bodyPr wrap="square" lIns="508" tIns="508" rIns="508" bIns="508" rtlCol="0" anchor="ctr">
            <a:normAutofit/>
          </a:bodyPr>
          <a:lstStyle/>
          <a:p>
            <a:pPr algn="l" indent="0" marL="0">
              <a:buNone/>
            </a:pPr>
            <a:r>
              <a:rPr lang="en-US" sz="1800" b="1" dirty="0">
                <a:solidFill>
                  <a:srgbClr val="0B1F5B"/>
                </a:solidFill>
                <a:latin typeface="Georgia" pitchFamily="34" charset="0"/>
                <a:ea typeface="Georgia" pitchFamily="34" charset="-122"/>
                <a:cs typeface="Georgia" pitchFamily="34" charset="-120"/>
              </a:rPr>
              <a:t>NOAA flare classes</a:t>
            </a:r>
            <a:endParaRPr lang="en-US" sz="1800" dirty="0"/>
          </a:p>
        </p:txBody>
      </p:sp>
      <p:sp>
        <p:nvSpPr>
          <p:cNvPr id="10" name="Text 7"/>
          <p:cNvSpPr/>
          <p:nvPr/>
        </p:nvSpPr>
        <p:spPr>
          <a:xfrm>
            <a:off x="1874520" y="1883664"/>
            <a:ext cx="3886200" cy="256032"/>
          </a:xfrm>
          <a:prstGeom prst="rect">
            <a:avLst/>
          </a:prstGeom>
          <a:noFill/>
          <a:ln/>
        </p:spPr>
        <p:txBody>
          <a:bodyPr wrap="square" lIns="508" tIns="508" rIns="508" bIns="508" rtlCol="0" anchor="ctr">
            <a:normAutofit/>
          </a:bodyPr>
          <a:lstStyle/>
          <a:p>
            <a:pPr algn="l" indent="0" marL="0">
              <a:buNone/>
            </a:pPr>
            <a:r>
              <a:rPr lang="en-US" sz="1100" dirty="0">
                <a:solidFill>
                  <a:srgbClr val="637B93"/>
                </a:solidFill>
                <a:latin typeface="Aptos" pitchFamily="34" charset="0"/>
                <a:ea typeface="Aptos" pitchFamily="34" charset="-122"/>
                <a:cs typeface="Aptos" pitchFamily="34" charset="-120"/>
              </a:rPr>
              <a:t>Defined using peak 0.1–0.8 nm X-ray flux</a:t>
            </a:r>
            <a:endParaRPr lang="en-US" sz="1100" dirty="0"/>
          </a:p>
        </p:txBody>
      </p:sp>
      <p:sp>
        <p:nvSpPr>
          <p:cNvPr id="11" name="Shape 8"/>
          <p:cNvSpPr/>
          <p:nvPr/>
        </p:nvSpPr>
        <p:spPr>
          <a:xfrm>
            <a:off x="1883664" y="2414016"/>
            <a:ext cx="347472" cy="347472"/>
          </a:xfrm>
          <a:prstGeom prst="ellipse">
            <a:avLst/>
          </a:prstGeom>
          <a:solidFill>
            <a:srgbClr val="1C67B5"/>
          </a:solidFill>
          <a:ln w="12700">
            <a:solidFill>
              <a:srgbClr val="1C67B5"/>
            </a:solidFill>
            <a:prstDash val="solid"/>
          </a:ln>
        </p:spPr>
      </p:sp>
      <p:sp>
        <p:nvSpPr>
          <p:cNvPr id="12" name="Text 9"/>
          <p:cNvSpPr/>
          <p:nvPr/>
        </p:nvSpPr>
        <p:spPr>
          <a:xfrm>
            <a:off x="1883664" y="2468880"/>
            <a:ext cx="347472" cy="164592"/>
          </a:xfrm>
          <a:prstGeom prst="rect">
            <a:avLst/>
          </a:prstGeom>
          <a:noFill/>
          <a:ln/>
        </p:spPr>
        <p:txBody>
          <a:bodyPr wrap="square" lIns="508" tIns="508" rIns="508" bIns="508"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B</a:t>
            </a:r>
            <a:endParaRPr lang="en-US" sz="1400" dirty="0"/>
          </a:p>
        </p:txBody>
      </p:sp>
      <p:sp>
        <p:nvSpPr>
          <p:cNvPr id="13" name="Text 10"/>
          <p:cNvSpPr/>
          <p:nvPr/>
        </p:nvSpPr>
        <p:spPr>
          <a:xfrm>
            <a:off x="2395728" y="2395728"/>
            <a:ext cx="1389888" cy="201168"/>
          </a:xfrm>
          <a:prstGeom prst="rect">
            <a:avLst/>
          </a:prstGeom>
          <a:noFill/>
          <a:ln/>
        </p:spPr>
        <p:txBody>
          <a:bodyPr wrap="square" lIns="508" tIns="508" rIns="508" bIns="508" rtlCol="0" anchor="ctr">
            <a:normAutofit/>
          </a:bodyPr>
          <a:lstStyle/>
          <a:p>
            <a:pPr algn="l" indent="0" marL="0">
              <a:buNone/>
            </a:pPr>
            <a:r>
              <a:rPr lang="en-US" sz="1250" b="1" dirty="0">
                <a:solidFill>
                  <a:srgbClr val="0B1F5B"/>
                </a:solidFill>
                <a:latin typeface="Aptos" pitchFamily="34" charset="0"/>
                <a:ea typeface="Aptos" pitchFamily="34" charset="-122"/>
                <a:cs typeface="Aptos" pitchFamily="34" charset="-120"/>
              </a:rPr>
              <a:t>10⁻⁷ W m⁻²</a:t>
            </a:r>
            <a:endParaRPr lang="en-US" sz="1250" dirty="0"/>
          </a:p>
        </p:txBody>
      </p:sp>
      <p:sp>
        <p:nvSpPr>
          <p:cNvPr id="14" name="Text 11"/>
          <p:cNvSpPr/>
          <p:nvPr/>
        </p:nvSpPr>
        <p:spPr>
          <a:xfrm>
            <a:off x="3877056" y="2395728"/>
            <a:ext cx="1508760" cy="201168"/>
          </a:xfrm>
          <a:prstGeom prst="rect">
            <a:avLst/>
          </a:prstGeom>
          <a:noFill/>
          <a:ln/>
        </p:spPr>
        <p:txBody>
          <a:bodyPr wrap="square" lIns="508" tIns="508" rIns="508" bIns="508" rtlCol="0" anchor="ctr">
            <a:normAutofit/>
          </a:bodyPr>
          <a:lstStyle/>
          <a:p>
            <a:pPr algn="l" indent="0" marL="0">
              <a:buNone/>
            </a:pPr>
            <a:r>
              <a:rPr lang="en-US" sz="1100" dirty="0">
                <a:solidFill>
                  <a:srgbClr val="637B93"/>
                </a:solidFill>
                <a:latin typeface="Aptos" pitchFamily="34" charset="0"/>
                <a:ea typeface="Aptos" pitchFamily="34" charset="-122"/>
                <a:cs typeface="Aptos" pitchFamily="34" charset="-120"/>
              </a:rPr>
              <a:t>minor / weak</a:t>
            </a:r>
            <a:endParaRPr lang="en-US" sz="1100" dirty="0"/>
          </a:p>
        </p:txBody>
      </p:sp>
      <p:sp>
        <p:nvSpPr>
          <p:cNvPr id="15" name="Shape 12"/>
          <p:cNvSpPr/>
          <p:nvPr/>
        </p:nvSpPr>
        <p:spPr>
          <a:xfrm>
            <a:off x="1883664" y="3090672"/>
            <a:ext cx="347472" cy="347472"/>
          </a:xfrm>
          <a:prstGeom prst="ellipse">
            <a:avLst/>
          </a:prstGeom>
          <a:solidFill>
            <a:srgbClr val="43A047"/>
          </a:solidFill>
          <a:ln w="12700">
            <a:solidFill>
              <a:srgbClr val="43A047"/>
            </a:solidFill>
            <a:prstDash val="solid"/>
          </a:ln>
        </p:spPr>
      </p:sp>
      <p:sp>
        <p:nvSpPr>
          <p:cNvPr id="16" name="Text 13"/>
          <p:cNvSpPr/>
          <p:nvPr/>
        </p:nvSpPr>
        <p:spPr>
          <a:xfrm>
            <a:off x="1883664" y="3145536"/>
            <a:ext cx="347472" cy="164592"/>
          </a:xfrm>
          <a:prstGeom prst="rect">
            <a:avLst/>
          </a:prstGeom>
          <a:noFill/>
          <a:ln/>
        </p:spPr>
        <p:txBody>
          <a:bodyPr wrap="square" lIns="508" tIns="508" rIns="508" bIns="508"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C</a:t>
            </a:r>
            <a:endParaRPr lang="en-US" sz="1400" dirty="0"/>
          </a:p>
        </p:txBody>
      </p:sp>
      <p:sp>
        <p:nvSpPr>
          <p:cNvPr id="17" name="Text 14"/>
          <p:cNvSpPr/>
          <p:nvPr/>
        </p:nvSpPr>
        <p:spPr>
          <a:xfrm>
            <a:off x="2395728" y="3072384"/>
            <a:ext cx="1389888" cy="201168"/>
          </a:xfrm>
          <a:prstGeom prst="rect">
            <a:avLst/>
          </a:prstGeom>
          <a:noFill/>
          <a:ln/>
        </p:spPr>
        <p:txBody>
          <a:bodyPr wrap="square" lIns="508" tIns="508" rIns="508" bIns="508" rtlCol="0" anchor="ctr">
            <a:normAutofit/>
          </a:bodyPr>
          <a:lstStyle/>
          <a:p>
            <a:pPr algn="l" indent="0" marL="0">
              <a:buNone/>
            </a:pPr>
            <a:r>
              <a:rPr lang="en-US" sz="1250" b="1" dirty="0">
                <a:solidFill>
                  <a:srgbClr val="0B1F5B"/>
                </a:solidFill>
                <a:latin typeface="Aptos" pitchFamily="34" charset="0"/>
                <a:ea typeface="Aptos" pitchFamily="34" charset="-122"/>
                <a:cs typeface="Aptos" pitchFamily="34" charset="-120"/>
              </a:rPr>
              <a:t>10⁻⁶ W m⁻²</a:t>
            </a:r>
            <a:endParaRPr lang="en-US" sz="1250" dirty="0"/>
          </a:p>
        </p:txBody>
      </p:sp>
      <p:sp>
        <p:nvSpPr>
          <p:cNvPr id="18" name="Text 15"/>
          <p:cNvSpPr/>
          <p:nvPr/>
        </p:nvSpPr>
        <p:spPr>
          <a:xfrm>
            <a:off x="3877056" y="3072384"/>
            <a:ext cx="1508760" cy="201168"/>
          </a:xfrm>
          <a:prstGeom prst="rect">
            <a:avLst/>
          </a:prstGeom>
          <a:noFill/>
          <a:ln/>
        </p:spPr>
        <p:txBody>
          <a:bodyPr wrap="square" lIns="508" tIns="508" rIns="508" bIns="508" rtlCol="0" anchor="ctr">
            <a:normAutofit/>
          </a:bodyPr>
          <a:lstStyle/>
          <a:p>
            <a:pPr algn="l" indent="0" marL="0">
              <a:buNone/>
            </a:pPr>
            <a:r>
              <a:rPr lang="en-US" sz="1100" dirty="0">
                <a:solidFill>
                  <a:srgbClr val="637B93"/>
                </a:solidFill>
                <a:latin typeface="Aptos" pitchFamily="34" charset="0"/>
                <a:ea typeface="Aptos" pitchFamily="34" charset="-122"/>
                <a:cs typeface="Aptos" pitchFamily="34" charset="-120"/>
              </a:rPr>
              <a:t>small</a:t>
            </a:r>
            <a:endParaRPr lang="en-US" sz="1100" dirty="0"/>
          </a:p>
        </p:txBody>
      </p:sp>
      <p:sp>
        <p:nvSpPr>
          <p:cNvPr id="19" name="Shape 16"/>
          <p:cNvSpPr/>
          <p:nvPr/>
        </p:nvSpPr>
        <p:spPr>
          <a:xfrm>
            <a:off x="1883664" y="3767328"/>
            <a:ext cx="347472" cy="347472"/>
          </a:xfrm>
          <a:prstGeom prst="ellipse">
            <a:avLst/>
          </a:prstGeom>
          <a:solidFill>
            <a:srgbClr val="E9A21B"/>
          </a:solidFill>
          <a:ln w="12700">
            <a:solidFill>
              <a:srgbClr val="E9A21B"/>
            </a:solidFill>
            <a:prstDash val="solid"/>
          </a:ln>
        </p:spPr>
      </p:sp>
      <p:sp>
        <p:nvSpPr>
          <p:cNvPr id="20" name="Text 17"/>
          <p:cNvSpPr/>
          <p:nvPr/>
        </p:nvSpPr>
        <p:spPr>
          <a:xfrm>
            <a:off x="1883664" y="3822192"/>
            <a:ext cx="347472" cy="164592"/>
          </a:xfrm>
          <a:prstGeom prst="rect">
            <a:avLst/>
          </a:prstGeom>
          <a:noFill/>
          <a:ln/>
        </p:spPr>
        <p:txBody>
          <a:bodyPr wrap="square" lIns="508" tIns="508" rIns="508" bIns="508"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M</a:t>
            </a:r>
            <a:endParaRPr lang="en-US" sz="1400" dirty="0"/>
          </a:p>
        </p:txBody>
      </p:sp>
      <p:sp>
        <p:nvSpPr>
          <p:cNvPr id="21" name="Text 18"/>
          <p:cNvSpPr/>
          <p:nvPr/>
        </p:nvSpPr>
        <p:spPr>
          <a:xfrm>
            <a:off x="2395728" y="3749040"/>
            <a:ext cx="1389888" cy="201168"/>
          </a:xfrm>
          <a:prstGeom prst="rect">
            <a:avLst/>
          </a:prstGeom>
          <a:noFill/>
          <a:ln/>
        </p:spPr>
        <p:txBody>
          <a:bodyPr wrap="square" lIns="508" tIns="508" rIns="508" bIns="508" rtlCol="0" anchor="ctr">
            <a:normAutofit/>
          </a:bodyPr>
          <a:lstStyle/>
          <a:p>
            <a:pPr algn="l" indent="0" marL="0">
              <a:buNone/>
            </a:pPr>
            <a:r>
              <a:rPr lang="en-US" sz="1250" b="1" dirty="0">
                <a:solidFill>
                  <a:srgbClr val="0B1F5B"/>
                </a:solidFill>
                <a:latin typeface="Aptos" pitchFamily="34" charset="0"/>
                <a:ea typeface="Aptos" pitchFamily="34" charset="-122"/>
                <a:cs typeface="Aptos" pitchFamily="34" charset="-120"/>
              </a:rPr>
              <a:t>10⁻⁵ W m⁻²</a:t>
            </a:r>
            <a:endParaRPr lang="en-US" sz="1250" dirty="0"/>
          </a:p>
        </p:txBody>
      </p:sp>
      <p:sp>
        <p:nvSpPr>
          <p:cNvPr id="22" name="Text 19"/>
          <p:cNvSpPr/>
          <p:nvPr/>
        </p:nvSpPr>
        <p:spPr>
          <a:xfrm>
            <a:off x="3877056" y="3749040"/>
            <a:ext cx="1508760" cy="201168"/>
          </a:xfrm>
          <a:prstGeom prst="rect">
            <a:avLst/>
          </a:prstGeom>
          <a:noFill/>
          <a:ln/>
        </p:spPr>
        <p:txBody>
          <a:bodyPr wrap="square" lIns="508" tIns="508" rIns="508" bIns="508" rtlCol="0" anchor="ctr">
            <a:normAutofit/>
          </a:bodyPr>
          <a:lstStyle/>
          <a:p>
            <a:pPr algn="l" indent="0" marL="0">
              <a:buNone/>
            </a:pPr>
            <a:r>
              <a:rPr lang="en-US" sz="1100" dirty="0">
                <a:solidFill>
                  <a:srgbClr val="637B93"/>
                </a:solidFill>
                <a:latin typeface="Aptos" pitchFamily="34" charset="0"/>
                <a:ea typeface="Aptos" pitchFamily="34" charset="-122"/>
                <a:cs typeface="Aptos" pitchFamily="34" charset="-120"/>
              </a:rPr>
              <a:t>moderate / strong</a:t>
            </a:r>
            <a:endParaRPr lang="en-US" sz="1100" dirty="0"/>
          </a:p>
        </p:txBody>
      </p:sp>
      <p:sp>
        <p:nvSpPr>
          <p:cNvPr id="23" name="Shape 20"/>
          <p:cNvSpPr/>
          <p:nvPr/>
        </p:nvSpPr>
        <p:spPr>
          <a:xfrm>
            <a:off x="1883664" y="4443984"/>
            <a:ext cx="347472" cy="347472"/>
          </a:xfrm>
          <a:prstGeom prst="ellipse">
            <a:avLst/>
          </a:prstGeom>
          <a:solidFill>
            <a:srgbClr val="C73B3B"/>
          </a:solidFill>
          <a:ln w="12700">
            <a:solidFill>
              <a:srgbClr val="C73B3B"/>
            </a:solidFill>
            <a:prstDash val="solid"/>
          </a:ln>
        </p:spPr>
      </p:sp>
      <p:sp>
        <p:nvSpPr>
          <p:cNvPr id="24" name="Text 21"/>
          <p:cNvSpPr/>
          <p:nvPr/>
        </p:nvSpPr>
        <p:spPr>
          <a:xfrm>
            <a:off x="1883664" y="4498848"/>
            <a:ext cx="347472" cy="164592"/>
          </a:xfrm>
          <a:prstGeom prst="rect">
            <a:avLst/>
          </a:prstGeom>
          <a:noFill/>
          <a:ln/>
        </p:spPr>
        <p:txBody>
          <a:bodyPr wrap="square" lIns="508" tIns="508" rIns="508" bIns="508"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X</a:t>
            </a:r>
            <a:endParaRPr lang="en-US" sz="1400" dirty="0"/>
          </a:p>
        </p:txBody>
      </p:sp>
      <p:sp>
        <p:nvSpPr>
          <p:cNvPr id="25" name="Text 22"/>
          <p:cNvSpPr/>
          <p:nvPr/>
        </p:nvSpPr>
        <p:spPr>
          <a:xfrm>
            <a:off x="2395728" y="4425696"/>
            <a:ext cx="1389888" cy="201168"/>
          </a:xfrm>
          <a:prstGeom prst="rect">
            <a:avLst/>
          </a:prstGeom>
          <a:noFill/>
          <a:ln/>
        </p:spPr>
        <p:txBody>
          <a:bodyPr wrap="square" lIns="508" tIns="508" rIns="508" bIns="508" rtlCol="0" anchor="ctr">
            <a:normAutofit/>
          </a:bodyPr>
          <a:lstStyle/>
          <a:p>
            <a:pPr algn="l" indent="0" marL="0">
              <a:buNone/>
            </a:pPr>
            <a:r>
              <a:rPr lang="en-US" sz="1250" b="1" dirty="0">
                <a:solidFill>
                  <a:srgbClr val="0B1F5B"/>
                </a:solidFill>
                <a:latin typeface="Aptos" pitchFamily="34" charset="0"/>
                <a:ea typeface="Aptos" pitchFamily="34" charset="-122"/>
                <a:cs typeface="Aptos" pitchFamily="34" charset="-120"/>
              </a:rPr>
              <a:t>10⁻⁴ W m⁻²</a:t>
            </a:r>
            <a:endParaRPr lang="en-US" sz="1250" dirty="0"/>
          </a:p>
        </p:txBody>
      </p:sp>
      <p:sp>
        <p:nvSpPr>
          <p:cNvPr id="26" name="Text 23"/>
          <p:cNvSpPr/>
          <p:nvPr/>
        </p:nvSpPr>
        <p:spPr>
          <a:xfrm>
            <a:off x="3877056" y="4425696"/>
            <a:ext cx="1508760" cy="201168"/>
          </a:xfrm>
          <a:prstGeom prst="rect">
            <a:avLst/>
          </a:prstGeom>
          <a:noFill/>
          <a:ln/>
        </p:spPr>
        <p:txBody>
          <a:bodyPr wrap="square" lIns="508" tIns="508" rIns="508" bIns="508" rtlCol="0" anchor="ctr">
            <a:normAutofit/>
          </a:bodyPr>
          <a:lstStyle/>
          <a:p>
            <a:pPr algn="l" indent="0" marL="0">
              <a:buNone/>
            </a:pPr>
            <a:r>
              <a:rPr lang="en-US" sz="1100" dirty="0">
                <a:solidFill>
                  <a:srgbClr val="637B93"/>
                </a:solidFill>
                <a:latin typeface="Aptos" pitchFamily="34" charset="0"/>
                <a:ea typeface="Aptos" pitchFamily="34" charset="-122"/>
                <a:cs typeface="Aptos" pitchFamily="34" charset="-120"/>
              </a:rPr>
              <a:t>extreme</a:t>
            </a:r>
            <a:endParaRPr lang="en-US" sz="1100" dirty="0"/>
          </a:p>
        </p:txBody>
      </p:sp>
      <p:sp>
        <p:nvSpPr>
          <p:cNvPr id="27" name="Shape 24"/>
          <p:cNvSpPr/>
          <p:nvPr/>
        </p:nvSpPr>
        <p:spPr>
          <a:xfrm>
            <a:off x="1874520" y="5166360"/>
            <a:ext cx="4160520" cy="420624"/>
          </a:xfrm>
          <a:prstGeom prst="roundRect">
            <a:avLst>
              <a:gd name="adj" fmla="val 17391"/>
            </a:avLst>
          </a:prstGeom>
          <a:solidFill>
            <a:srgbClr val="FFF4F4"/>
          </a:solidFill>
          <a:ln w="12700">
            <a:solidFill>
              <a:srgbClr val="C73B3B"/>
            </a:solidFill>
            <a:prstDash val="solid"/>
          </a:ln>
        </p:spPr>
      </p:sp>
      <p:sp>
        <p:nvSpPr>
          <p:cNvPr id="28" name="Text 25"/>
          <p:cNvSpPr/>
          <p:nvPr/>
        </p:nvSpPr>
        <p:spPr>
          <a:xfrm>
            <a:off x="1984248" y="5239512"/>
            <a:ext cx="3941064" cy="274320"/>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Peak flux defines the label → it must not become a primary predictor later.</a:t>
            </a:r>
            <a:endParaRPr lang="en-US" sz="1150" dirty="0"/>
          </a:p>
        </p:txBody>
      </p:sp>
      <p:sp>
        <p:nvSpPr>
          <p:cNvPr id="29" name="Shape 26"/>
          <p:cNvSpPr/>
          <p:nvPr/>
        </p:nvSpPr>
        <p:spPr>
          <a:xfrm>
            <a:off x="6720840" y="1325880"/>
            <a:ext cx="4480560" cy="4343400"/>
          </a:xfrm>
          <a:prstGeom prst="roundRect">
            <a:avLst>
              <a:gd name="adj" fmla="val 1684"/>
            </a:avLst>
          </a:prstGeom>
          <a:solidFill>
            <a:srgbClr val="EEF6FD"/>
          </a:solidFill>
          <a:ln w="12700">
            <a:solidFill>
              <a:srgbClr val="BCD7EC"/>
            </a:solidFill>
            <a:prstDash val="solid"/>
          </a:ln>
        </p:spPr>
      </p:sp>
      <p:sp>
        <p:nvSpPr>
          <p:cNvPr id="30" name="Text 27"/>
          <p:cNvSpPr/>
          <p:nvPr/>
        </p:nvSpPr>
        <p:spPr>
          <a:xfrm>
            <a:off x="7022592" y="1572768"/>
            <a:ext cx="3520440" cy="320040"/>
          </a:xfrm>
          <a:prstGeom prst="rect">
            <a:avLst/>
          </a:prstGeom>
          <a:noFill/>
          <a:ln/>
        </p:spPr>
        <p:txBody>
          <a:bodyPr wrap="square" lIns="508" tIns="508" rIns="508" bIns="508" rtlCol="0" anchor="ctr">
            <a:normAutofit/>
          </a:bodyPr>
          <a:lstStyle/>
          <a:p>
            <a:pPr algn="l" indent="0" marL="0">
              <a:buNone/>
            </a:pPr>
            <a:r>
              <a:rPr lang="en-US" sz="1800" b="1" dirty="0">
                <a:solidFill>
                  <a:srgbClr val="0B1F5B"/>
                </a:solidFill>
                <a:latin typeface="Georgia" pitchFamily="34" charset="0"/>
                <a:ea typeface="Georgia" pitchFamily="34" charset="-122"/>
                <a:cs typeface="Georgia" pitchFamily="34" charset="-120"/>
              </a:rPr>
              <a:t>Why this signal is useful</a:t>
            </a:r>
            <a:endParaRPr lang="en-US" sz="1800" dirty="0"/>
          </a:p>
        </p:txBody>
      </p:sp>
      <p:sp>
        <p:nvSpPr>
          <p:cNvPr id="31" name="Text 28"/>
          <p:cNvSpPr/>
          <p:nvPr/>
        </p:nvSpPr>
        <p:spPr>
          <a:xfrm>
            <a:off x="6995160" y="2084832"/>
            <a:ext cx="3703320" cy="2148840"/>
          </a:xfrm>
          <a:prstGeom prst="rect">
            <a:avLst/>
          </a:prstGeom>
          <a:noFill/>
          <a:ln/>
        </p:spPr>
        <p:txBody>
          <a:bodyPr wrap="square" lIns="508" tIns="508" rIns="508" bIns="508" rtlCol="0" anchor="ctr">
            <a:normAutofit/>
          </a:bodyPr>
          <a:lstStyle/>
          <a:p>
            <a:pPr marL="177800" indent="-177800">
              <a:buSzPct val="100000"/>
              <a:buChar char="•"/>
            </a:pPr>
            <a:r>
              <a:rPr lang="en-US" sz="1320" dirty="0">
                <a:solidFill>
                  <a:srgbClr val="18334F"/>
                </a:solidFill>
                <a:latin typeface="Aptos" pitchFamily="34" charset="0"/>
                <a:ea typeface="Aptos" pitchFamily="34" charset="-122"/>
                <a:cs typeface="Aptos" pitchFamily="34" charset="-120"/>
              </a:rPr>
              <a:t>GOES provides continuous, quantitative X-ray measurements.</a:t>
            </a:r>
            <a:endParaRPr lang="en-US" sz="1320" dirty="0"/>
          </a:p>
          <a:p>
            <a:pPr marL="177800" indent="-177800">
              <a:buSzPct val="100000"/>
              <a:buChar char="•"/>
            </a:pPr>
            <a:r>
              <a:rPr lang="en-US" sz="1320" dirty="0">
                <a:solidFill>
                  <a:srgbClr val="18334F"/>
                </a:solidFill>
                <a:latin typeface="Aptos" pitchFamily="34" charset="0"/>
                <a:ea typeface="Aptos" pitchFamily="34" charset="-122"/>
                <a:cs typeface="Aptos" pitchFamily="34" charset="-120"/>
              </a:rPr>
              <a:t>Flare activity appears as rapid increases above a changing background.</a:t>
            </a:r>
            <a:endParaRPr lang="en-US" sz="1320" dirty="0"/>
          </a:p>
          <a:p>
            <a:pPr marL="177800" indent="-177800">
              <a:buSzPct val="100000"/>
              <a:buChar char="•"/>
            </a:pPr>
            <a:r>
              <a:rPr lang="en-US" sz="1320" dirty="0">
                <a:solidFill>
                  <a:srgbClr val="18334F"/>
                </a:solidFill>
                <a:latin typeface="Aptos" pitchFamily="34" charset="0"/>
                <a:ea typeface="Aptos" pitchFamily="34" charset="-122"/>
                <a:cs typeface="Aptos" pitchFamily="34" charset="-120"/>
              </a:rPr>
              <a:t>Peak levels provide an official severity reference through NOAA classes.</a:t>
            </a:r>
            <a:endParaRPr lang="en-US" sz="1320" dirty="0"/>
          </a:p>
          <a:p>
            <a:pPr marL="177800" indent="-177800">
              <a:buSzPct val="100000"/>
              <a:buChar char="•"/>
            </a:pPr>
            <a:r>
              <a:rPr lang="en-US" sz="1320" dirty="0">
                <a:solidFill>
                  <a:srgbClr val="18334F"/>
                </a:solidFill>
                <a:latin typeface="Aptos" pitchFamily="34" charset="0"/>
                <a:ea typeface="Aptos" pitchFamily="34" charset="-122"/>
                <a:cs typeface="Aptos" pitchFamily="34" charset="-120"/>
              </a:rPr>
              <a:t>The same time series can support statistical detection before event-level classification.</a:t>
            </a:r>
            <a:endParaRPr lang="en-US" sz="1320" dirty="0"/>
          </a:p>
        </p:txBody>
      </p:sp>
      <p:sp>
        <p:nvSpPr>
          <p:cNvPr id="32" name="Shape 29"/>
          <p:cNvSpPr/>
          <p:nvPr/>
        </p:nvSpPr>
        <p:spPr>
          <a:xfrm>
            <a:off x="7040880" y="4526280"/>
            <a:ext cx="1188720" cy="658368"/>
          </a:xfrm>
          <a:prstGeom prst="roundRect">
            <a:avLst>
              <a:gd name="adj" fmla="val 11111"/>
            </a:avLst>
          </a:prstGeom>
          <a:solidFill>
            <a:srgbClr val="FFFFFF"/>
          </a:solidFill>
          <a:ln w="12700">
            <a:solidFill>
              <a:srgbClr val="D3E4F3"/>
            </a:solidFill>
            <a:prstDash val="solid"/>
          </a:ln>
        </p:spPr>
      </p:sp>
      <p:sp>
        <p:nvSpPr>
          <p:cNvPr id="33" name="Text 30"/>
          <p:cNvSpPr/>
          <p:nvPr/>
        </p:nvSpPr>
        <p:spPr>
          <a:xfrm>
            <a:off x="7086600" y="4590288"/>
            <a:ext cx="1097280" cy="256032"/>
          </a:xfrm>
          <a:prstGeom prst="rect">
            <a:avLst/>
          </a:prstGeom>
          <a:noFill/>
          <a:ln/>
        </p:spPr>
        <p:txBody>
          <a:bodyPr wrap="square" lIns="508" tIns="508" rIns="508" bIns="508" rtlCol="0" anchor="ctr">
            <a:normAutofit/>
          </a:bodyPr>
          <a:lstStyle/>
          <a:p>
            <a:pPr algn="ctr" indent="0" marL="0">
              <a:buNone/>
            </a:pPr>
            <a:r>
              <a:rPr lang="en-US" sz="1700" b="1" dirty="0">
                <a:solidFill>
                  <a:srgbClr val="1C67B5"/>
                </a:solidFill>
                <a:latin typeface="Aptos" pitchFamily="34" charset="0"/>
                <a:ea typeface="Aptos" pitchFamily="34" charset="-122"/>
                <a:cs typeface="Aptos" pitchFamily="34" charset="-120"/>
              </a:rPr>
              <a:t>B</a:t>
            </a:r>
            <a:endParaRPr lang="en-US" sz="1700" dirty="0"/>
          </a:p>
        </p:txBody>
      </p:sp>
      <p:sp>
        <p:nvSpPr>
          <p:cNvPr id="34" name="Text 31"/>
          <p:cNvSpPr/>
          <p:nvPr/>
        </p:nvSpPr>
        <p:spPr>
          <a:xfrm>
            <a:off x="7104888" y="4873752"/>
            <a:ext cx="106070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≥10⁻⁷</a:t>
            </a:r>
            <a:endParaRPr lang="en-US" sz="880" dirty="0"/>
          </a:p>
        </p:txBody>
      </p:sp>
      <p:sp>
        <p:nvSpPr>
          <p:cNvPr id="35" name="Shape 32"/>
          <p:cNvSpPr/>
          <p:nvPr/>
        </p:nvSpPr>
        <p:spPr>
          <a:xfrm>
            <a:off x="8366760" y="4526280"/>
            <a:ext cx="1188720" cy="658368"/>
          </a:xfrm>
          <a:prstGeom prst="roundRect">
            <a:avLst>
              <a:gd name="adj" fmla="val 11111"/>
            </a:avLst>
          </a:prstGeom>
          <a:solidFill>
            <a:srgbClr val="FFFFFF"/>
          </a:solidFill>
          <a:ln w="12700">
            <a:solidFill>
              <a:srgbClr val="D3E4F3"/>
            </a:solidFill>
            <a:prstDash val="solid"/>
          </a:ln>
        </p:spPr>
      </p:sp>
      <p:sp>
        <p:nvSpPr>
          <p:cNvPr id="36" name="Text 33"/>
          <p:cNvSpPr/>
          <p:nvPr/>
        </p:nvSpPr>
        <p:spPr>
          <a:xfrm>
            <a:off x="8412480" y="4590288"/>
            <a:ext cx="1097280" cy="256032"/>
          </a:xfrm>
          <a:prstGeom prst="rect">
            <a:avLst/>
          </a:prstGeom>
          <a:noFill/>
          <a:ln/>
        </p:spPr>
        <p:txBody>
          <a:bodyPr wrap="square" lIns="508" tIns="508" rIns="508" bIns="508" rtlCol="0" anchor="ctr">
            <a:normAutofit/>
          </a:bodyPr>
          <a:lstStyle/>
          <a:p>
            <a:pPr algn="ctr" indent="0" marL="0">
              <a:buNone/>
            </a:pPr>
            <a:r>
              <a:rPr lang="en-US" sz="1700" b="1" dirty="0">
                <a:solidFill>
                  <a:srgbClr val="43A047"/>
                </a:solidFill>
                <a:latin typeface="Aptos" pitchFamily="34" charset="0"/>
                <a:ea typeface="Aptos" pitchFamily="34" charset="-122"/>
                <a:cs typeface="Aptos" pitchFamily="34" charset="-120"/>
              </a:rPr>
              <a:t>C</a:t>
            </a:r>
            <a:endParaRPr lang="en-US" sz="1700" dirty="0"/>
          </a:p>
        </p:txBody>
      </p:sp>
      <p:sp>
        <p:nvSpPr>
          <p:cNvPr id="37" name="Text 34"/>
          <p:cNvSpPr/>
          <p:nvPr/>
        </p:nvSpPr>
        <p:spPr>
          <a:xfrm>
            <a:off x="8430768" y="4873752"/>
            <a:ext cx="106070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≥10⁻⁶</a:t>
            </a:r>
            <a:endParaRPr lang="en-US" sz="880" dirty="0"/>
          </a:p>
        </p:txBody>
      </p:sp>
      <p:sp>
        <p:nvSpPr>
          <p:cNvPr id="38" name="Shape 35"/>
          <p:cNvSpPr/>
          <p:nvPr/>
        </p:nvSpPr>
        <p:spPr>
          <a:xfrm>
            <a:off x="9692640" y="4526280"/>
            <a:ext cx="1188720" cy="658368"/>
          </a:xfrm>
          <a:prstGeom prst="roundRect">
            <a:avLst>
              <a:gd name="adj" fmla="val 11111"/>
            </a:avLst>
          </a:prstGeom>
          <a:solidFill>
            <a:srgbClr val="FFFFFF"/>
          </a:solidFill>
          <a:ln w="12700">
            <a:solidFill>
              <a:srgbClr val="D3E4F3"/>
            </a:solidFill>
            <a:prstDash val="solid"/>
          </a:ln>
        </p:spPr>
      </p:sp>
      <p:sp>
        <p:nvSpPr>
          <p:cNvPr id="39" name="Text 36"/>
          <p:cNvSpPr/>
          <p:nvPr/>
        </p:nvSpPr>
        <p:spPr>
          <a:xfrm>
            <a:off x="9738360" y="4590288"/>
            <a:ext cx="1097280" cy="256032"/>
          </a:xfrm>
          <a:prstGeom prst="rect">
            <a:avLst/>
          </a:prstGeom>
          <a:noFill/>
          <a:ln/>
        </p:spPr>
        <p:txBody>
          <a:bodyPr wrap="square" lIns="508" tIns="508" rIns="508" bIns="508" rtlCol="0" anchor="ctr">
            <a:normAutofit/>
          </a:bodyPr>
          <a:lstStyle/>
          <a:p>
            <a:pPr algn="ctr" indent="0" marL="0">
              <a:buNone/>
            </a:pPr>
            <a:r>
              <a:rPr lang="en-US" sz="1700" b="1" dirty="0">
                <a:solidFill>
                  <a:srgbClr val="E86F1C"/>
                </a:solidFill>
                <a:latin typeface="Aptos" pitchFamily="34" charset="0"/>
                <a:ea typeface="Aptos" pitchFamily="34" charset="-122"/>
                <a:cs typeface="Aptos" pitchFamily="34" charset="-120"/>
              </a:rPr>
              <a:t>M/X</a:t>
            </a:r>
            <a:endParaRPr lang="en-US" sz="1700" dirty="0"/>
          </a:p>
        </p:txBody>
      </p:sp>
      <p:sp>
        <p:nvSpPr>
          <p:cNvPr id="40" name="Text 37"/>
          <p:cNvSpPr/>
          <p:nvPr/>
        </p:nvSpPr>
        <p:spPr>
          <a:xfrm>
            <a:off x="9756648" y="4873752"/>
            <a:ext cx="106070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≥10⁻⁵</a:t>
            </a:r>
            <a:endParaRPr lang="en-US" sz="880" dirty="0"/>
          </a:p>
        </p:txBody>
      </p:sp>
      <p:sp>
        <p:nvSpPr>
          <p:cNvPr id="41" name="Shape 38"/>
          <p:cNvSpPr/>
          <p:nvPr/>
        </p:nvSpPr>
        <p:spPr>
          <a:xfrm>
            <a:off x="6995160" y="5266944"/>
            <a:ext cx="3749040" cy="402336"/>
          </a:xfrm>
          <a:prstGeom prst="roundRect">
            <a:avLst>
              <a:gd name="adj" fmla="val 18182"/>
            </a:avLst>
          </a:prstGeom>
          <a:solidFill>
            <a:srgbClr val="FFF8E6"/>
          </a:solidFill>
          <a:ln w="12700">
            <a:solidFill>
              <a:srgbClr val="E9A21B"/>
            </a:solidFill>
            <a:prstDash val="solid"/>
          </a:ln>
        </p:spPr>
      </p:sp>
      <p:sp>
        <p:nvSpPr>
          <p:cNvPr id="42" name="Text 39"/>
          <p:cNvSpPr/>
          <p:nvPr/>
        </p:nvSpPr>
        <p:spPr>
          <a:xfrm>
            <a:off x="7104888" y="5340096"/>
            <a:ext cx="3529584" cy="256032"/>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Our supervised task later collapses C and M into C+ because the sample is small.</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How Do We Observe Solar Activity?</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GOES soft X-ray observations</a:t>
            </a:r>
            <a:endParaRPr lang="en-US" sz="1450" dirty="0"/>
          </a:p>
        </p:txBody>
      </p:sp>
      <p:sp>
        <p:nvSpPr>
          <p:cNvPr id="8" name="Shape 5"/>
          <p:cNvSpPr/>
          <p:nvPr/>
        </p:nvSpPr>
        <p:spPr>
          <a:xfrm>
            <a:off x="1508760" y="1325880"/>
            <a:ext cx="3886200" cy="4434840"/>
          </a:xfrm>
          <a:prstGeom prst="roundRect">
            <a:avLst>
              <a:gd name="adj" fmla="val 1882"/>
            </a:avLst>
          </a:prstGeom>
          <a:solidFill>
            <a:srgbClr val="FFFFFF"/>
          </a:solidFill>
          <a:ln w="12700">
            <a:solidFill>
              <a:srgbClr val="BDD7EC"/>
            </a:solidFill>
            <a:prstDash val="solid"/>
          </a:ln>
        </p:spPr>
      </p:sp>
      <p:sp>
        <p:nvSpPr>
          <p:cNvPr id="9" name="Text 6"/>
          <p:cNvSpPr/>
          <p:nvPr/>
        </p:nvSpPr>
        <p:spPr>
          <a:xfrm>
            <a:off x="1847088" y="1591056"/>
            <a:ext cx="640080" cy="256032"/>
          </a:xfrm>
          <a:prstGeom prst="rect">
            <a:avLst/>
          </a:prstGeom>
          <a:noFill/>
          <a:ln/>
        </p:spPr>
        <p:txBody>
          <a:bodyPr wrap="square" lIns="508" tIns="508" rIns="508" bIns="508" rtlCol="0" anchor="ctr">
            <a:normAutofit/>
          </a:bodyPr>
          <a:lstStyle/>
          <a:p>
            <a:pPr algn="ctr" indent="0" marL="0">
              <a:buNone/>
            </a:pPr>
            <a:r>
              <a:rPr lang="en-US" sz="1400" b="1" dirty="0">
                <a:solidFill>
                  <a:srgbClr val="E9A21B"/>
                </a:solidFill>
                <a:latin typeface="Aptos" pitchFamily="34" charset="0"/>
                <a:ea typeface="Aptos" pitchFamily="34" charset="-122"/>
                <a:cs typeface="Aptos" pitchFamily="34" charset="-120"/>
              </a:rPr>
              <a:t>SUN</a:t>
            </a:r>
            <a:endParaRPr lang="en-US" sz="1400" dirty="0"/>
          </a:p>
        </p:txBody>
      </p:sp>
      <p:sp>
        <p:nvSpPr>
          <p:cNvPr id="10" name="Shape 7"/>
          <p:cNvSpPr/>
          <p:nvPr/>
        </p:nvSpPr>
        <p:spPr>
          <a:xfrm>
            <a:off x="1874520" y="1938528"/>
            <a:ext cx="658368" cy="658368"/>
          </a:xfrm>
          <a:prstGeom prst="ellipse">
            <a:avLst/>
          </a:prstGeom>
          <a:solidFill>
            <a:srgbClr val="FDBB32"/>
          </a:solidFill>
          <a:ln w="15240">
            <a:solidFill>
              <a:srgbClr val="E9A21B"/>
            </a:solidFill>
            <a:prstDash val="solid"/>
          </a:ln>
        </p:spPr>
      </p:sp>
      <p:sp>
        <p:nvSpPr>
          <p:cNvPr id="11" name="Shape 8"/>
          <p:cNvSpPr/>
          <p:nvPr/>
        </p:nvSpPr>
        <p:spPr>
          <a:xfrm>
            <a:off x="2697480" y="2139696"/>
            <a:ext cx="384048" cy="256032"/>
          </a:xfrm>
          <a:prstGeom prst="chevron">
            <a:avLst/>
          </a:prstGeom>
          <a:solidFill>
            <a:srgbClr val="E9A21B"/>
          </a:solidFill>
          <a:ln w="12700">
            <a:solidFill>
              <a:srgbClr val="E9A21B">
                <a:alpha val="0"/>
              </a:srgbClr>
            </a:solidFill>
            <a:prstDash val="solid"/>
          </a:ln>
        </p:spPr>
      </p:sp>
      <p:sp>
        <p:nvSpPr>
          <p:cNvPr id="12" name="Text 9"/>
          <p:cNvSpPr/>
          <p:nvPr/>
        </p:nvSpPr>
        <p:spPr>
          <a:xfrm>
            <a:off x="3154680" y="1965960"/>
            <a:ext cx="960120" cy="530352"/>
          </a:xfrm>
          <a:prstGeom prst="rect">
            <a:avLst/>
          </a:prstGeom>
          <a:noFill/>
          <a:ln/>
        </p:spPr>
        <p:txBody>
          <a:bodyPr wrap="square" lIns="508" tIns="508" rIns="508" bIns="508" rtlCol="0" anchor="ctr">
            <a:normAutofit/>
          </a:bodyPr>
          <a:lstStyle/>
          <a:p>
            <a:pPr algn="ctr" indent="0" marL="0">
              <a:buNone/>
            </a:pPr>
            <a:r>
              <a:rPr lang="en-US" sz="1100" b="1" dirty="0">
                <a:solidFill>
                  <a:srgbClr val="E9A21B"/>
                </a:solidFill>
                <a:latin typeface="Aptos" pitchFamily="34" charset="0"/>
                <a:ea typeface="Aptos" pitchFamily="34" charset="-122"/>
                <a:cs typeface="Aptos" pitchFamily="34" charset="-120"/>
              </a:rPr>
              <a:t>soft X-rays</a:t>
            </a:r>
            <a:endParaRPr lang="en-US" sz="1100" dirty="0"/>
          </a:p>
          <a:p>
            <a:pPr algn="ctr" indent="0" marL="0">
              <a:buNone/>
            </a:pPr>
            <a:r>
              <a:rPr lang="en-US" sz="1100" b="1" dirty="0">
                <a:solidFill>
                  <a:srgbClr val="E9A21B"/>
                </a:solidFill>
                <a:latin typeface="Aptos" pitchFamily="34" charset="0"/>
                <a:ea typeface="Aptos" pitchFamily="34" charset="-122"/>
                <a:cs typeface="Aptos" pitchFamily="34" charset="-120"/>
              </a:rPr>
              <a:t>0.1–0.8 nm</a:t>
            </a:r>
            <a:endParaRPr lang="en-US" sz="1100" dirty="0"/>
          </a:p>
        </p:txBody>
      </p:sp>
      <p:sp>
        <p:nvSpPr>
          <p:cNvPr id="13" name="Shape 10"/>
          <p:cNvSpPr/>
          <p:nvPr/>
        </p:nvSpPr>
        <p:spPr>
          <a:xfrm>
            <a:off x="4160520" y="2139696"/>
            <a:ext cx="384048" cy="256032"/>
          </a:xfrm>
          <a:prstGeom prst="chevron">
            <a:avLst/>
          </a:prstGeom>
          <a:solidFill>
            <a:srgbClr val="1C67B5"/>
          </a:solidFill>
          <a:ln w="12700">
            <a:solidFill>
              <a:srgbClr val="1C67B5">
                <a:alpha val="0"/>
              </a:srgbClr>
            </a:solidFill>
            <a:prstDash val="solid"/>
          </a:ln>
        </p:spPr>
      </p:sp>
      <p:pic>
        <p:nvPicPr>
          <p:cNvPr id="14" name="Image 1" descr="/mnt/data/ppt_assets/goes_crop.jpg">    </p:cNvPr>
          <p:cNvPicPr>
            <a:picLocks noChangeAspect="1"/>
          </p:cNvPicPr>
          <p:nvPr/>
        </p:nvPicPr>
        <p:blipFill>
          <a:blip r:embed="rId2"/>
          <a:stretch>
            <a:fillRect/>
          </a:stretch>
        </p:blipFill>
        <p:spPr>
          <a:xfrm>
            <a:off x="4526280" y="1982724"/>
            <a:ext cx="713232" cy="597408"/>
          </a:xfrm>
          <a:prstGeom prst="rect">
            <a:avLst/>
          </a:prstGeom>
        </p:spPr>
      </p:pic>
      <p:sp>
        <p:nvSpPr>
          <p:cNvPr id="15" name="Text 11"/>
          <p:cNvSpPr/>
          <p:nvPr/>
        </p:nvSpPr>
        <p:spPr>
          <a:xfrm>
            <a:off x="4370832" y="2779776"/>
            <a:ext cx="960120" cy="219456"/>
          </a:xfrm>
          <a:prstGeom prst="rect">
            <a:avLst/>
          </a:prstGeom>
          <a:noFill/>
          <a:ln/>
        </p:spPr>
        <p:txBody>
          <a:bodyPr wrap="square" lIns="508" tIns="508" rIns="508" bIns="508" rtlCol="0" anchor="ctr">
            <a:normAutofit/>
          </a:bodyPr>
          <a:lstStyle/>
          <a:p>
            <a:pPr algn="ctr" indent="0" marL="0">
              <a:buNone/>
            </a:pPr>
            <a:r>
              <a:rPr lang="en-US" sz="1100" b="1" dirty="0">
                <a:solidFill>
                  <a:srgbClr val="0B1F5B"/>
                </a:solidFill>
                <a:latin typeface="Aptos" pitchFamily="34" charset="0"/>
                <a:ea typeface="Aptos" pitchFamily="34" charset="-122"/>
                <a:cs typeface="Aptos" pitchFamily="34" charset="-120"/>
              </a:rPr>
              <a:t>GOES XRS</a:t>
            </a:r>
            <a:endParaRPr lang="en-US" sz="1100" dirty="0"/>
          </a:p>
        </p:txBody>
      </p:sp>
      <p:sp>
        <p:nvSpPr>
          <p:cNvPr id="16" name="Shape 12"/>
          <p:cNvSpPr/>
          <p:nvPr/>
        </p:nvSpPr>
        <p:spPr>
          <a:xfrm>
            <a:off x="1847088" y="3246120"/>
            <a:ext cx="3246120" cy="0"/>
          </a:xfrm>
          <a:prstGeom prst="line">
            <a:avLst/>
          </a:prstGeom>
          <a:noFill/>
          <a:ln w="10160">
            <a:solidFill>
              <a:srgbClr val="D8E6F2"/>
            </a:solidFill>
            <a:prstDash val="solid"/>
          </a:ln>
        </p:spPr>
      </p:sp>
      <p:sp>
        <p:nvSpPr>
          <p:cNvPr id="17" name="Text 13"/>
          <p:cNvSpPr/>
          <p:nvPr/>
        </p:nvSpPr>
        <p:spPr>
          <a:xfrm>
            <a:off x="1847088" y="3474720"/>
            <a:ext cx="1691640" cy="219456"/>
          </a:xfrm>
          <a:prstGeom prst="rect">
            <a:avLst/>
          </a:prstGeom>
          <a:noFill/>
          <a:ln/>
        </p:spPr>
        <p:txBody>
          <a:bodyPr wrap="square" lIns="508" tIns="508" rIns="508" bIns="508" rtlCol="0" anchor="ctr">
            <a:normAutofit/>
          </a:bodyPr>
          <a:lstStyle/>
          <a:p>
            <a:pPr algn="l" indent="0" marL="0">
              <a:buNone/>
            </a:pPr>
            <a:r>
              <a:rPr lang="en-US" sz="1000" dirty="0">
                <a:solidFill>
                  <a:srgbClr val="637B93"/>
                </a:solidFill>
                <a:latin typeface="Aptos" pitchFamily="34" charset="0"/>
                <a:ea typeface="Aptos" pitchFamily="34" charset="-122"/>
                <a:cs typeface="Aptos" pitchFamily="34" charset="-120"/>
              </a:rPr>
              <a:t>Main analysis channel</a:t>
            </a:r>
            <a:endParaRPr lang="en-US" sz="1000" dirty="0"/>
          </a:p>
        </p:txBody>
      </p:sp>
      <p:sp>
        <p:nvSpPr>
          <p:cNvPr id="18" name="Text 14"/>
          <p:cNvSpPr/>
          <p:nvPr/>
        </p:nvSpPr>
        <p:spPr>
          <a:xfrm>
            <a:off x="3730752" y="3465576"/>
            <a:ext cx="1097280" cy="219456"/>
          </a:xfrm>
          <a:prstGeom prst="rect">
            <a:avLst/>
          </a:prstGeom>
          <a:noFill/>
          <a:ln/>
        </p:spPr>
        <p:txBody>
          <a:bodyPr wrap="square" lIns="508" tIns="508" rIns="508" bIns="508" rtlCol="0" anchor="ctr">
            <a:normAutofit/>
          </a:bodyPr>
          <a:lstStyle/>
          <a:p>
            <a:pPr algn="l" indent="0" marL="0">
              <a:buNone/>
            </a:pPr>
            <a:r>
              <a:rPr lang="en-US" sz="1400" b="1" dirty="0">
                <a:solidFill>
                  <a:srgbClr val="1C67B5"/>
                </a:solidFill>
                <a:latin typeface="Aptos" pitchFamily="34" charset="0"/>
                <a:ea typeface="Aptos" pitchFamily="34" charset="-122"/>
                <a:cs typeface="Aptos" pitchFamily="34" charset="-120"/>
              </a:rPr>
              <a:t>XRS-B</a:t>
            </a:r>
            <a:endParaRPr lang="en-US" sz="1400" dirty="0"/>
          </a:p>
        </p:txBody>
      </p:sp>
      <p:sp>
        <p:nvSpPr>
          <p:cNvPr id="19" name="Text 15"/>
          <p:cNvSpPr/>
          <p:nvPr/>
        </p:nvSpPr>
        <p:spPr>
          <a:xfrm>
            <a:off x="1847088" y="3977640"/>
            <a:ext cx="1600200" cy="219456"/>
          </a:xfrm>
          <a:prstGeom prst="rect">
            <a:avLst/>
          </a:prstGeom>
          <a:noFill/>
          <a:ln/>
        </p:spPr>
        <p:txBody>
          <a:bodyPr wrap="square" lIns="508" tIns="508" rIns="508" bIns="508" rtlCol="0" anchor="ctr">
            <a:normAutofit/>
          </a:bodyPr>
          <a:lstStyle/>
          <a:p>
            <a:pPr algn="l" indent="0" marL="0">
              <a:buNone/>
            </a:pPr>
            <a:r>
              <a:rPr lang="en-US" sz="1000" dirty="0">
                <a:solidFill>
                  <a:srgbClr val="637B93"/>
                </a:solidFill>
                <a:latin typeface="Aptos" pitchFamily="34" charset="0"/>
                <a:ea typeface="Aptos" pitchFamily="34" charset="-122"/>
                <a:cs typeface="Aptos" pitchFamily="34" charset="-120"/>
              </a:rPr>
              <a:t>One observation</a:t>
            </a:r>
            <a:endParaRPr lang="en-US" sz="1000" dirty="0"/>
          </a:p>
        </p:txBody>
      </p:sp>
      <p:sp>
        <p:nvSpPr>
          <p:cNvPr id="20" name="Text 16"/>
          <p:cNvSpPr/>
          <p:nvPr/>
        </p:nvSpPr>
        <p:spPr>
          <a:xfrm>
            <a:off x="3355848" y="3977640"/>
            <a:ext cx="1508760" cy="219456"/>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one measured flux value</a:t>
            </a:r>
            <a:endParaRPr lang="en-US" sz="1150" dirty="0"/>
          </a:p>
        </p:txBody>
      </p:sp>
      <p:sp>
        <p:nvSpPr>
          <p:cNvPr id="21" name="Text 17"/>
          <p:cNvSpPr/>
          <p:nvPr/>
        </p:nvSpPr>
        <p:spPr>
          <a:xfrm>
            <a:off x="1847088" y="4434840"/>
            <a:ext cx="1600200" cy="219456"/>
          </a:xfrm>
          <a:prstGeom prst="rect">
            <a:avLst/>
          </a:prstGeom>
          <a:noFill/>
          <a:ln/>
        </p:spPr>
        <p:txBody>
          <a:bodyPr wrap="square" lIns="508" tIns="508" rIns="508" bIns="508" rtlCol="0" anchor="ctr">
            <a:normAutofit/>
          </a:bodyPr>
          <a:lstStyle/>
          <a:p>
            <a:pPr algn="l" indent="0" marL="0">
              <a:buNone/>
            </a:pPr>
            <a:r>
              <a:rPr lang="en-US" sz="1000" dirty="0">
                <a:solidFill>
                  <a:srgbClr val="637B93"/>
                </a:solidFill>
                <a:latin typeface="Aptos" pitchFamily="34" charset="0"/>
                <a:ea typeface="Aptos" pitchFamily="34" charset="-122"/>
                <a:cs typeface="Aptos" pitchFamily="34" charset="-120"/>
              </a:rPr>
              <a:t>Cadence</a:t>
            </a:r>
            <a:endParaRPr lang="en-US" sz="1000" dirty="0"/>
          </a:p>
        </p:txBody>
      </p:sp>
      <p:sp>
        <p:nvSpPr>
          <p:cNvPr id="22" name="Text 18"/>
          <p:cNvSpPr/>
          <p:nvPr/>
        </p:nvSpPr>
        <p:spPr>
          <a:xfrm>
            <a:off x="3355848" y="4434840"/>
            <a:ext cx="1508760" cy="219456"/>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 1 minute</a:t>
            </a:r>
            <a:endParaRPr lang="en-US" sz="1150" dirty="0"/>
          </a:p>
        </p:txBody>
      </p:sp>
      <p:sp>
        <p:nvSpPr>
          <p:cNvPr id="23" name="Text 19"/>
          <p:cNvSpPr/>
          <p:nvPr/>
        </p:nvSpPr>
        <p:spPr>
          <a:xfrm>
            <a:off x="1847088" y="4892040"/>
            <a:ext cx="1600200" cy="219456"/>
          </a:xfrm>
          <a:prstGeom prst="rect">
            <a:avLst/>
          </a:prstGeom>
          <a:noFill/>
          <a:ln/>
        </p:spPr>
        <p:txBody>
          <a:bodyPr wrap="square" lIns="508" tIns="508" rIns="508" bIns="508" rtlCol="0" anchor="ctr">
            <a:normAutofit/>
          </a:bodyPr>
          <a:lstStyle/>
          <a:p>
            <a:pPr algn="l" indent="0" marL="0">
              <a:buNone/>
            </a:pPr>
            <a:r>
              <a:rPr lang="en-US" sz="1000" dirty="0">
                <a:solidFill>
                  <a:srgbClr val="637B93"/>
                </a:solidFill>
                <a:latin typeface="Aptos" pitchFamily="34" charset="0"/>
                <a:ea typeface="Aptos" pitchFamily="34" charset="-122"/>
                <a:cs typeface="Aptos" pitchFamily="34" charset="-120"/>
              </a:rPr>
              <a:t>Reference</a:t>
            </a:r>
            <a:endParaRPr lang="en-US" sz="1000" dirty="0"/>
          </a:p>
        </p:txBody>
      </p:sp>
      <p:sp>
        <p:nvSpPr>
          <p:cNvPr id="24" name="Text 20"/>
          <p:cNvSpPr/>
          <p:nvPr/>
        </p:nvSpPr>
        <p:spPr>
          <a:xfrm>
            <a:off x="3355848" y="4892040"/>
            <a:ext cx="1508760" cy="219456"/>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NOAA flare records</a:t>
            </a:r>
            <a:endParaRPr lang="en-US" sz="1150" dirty="0"/>
          </a:p>
        </p:txBody>
      </p:sp>
      <p:sp>
        <p:nvSpPr>
          <p:cNvPr id="25" name="Shape 21"/>
          <p:cNvSpPr/>
          <p:nvPr/>
        </p:nvSpPr>
        <p:spPr>
          <a:xfrm>
            <a:off x="1856232" y="5321808"/>
            <a:ext cx="3063240" cy="347472"/>
          </a:xfrm>
          <a:prstGeom prst="roundRect">
            <a:avLst>
              <a:gd name="adj" fmla="val 21053"/>
            </a:avLst>
          </a:prstGeom>
          <a:solidFill>
            <a:srgbClr val="EEF6FD"/>
          </a:solidFill>
          <a:ln w="12700">
            <a:solidFill>
              <a:srgbClr val="1C67B5"/>
            </a:solidFill>
            <a:prstDash val="solid"/>
          </a:ln>
        </p:spPr>
      </p:sp>
      <p:sp>
        <p:nvSpPr>
          <p:cNvPr id="26" name="Text 22"/>
          <p:cNvSpPr/>
          <p:nvPr/>
        </p:nvSpPr>
        <p:spPr>
          <a:xfrm>
            <a:off x="1965960" y="5394960"/>
            <a:ext cx="2843784" cy="201168"/>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Flux = measured X-ray power per unit area</a:t>
            </a:r>
            <a:endParaRPr lang="en-US" sz="1150" dirty="0"/>
          </a:p>
        </p:txBody>
      </p:sp>
      <p:sp>
        <p:nvSpPr>
          <p:cNvPr id="27" name="Shape 23"/>
          <p:cNvSpPr/>
          <p:nvPr/>
        </p:nvSpPr>
        <p:spPr>
          <a:xfrm>
            <a:off x="5623560" y="1325880"/>
            <a:ext cx="5715000" cy="4434840"/>
          </a:xfrm>
          <a:prstGeom prst="roundRect">
            <a:avLst>
              <a:gd name="adj" fmla="val 1649"/>
            </a:avLst>
          </a:prstGeom>
          <a:solidFill>
            <a:srgbClr val="FFFFFF"/>
          </a:solidFill>
          <a:ln w="12700">
            <a:solidFill>
              <a:srgbClr val="BDD7EC"/>
            </a:solidFill>
            <a:prstDash val="solid"/>
          </a:ln>
        </p:spPr>
      </p:sp>
      <p:sp>
        <p:nvSpPr>
          <p:cNvPr id="28" name="Text 24"/>
          <p:cNvSpPr/>
          <p:nvPr/>
        </p:nvSpPr>
        <p:spPr>
          <a:xfrm>
            <a:off x="5925312" y="1554480"/>
            <a:ext cx="4526280"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Actual cleaned GOES XRS-B time series</a:t>
            </a:r>
            <a:endParaRPr lang="en-US" sz="1700" dirty="0"/>
          </a:p>
        </p:txBody>
      </p:sp>
      <p:pic>
        <p:nvPicPr>
          <p:cNvPr id="29" name="Image 2" descr="/mnt/data/ppt_assets/actual_timeseries.png">    </p:cNvPr>
          <p:cNvPicPr>
            <a:picLocks noChangeAspect="1"/>
          </p:cNvPicPr>
          <p:nvPr/>
        </p:nvPicPr>
        <p:blipFill>
          <a:blip r:embed="rId3"/>
          <a:stretch>
            <a:fillRect/>
          </a:stretch>
        </p:blipFill>
        <p:spPr>
          <a:xfrm>
            <a:off x="5852160" y="2616708"/>
            <a:ext cx="5230368" cy="1743456"/>
          </a:xfrm>
          <a:prstGeom prst="rect">
            <a:avLst/>
          </a:prstGeom>
        </p:spPr>
      </p:pic>
      <p:sp>
        <p:nvSpPr>
          <p:cNvPr id="30" name="Shape 25"/>
          <p:cNvSpPr/>
          <p:nvPr/>
        </p:nvSpPr>
        <p:spPr>
          <a:xfrm>
            <a:off x="5989320" y="5221224"/>
            <a:ext cx="4937760" cy="384048"/>
          </a:xfrm>
          <a:prstGeom prst="roundRect">
            <a:avLst>
              <a:gd name="adj" fmla="val 19048"/>
            </a:avLst>
          </a:prstGeom>
          <a:solidFill>
            <a:srgbClr val="F2FBFE"/>
          </a:solidFill>
          <a:ln w="12700">
            <a:solidFill>
              <a:srgbClr val="25A7D9"/>
            </a:solidFill>
            <a:prstDash val="solid"/>
          </a:ln>
        </p:spPr>
      </p:sp>
      <p:sp>
        <p:nvSpPr>
          <p:cNvPr id="31" name="Text 26"/>
          <p:cNvSpPr/>
          <p:nvPr/>
        </p:nvSpPr>
        <p:spPr>
          <a:xfrm>
            <a:off x="6099048" y="5294376"/>
            <a:ext cx="4718304" cy="23774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Each spike is an observation pattern to investigate — not automatically an official flare.</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sp>
        <p:nvSpPr>
          <p:cNvPr id="4" name="Text 2"/>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What Does the Time Series Actually Represent?</a:t>
            </a:r>
            <a:endParaRPr lang="en-US" sz="2500" dirty="0"/>
          </a:p>
        </p:txBody>
      </p:sp>
      <p:sp>
        <p:nvSpPr>
          <p:cNvPr id="5" name="Text 3"/>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From raw one-minute observations to an analysis-ready signal</a:t>
            </a:r>
            <a:endParaRPr lang="en-US" sz="1450" dirty="0"/>
          </a:p>
        </p:txBody>
      </p:sp>
      <p:sp>
        <p:nvSpPr>
          <p:cNvPr id="6" name="Shape 4"/>
          <p:cNvSpPr/>
          <p:nvPr/>
        </p:nvSpPr>
        <p:spPr>
          <a:xfrm>
            <a:off x="658368" y="1335024"/>
            <a:ext cx="3657600" cy="4526280"/>
          </a:xfrm>
          <a:prstGeom prst="roundRect">
            <a:avLst>
              <a:gd name="adj" fmla="val 2000"/>
            </a:avLst>
          </a:prstGeom>
          <a:solidFill>
            <a:srgbClr val="FFFFFF"/>
          </a:solidFill>
          <a:ln w="12700">
            <a:solidFill>
              <a:srgbClr val="BDD7EC"/>
            </a:solidFill>
            <a:prstDash val="solid"/>
          </a:ln>
        </p:spPr>
      </p:sp>
      <p:sp>
        <p:nvSpPr>
          <p:cNvPr id="7" name="Text 5"/>
          <p:cNvSpPr/>
          <p:nvPr/>
        </p:nvSpPr>
        <p:spPr>
          <a:xfrm>
            <a:off x="932688" y="1554480"/>
            <a:ext cx="2971800"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1. Time-ordered observations</a:t>
            </a:r>
            <a:endParaRPr lang="en-US" sz="1700" dirty="0"/>
          </a:p>
        </p:txBody>
      </p:sp>
      <p:sp>
        <p:nvSpPr>
          <p:cNvPr id="8" name="Text 6"/>
          <p:cNvSpPr/>
          <p:nvPr/>
        </p:nvSpPr>
        <p:spPr>
          <a:xfrm>
            <a:off x="1024128" y="2057400"/>
            <a:ext cx="685800" cy="182880"/>
          </a:xfrm>
          <a:prstGeom prst="rect">
            <a:avLst/>
          </a:prstGeom>
          <a:noFill/>
          <a:ln/>
        </p:spPr>
        <p:txBody>
          <a:bodyPr wrap="square" lIns="508" tIns="508" rIns="508" bIns="508" rtlCol="0" anchor="ctr">
            <a:normAutofit/>
          </a:bodyPr>
          <a:lstStyle/>
          <a:p>
            <a:pPr algn="l" indent="0" marL="0">
              <a:buNone/>
            </a:pPr>
            <a:r>
              <a:rPr lang="en-US" sz="1000" b="1" dirty="0">
                <a:solidFill>
                  <a:srgbClr val="637B93"/>
                </a:solidFill>
                <a:latin typeface="Aptos" pitchFamily="34" charset="0"/>
                <a:ea typeface="Aptos" pitchFamily="34" charset="-122"/>
                <a:cs typeface="Aptos" pitchFamily="34" charset="-120"/>
              </a:rPr>
              <a:t>time</a:t>
            </a:r>
            <a:endParaRPr lang="en-US" sz="1000" dirty="0"/>
          </a:p>
        </p:txBody>
      </p:sp>
      <p:sp>
        <p:nvSpPr>
          <p:cNvPr id="9" name="Text 7"/>
          <p:cNvSpPr/>
          <p:nvPr/>
        </p:nvSpPr>
        <p:spPr>
          <a:xfrm>
            <a:off x="2176272" y="2057400"/>
            <a:ext cx="685800" cy="182880"/>
          </a:xfrm>
          <a:prstGeom prst="rect">
            <a:avLst/>
          </a:prstGeom>
          <a:noFill/>
          <a:ln/>
        </p:spPr>
        <p:txBody>
          <a:bodyPr wrap="square" lIns="508" tIns="508" rIns="508" bIns="508" rtlCol="0" anchor="ctr">
            <a:normAutofit/>
          </a:bodyPr>
          <a:lstStyle/>
          <a:p>
            <a:pPr algn="l" indent="0" marL="0">
              <a:buNone/>
            </a:pPr>
            <a:r>
              <a:rPr lang="en-US" sz="1000" b="1" dirty="0">
                <a:solidFill>
                  <a:srgbClr val="637B93"/>
                </a:solidFill>
                <a:latin typeface="Aptos" pitchFamily="34" charset="0"/>
                <a:ea typeface="Aptos" pitchFamily="34" charset="-122"/>
                <a:cs typeface="Aptos" pitchFamily="34" charset="-120"/>
              </a:rPr>
              <a:t>flux</a:t>
            </a:r>
            <a:endParaRPr lang="en-US" sz="1000" dirty="0"/>
          </a:p>
        </p:txBody>
      </p:sp>
      <p:sp>
        <p:nvSpPr>
          <p:cNvPr id="10" name="Text 8"/>
          <p:cNvSpPr/>
          <p:nvPr/>
        </p:nvSpPr>
        <p:spPr>
          <a:xfrm>
            <a:off x="987552" y="2331720"/>
            <a:ext cx="1005840" cy="210312"/>
          </a:xfrm>
          <a:prstGeom prst="rect">
            <a:avLst/>
          </a:prstGeom>
          <a:noFill/>
          <a:ln/>
        </p:spPr>
        <p:txBody>
          <a:bodyPr wrap="square" lIns="508" tIns="508" rIns="508" bIns="508" rtlCol="0" anchor="ctr">
            <a:normAutofit/>
          </a:bodyPr>
          <a:lstStyle/>
          <a:p>
            <a:pPr algn="l" indent="0" marL="0">
              <a:buNone/>
            </a:pPr>
            <a:r>
              <a:rPr lang="en-US" sz="1300" dirty="0">
                <a:solidFill>
                  <a:srgbClr val="0B1F5B"/>
                </a:solidFill>
                <a:latin typeface="Aptos" pitchFamily="34" charset="0"/>
                <a:ea typeface="Aptos" pitchFamily="34" charset="-122"/>
                <a:cs typeface="Aptos" pitchFamily="34" charset="-120"/>
              </a:rPr>
              <a:t>13:22</a:t>
            </a:r>
            <a:endParaRPr lang="en-US" sz="1300" dirty="0"/>
          </a:p>
        </p:txBody>
      </p:sp>
      <p:sp>
        <p:nvSpPr>
          <p:cNvPr id="11" name="Text 9"/>
          <p:cNvSpPr/>
          <p:nvPr/>
        </p:nvSpPr>
        <p:spPr>
          <a:xfrm>
            <a:off x="2103120" y="2331720"/>
            <a:ext cx="1005840" cy="210312"/>
          </a:xfrm>
          <a:prstGeom prst="rect">
            <a:avLst/>
          </a:prstGeom>
          <a:noFill/>
          <a:ln/>
        </p:spPr>
        <p:txBody>
          <a:bodyPr wrap="square" lIns="508" tIns="508" rIns="508" bIns="508" rtlCol="0" anchor="ctr">
            <a:normAutofit/>
          </a:bodyPr>
          <a:lstStyle/>
          <a:p>
            <a:pPr algn="l" indent="0" marL="0">
              <a:buNone/>
            </a:pPr>
            <a:r>
              <a:rPr lang="en-US" sz="1300" dirty="0">
                <a:solidFill>
                  <a:srgbClr val="1C67B5"/>
                </a:solidFill>
                <a:latin typeface="Aptos" pitchFamily="34" charset="0"/>
                <a:ea typeface="Aptos" pitchFamily="34" charset="-122"/>
                <a:cs typeface="Aptos" pitchFamily="34" charset="-120"/>
              </a:rPr>
              <a:t>x₁</a:t>
            </a:r>
            <a:endParaRPr lang="en-US" sz="1300" dirty="0"/>
          </a:p>
        </p:txBody>
      </p:sp>
      <p:sp>
        <p:nvSpPr>
          <p:cNvPr id="12" name="Text 10"/>
          <p:cNvSpPr/>
          <p:nvPr/>
        </p:nvSpPr>
        <p:spPr>
          <a:xfrm>
            <a:off x="987552" y="2697480"/>
            <a:ext cx="1005840" cy="210312"/>
          </a:xfrm>
          <a:prstGeom prst="rect">
            <a:avLst/>
          </a:prstGeom>
          <a:noFill/>
          <a:ln/>
        </p:spPr>
        <p:txBody>
          <a:bodyPr wrap="square" lIns="508" tIns="508" rIns="508" bIns="508" rtlCol="0" anchor="ctr">
            <a:normAutofit/>
          </a:bodyPr>
          <a:lstStyle/>
          <a:p>
            <a:pPr algn="l" indent="0" marL="0">
              <a:buNone/>
            </a:pPr>
            <a:r>
              <a:rPr lang="en-US" sz="1300" dirty="0">
                <a:solidFill>
                  <a:srgbClr val="0B1F5B"/>
                </a:solidFill>
                <a:latin typeface="Aptos" pitchFamily="34" charset="0"/>
                <a:ea typeface="Aptos" pitchFamily="34" charset="-122"/>
                <a:cs typeface="Aptos" pitchFamily="34" charset="-120"/>
              </a:rPr>
              <a:t>13:23</a:t>
            </a:r>
            <a:endParaRPr lang="en-US" sz="1300" dirty="0"/>
          </a:p>
        </p:txBody>
      </p:sp>
      <p:sp>
        <p:nvSpPr>
          <p:cNvPr id="13" name="Text 11"/>
          <p:cNvSpPr/>
          <p:nvPr/>
        </p:nvSpPr>
        <p:spPr>
          <a:xfrm>
            <a:off x="2103120" y="2697480"/>
            <a:ext cx="1005840" cy="210312"/>
          </a:xfrm>
          <a:prstGeom prst="rect">
            <a:avLst/>
          </a:prstGeom>
          <a:noFill/>
          <a:ln/>
        </p:spPr>
        <p:txBody>
          <a:bodyPr wrap="square" lIns="508" tIns="508" rIns="508" bIns="508" rtlCol="0" anchor="ctr">
            <a:normAutofit/>
          </a:bodyPr>
          <a:lstStyle/>
          <a:p>
            <a:pPr algn="l" indent="0" marL="0">
              <a:buNone/>
            </a:pPr>
            <a:r>
              <a:rPr lang="en-US" sz="1300" dirty="0">
                <a:solidFill>
                  <a:srgbClr val="1C67B5"/>
                </a:solidFill>
                <a:latin typeface="Aptos" pitchFamily="34" charset="0"/>
                <a:ea typeface="Aptos" pitchFamily="34" charset="-122"/>
                <a:cs typeface="Aptos" pitchFamily="34" charset="-120"/>
              </a:rPr>
              <a:t>x₂</a:t>
            </a:r>
            <a:endParaRPr lang="en-US" sz="1300" dirty="0"/>
          </a:p>
        </p:txBody>
      </p:sp>
      <p:sp>
        <p:nvSpPr>
          <p:cNvPr id="14" name="Text 12"/>
          <p:cNvSpPr/>
          <p:nvPr/>
        </p:nvSpPr>
        <p:spPr>
          <a:xfrm>
            <a:off x="987552" y="3063240"/>
            <a:ext cx="1005840" cy="210312"/>
          </a:xfrm>
          <a:prstGeom prst="rect">
            <a:avLst/>
          </a:prstGeom>
          <a:noFill/>
          <a:ln/>
        </p:spPr>
        <p:txBody>
          <a:bodyPr wrap="square" lIns="508" tIns="508" rIns="508" bIns="508" rtlCol="0" anchor="ctr">
            <a:normAutofit/>
          </a:bodyPr>
          <a:lstStyle/>
          <a:p>
            <a:pPr algn="l" indent="0" marL="0">
              <a:buNone/>
            </a:pPr>
            <a:r>
              <a:rPr lang="en-US" sz="1300" dirty="0">
                <a:solidFill>
                  <a:srgbClr val="0B1F5B"/>
                </a:solidFill>
                <a:latin typeface="Aptos" pitchFamily="34" charset="0"/>
                <a:ea typeface="Aptos" pitchFamily="34" charset="-122"/>
                <a:cs typeface="Aptos" pitchFamily="34" charset="-120"/>
              </a:rPr>
              <a:t>13:24</a:t>
            </a:r>
            <a:endParaRPr lang="en-US" sz="1300" dirty="0"/>
          </a:p>
        </p:txBody>
      </p:sp>
      <p:sp>
        <p:nvSpPr>
          <p:cNvPr id="15" name="Text 13"/>
          <p:cNvSpPr/>
          <p:nvPr/>
        </p:nvSpPr>
        <p:spPr>
          <a:xfrm>
            <a:off x="2103120" y="3063240"/>
            <a:ext cx="1005840" cy="210312"/>
          </a:xfrm>
          <a:prstGeom prst="rect">
            <a:avLst/>
          </a:prstGeom>
          <a:noFill/>
          <a:ln/>
        </p:spPr>
        <p:txBody>
          <a:bodyPr wrap="square" lIns="508" tIns="508" rIns="508" bIns="508" rtlCol="0" anchor="ctr">
            <a:normAutofit/>
          </a:bodyPr>
          <a:lstStyle/>
          <a:p>
            <a:pPr algn="l" indent="0" marL="0">
              <a:buNone/>
            </a:pPr>
            <a:r>
              <a:rPr lang="en-US" sz="1300" dirty="0">
                <a:solidFill>
                  <a:srgbClr val="1C67B5"/>
                </a:solidFill>
                <a:latin typeface="Aptos" pitchFamily="34" charset="0"/>
                <a:ea typeface="Aptos" pitchFamily="34" charset="-122"/>
                <a:cs typeface="Aptos" pitchFamily="34" charset="-120"/>
              </a:rPr>
              <a:t>x₃</a:t>
            </a:r>
            <a:endParaRPr lang="en-US" sz="1300" dirty="0"/>
          </a:p>
        </p:txBody>
      </p:sp>
      <p:sp>
        <p:nvSpPr>
          <p:cNvPr id="16" name="Text 14"/>
          <p:cNvSpPr/>
          <p:nvPr/>
        </p:nvSpPr>
        <p:spPr>
          <a:xfrm>
            <a:off x="987552" y="3429000"/>
            <a:ext cx="1005840" cy="210312"/>
          </a:xfrm>
          <a:prstGeom prst="rect">
            <a:avLst/>
          </a:prstGeom>
          <a:noFill/>
          <a:ln/>
        </p:spPr>
        <p:txBody>
          <a:bodyPr wrap="square" lIns="508" tIns="508" rIns="508" bIns="508" rtlCol="0" anchor="ctr">
            <a:normAutofit/>
          </a:bodyPr>
          <a:lstStyle/>
          <a:p>
            <a:pPr algn="l" indent="0" marL="0">
              <a:buNone/>
            </a:pPr>
            <a:r>
              <a:rPr lang="en-US" sz="1300" dirty="0">
                <a:solidFill>
                  <a:srgbClr val="0B1F5B"/>
                </a:solidFill>
                <a:latin typeface="Aptos" pitchFamily="34" charset="0"/>
                <a:ea typeface="Aptos" pitchFamily="34" charset="-122"/>
                <a:cs typeface="Aptos" pitchFamily="34" charset="-120"/>
              </a:rPr>
              <a:t>…</a:t>
            </a:r>
            <a:endParaRPr lang="en-US" sz="1300" dirty="0"/>
          </a:p>
        </p:txBody>
      </p:sp>
      <p:sp>
        <p:nvSpPr>
          <p:cNvPr id="17" name="Text 15"/>
          <p:cNvSpPr/>
          <p:nvPr/>
        </p:nvSpPr>
        <p:spPr>
          <a:xfrm>
            <a:off x="2103120" y="3429000"/>
            <a:ext cx="1005840" cy="210312"/>
          </a:xfrm>
          <a:prstGeom prst="rect">
            <a:avLst/>
          </a:prstGeom>
          <a:noFill/>
          <a:ln/>
        </p:spPr>
        <p:txBody>
          <a:bodyPr wrap="square" lIns="508" tIns="508" rIns="508" bIns="508" rtlCol="0" anchor="ctr">
            <a:normAutofit/>
          </a:bodyPr>
          <a:lstStyle/>
          <a:p>
            <a:pPr algn="l" indent="0" marL="0">
              <a:buNone/>
            </a:pPr>
            <a:r>
              <a:rPr lang="en-US" sz="1300" dirty="0">
                <a:solidFill>
                  <a:srgbClr val="1C67B5"/>
                </a:solidFill>
                <a:latin typeface="Aptos" pitchFamily="34" charset="0"/>
                <a:ea typeface="Aptos" pitchFamily="34" charset="-122"/>
                <a:cs typeface="Aptos" pitchFamily="34" charset="-120"/>
              </a:rPr>
              <a:t>…</a:t>
            </a:r>
            <a:endParaRPr lang="en-US" sz="1300" dirty="0"/>
          </a:p>
        </p:txBody>
      </p:sp>
      <p:sp>
        <p:nvSpPr>
          <p:cNvPr id="18" name="Shape 16"/>
          <p:cNvSpPr/>
          <p:nvPr/>
        </p:nvSpPr>
        <p:spPr>
          <a:xfrm>
            <a:off x="941832" y="3977640"/>
            <a:ext cx="3063240" cy="411480"/>
          </a:xfrm>
          <a:prstGeom prst="roundRect">
            <a:avLst>
              <a:gd name="adj" fmla="val 17778"/>
            </a:avLst>
          </a:prstGeom>
          <a:solidFill>
            <a:srgbClr val="EEF6FD"/>
          </a:solidFill>
          <a:ln w="12700">
            <a:solidFill>
              <a:srgbClr val="1C67B5"/>
            </a:solidFill>
            <a:prstDash val="solid"/>
          </a:ln>
        </p:spPr>
      </p:sp>
      <p:sp>
        <p:nvSpPr>
          <p:cNvPr id="19" name="Text 17"/>
          <p:cNvSpPr/>
          <p:nvPr/>
        </p:nvSpPr>
        <p:spPr>
          <a:xfrm>
            <a:off x="1051560" y="4050792"/>
            <a:ext cx="2843784" cy="265176"/>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Time order is part of the science.</a:t>
            </a:r>
            <a:endParaRPr lang="en-US" sz="1150" dirty="0"/>
          </a:p>
        </p:txBody>
      </p:sp>
      <p:sp>
        <p:nvSpPr>
          <p:cNvPr id="20" name="Text 18"/>
          <p:cNvSpPr/>
          <p:nvPr/>
        </p:nvSpPr>
        <p:spPr>
          <a:xfrm>
            <a:off x="941832" y="4553712"/>
            <a:ext cx="3063240" cy="1024128"/>
          </a:xfrm>
          <a:prstGeom prst="rect">
            <a:avLst/>
          </a:prstGeom>
          <a:noFill/>
          <a:ln/>
        </p:spPr>
        <p:txBody>
          <a:bodyPr wrap="square" lIns="508" tIns="508" rIns="508" bIns="508" rtlCol="0" anchor="ctr">
            <a:normAutofit/>
          </a:bodyPr>
          <a:lstStyle/>
          <a:p>
            <a:pPr marL="177800" indent="-177800">
              <a:buSzPct val="100000"/>
              <a:buChar char="•"/>
            </a:pPr>
            <a:r>
              <a:rPr lang="en-US" sz="1170" dirty="0">
                <a:solidFill>
                  <a:srgbClr val="18334F"/>
                </a:solidFill>
                <a:latin typeface="Aptos" pitchFamily="34" charset="0"/>
                <a:ea typeface="Aptos" pitchFamily="34" charset="-122"/>
                <a:cs typeface="Aptos" pitchFamily="34" charset="-120"/>
              </a:rPr>
              <a:t>Nearby observations provide context.</a:t>
            </a:r>
            <a:endParaRPr lang="en-US" sz="1170" dirty="0"/>
          </a:p>
          <a:p>
            <a:pPr marL="177800" indent="-177800">
              <a:buSzPct val="100000"/>
              <a:buChar char="•"/>
            </a:pPr>
            <a:r>
              <a:rPr lang="en-US" sz="1170" dirty="0">
                <a:solidFill>
                  <a:srgbClr val="18334F"/>
                </a:solidFill>
                <a:latin typeface="Aptos" pitchFamily="34" charset="0"/>
                <a:ea typeface="Aptos" pitchFamily="34" charset="-122"/>
                <a:cs typeface="Aptos" pitchFamily="34" charset="-120"/>
              </a:rPr>
              <a:t>Missing/gap information is preserved.</a:t>
            </a:r>
            <a:endParaRPr lang="en-US" sz="1170" dirty="0"/>
          </a:p>
          <a:p>
            <a:pPr marL="177800" indent="-177800">
              <a:buSzPct val="100000"/>
              <a:buChar char="•"/>
            </a:pPr>
            <a:r>
              <a:rPr lang="en-US" sz="1170" dirty="0">
                <a:solidFill>
                  <a:srgbClr val="18334F"/>
                </a:solidFill>
                <a:latin typeface="Aptos" pitchFamily="34" charset="0"/>
                <a:ea typeface="Aptos" pitchFamily="34" charset="-122"/>
                <a:cs typeface="Aptos" pitchFamily="34" charset="-120"/>
              </a:rPr>
              <a:t>Small gaps are handled conservatively; long gaps remain missing.</a:t>
            </a:r>
            <a:endParaRPr lang="en-US" sz="1170" dirty="0"/>
          </a:p>
        </p:txBody>
      </p:sp>
      <p:sp>
        <p:nvSpPr>
          <p:cNvPr id="21" name="Shape 19"/>
          <p:cNvSpPr/>
          <p:nvPr/>
        </p:nvSpPr>
        <p:spPr>
          <a:xfrm>
            <a:off x="4526280" y="1335024"/>
            <a:ext cx="3044952" cy="4526280"/>
          </a:xfrm>
          <a:prstGeom prst="roundRect">
            <a:avLst>
              <a:gd name="adj" fmla="val 2402"/>
            </a:avLst>
          </a:prstGeom>
          <a:solidFill>
            <a:srgbClr val="EEF6FD"/>
          </a:solidFill>
          <a:ln w="12700">
            <a:solidFill>
              <a:srgbClr val="BDD7EC"/>
            </a:solidFill>
            <a:prstDash val="solid"/>
          </a:ln>
        </p:spPr>
      </p:sp>
      <p:sp>
        <p:nvSpPr>
          <p:cNvPr id="22" name="Text 20"/>
          <p:cNvSpPr/>
          <p:nvPr/>
        </p:nvSpPr>
        <p:spPr>
          <a:xfrm>
            <a:off x="4800600" y="1554480"/>
            <a:ext cx="2487168"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2. Preprocessing</a:t>
            </a:r>
            <a:endParaRPr lang="en-US" sz="1700" dirty="0"/>
          </a:p>
        </p:txBody>
      </p:sp>
      <p:sp>
        <p:nvSpPr>
          <p:cNvPr id="23" name="Shape 21"/>
          <p:cNvSpPr/>
          <p:nvPr/>
        </p:nvSpPr>
        <p:spPr>
          <a:xfrm>
            <a:off x="4818888" y="2029968"/>
            <a:ext cx="2423160" cy="393192"/>
          </a:xfrm>
          <a:prstGeom prst="roundRect">
            <a:avLst>
              <a:gd name="adj" fmla="val 18605"/>
            </a:avLst>
          </a:prstGeom>
          <a:solidFill>
            <a:srgbClr val="FFFFFF"/>
          </a:solidFill>
          <a:ln w="12700">
            <a:solidFill>
              <a:srgbClr val="D3E5F3"/>
            </a:solidFill>
            <a:prstDash val="solid"/>
          </a:ln>
        </p:spPr>
      </p:sp>
      <p:sp>
        <p:nvSpPr>
          <p:cNvPr id="24" name="Text 22"/>
          <p:cNvSpPr/>
          <p:nvPr/>
        </p:nvSpPr>
        <p:spPr>
          <a:xfrm>
            <a:off x="4937760" y="2103120"/>
            <a:ext cx="1005840" cy="164592"/>
          </a:xfrm>
          <a:prstGeom prst="rect">
            <a:avLst/>
          </a:prstGeom>
          <a:noFill/>
          <a:ln/>
        </p:spPr>
        <p:txBody>
          <a:bodyPr wrap="square" lIns="508" tIns="508" rIns="508" bIns="508" rtlCol="0" anchor="ctr">
            <a:normAutofit/>
          </a:bodyPr>
          <a:lstStyle/>
          <a:p>
            <a:pPr algn="l" indent="0" marL="0">
              <a:buNone/>
            </a:pPr>
            <a:r>
              <a:rPr lang="en-US" sz="1050" b="1" dirty="0">
                <a:solidFill>
                  <a:srgbClr val="0B1F5B"/>
                </a:solidFill>
                <a:latin typeface="Aptos" pitchFamily="34" charset="0"/>
                <a:ea typeface="Aptos" pitchFamily="34" charset="-122"/>
                <a:cs typeface="Aptos" pitchFamily="34" charset="-120"/>
              </a:rPr>
              <a:t>Raw rows</a:t>
            </a:r>
            <a:endParaRPr lang="en-US" sz="1050" dirty="0"/>
          </a:p>
        </p:txBody>
      </p:sp>
      <p:sp>
        <p:nvSpPr>
          <p:cNvPr id="25" name="Text 23"/>
          <p:cNvSpPr/>
          <p:nvPr/>
        </p:nvSpPr>
        <p:spPr>
          <a:xfrm>
            <a:off x="5961888" y="2103120"/>
            <a:ext cx="1115568" cy="164592"/>
          </a:xfrm>
          <a:prstGeom prst="rect">
            <a:avLst/>
          </a:prstGeom>
          <a:noFill/>
          <a:ln/>
        </p:spPr>
        <p:txBody>
          <a:bodyPr wrap="square" lIns="508" tIns="508" rIns="508" bIns="508" rtlCol="0" anchor="ctr">
            <a:normAutofit/>
          </a:bodyPr>
          <a:lstStyle/>
          <a:p>
            <a:pPr algn="r" indent="0" marL="0">
              <a:buNone/>
            </a:pPr>
            <a:r>
              <a:rPr lang="en-US" sz="1030" dirty="0">
                <a:solidFill>
                  <a:srgbClr val="637B93"/>
                </a:solidFill>
                <a:latin typeface="Aptos" pitchFamily="34" charset="0"/>
                <a:ea typeface="Aptos" pitchFamily="34" charset="-122"/>
                <a:cs typeface="Aptos" pitchFamily="34" charset="-120"/>
              </a:rPr>
              <a:t>quality checks</a:t>
            </a:r>
            <a:endParaRPr lang="en-US" sz="1030" dirty="0"/>
          </a:p>
        </p:txBody>
      </p:sp>
      <p:sp>
        <p:nvSpPr>
          <p:cNvPr id="26" name="Shape 24"/>
          <p:cNvSpPr/>
          <p:nvPr/>
        </p:nvSpPr>
        <p:spPr>
          <a:xfrm>
            <a:off x="4818888" y="2551176"/>
            <a:ext cx="2423160" cy="393192"/>
          </a:xfrm>
          <a:prstGeom prst="roundRect">
            <a:avLst>
              <a:gd name="adj" fmla="val 18605"/>
            </a:avLst>
          </a:prstGeom>
          <a:solidFill>
            <a:srgbClr val="FFFFFF"/>
          </a:solidFill>
          <a:ln w="12700">
            <a:solidFill>
              <a:srgbClr val="D3E5F3"/>
            </a:solidFill>
            <a:prstDash val="solid"/>
          </a:ln>
        </p:spPr>
      </p:sp>
      <p:sp>
        <p:nvSpPr>
          <p:cNvPr id="27" name="Text 25"/>
          <p:cNvSpPr/>
          <p:nvPr/>
        </p:nvSpPr>
        <p:spPr>
          <a:xfrm>
            <a:off x="4937760" y="2624328"/>
            <a:ext cx="1005840" cy="164592"/>
          </a:xfrm>
          <a:prstGeom prst="rect">
            <a:avLst/>
          </a:prstGeom>
          <a:noFill/>
          <a:ln/>
        </p:spPr>
        <p:txBody>
          <a:bodyPr wrap="square" lIns="508" tIns="508" rIns="508" bIns="508" rtlCol="0" anchor="ctr">
            <a:normAutofit/>
          </a:bodyPr>
          <a:lstStyle/>
          <a:p>
            <a:pPr algn="l" indent="0" marL="0">
              <a:buNone/>
            </a:pPr>
            <a:r>
              <a:rPr lang="en-US" sz="1050" b="1" dirty="0">
                <a:solidFill>
                  <a:srgbClr val="0B1F5B"/>
                </a:solidFill>
                <a:latin typeface="Aptos" pitchFamily="34" charset="0"/>
                <a:ea typeface="Aptos" pitchFamily="34" charset="-122"/>
                <a:cs typeface="Aptos" pitchFamily="34" charset="-120"/>
              </a:rPr>
              <a:t>Sentinels / invalid</a:t>
            </a:r>
            <a:endParaRPr lang="en-US" sz="1050" dirty="0"/>
          </a:p>
        </p:txBody>
      </p:sp>
      <p:sp>
        <p:nvSpPr>
          <p:cNvPr id="28" name="Text 26"/>
          <p:cNvSpPr/>
          <p:nvPr/>
        </p:nvSpPr>
        <p:spPr>
          <a:xfrm>
            <a:off x="5961888" y="2624328"/>
            <a:ext cx="1115568" cy="164592"/>
          </a:xfrm>
          <a:prstGeom prst="rect">
            <a:avLst/>
          </a:prstGeom>
          <a:noFill/>
          <a:ln/>
        </p:spPr>
        <p:txBody>
          <a:bodyPr wrap="square" lIns="508" tIns="508" rIns="508" bIns="508" rtlCol="0" anchor="ctr">
            <a:normAutofit/>
          </a:bodyPr>
          <a:lstStyle/>
          <a:p>
            <a:pPr algn="r" indent="0" marL="0">
              <a:buNone/>
            </a:pPr>
            <a:r>
              <a:rPr lang="en-US" sz="1030" dirty="0">
                <a:solidFill>
                  <a:srgbClr val="637B93"/>
                </a:solidFill>
                <a:latin typeface="Aptos" pitchFamily="34" charset="0"/>
                <a:ea typeface="Aptos" pitchFamily="34" charset="-122"/>
                <a:cs typeface="Aptos" pitchFamily="34" charset="-120"/>
              </a:rPr>
              <a:t>→ NA</a:t>
            </a:r>
            <a:endParaRPr lang="en-US" sz="1030" dirty="0"/>
          </a:p>
        </p:txBody>
      </p:sp>
      <p:sp>
        <p:nvSpPr>
          <p:cNvPr id="29" name="Shape 27"/>
          <p:cNvSpPr/>
          <p:nvPr/>
        </p:nvSpPr>
        <p:spPr>
          <a:xfrm>
            <a:off x="4818888" y="3072384"/>
            <a:ext cx="2423160" cy="393192"/>
          </a:xfrm>
          <a:prstGeom prst="roundRect">
            <a:avLst>
              <a:gd name="adj" fmla="val 18605"/>
            </a:avLst>
          </a:prstGeom>
          <a:solidFill>
            <a:srgbClr val="FFFFFF"/>
          </a:solidFill>
          <a:ln w="12700">
            <a:solidFill>
              <a:srgbClr val="D3E5F3"/>
            </a:solidFill>
            <a:prstDash val="solid"/>
          </a:ln>
        </p:spPr>
      </p:sp>
      <p:sp>
        <p:nvSpPr>
          <p:cNvPr id="30" name="Text 28"/>
          <p:cNvSpPr/>
          <p:nvPr/>
        </p:nvSpPr>
        <p:spPr>
          <a:xfrm>
            <a:off x="4937760" y="3145536"/>
            <a:ext cx="1005840" cy="164592"/>
          </a:xfrm>
          <a:prstGeom prst="rect">
            <a:avLst/>
          </a:prstGeom>
          <a:noFill/>
          <a:ln/>
        </p:spPr>
        <p:txBody>
          <a:bodyPr wrap="square" lIns="508" tIns="508" rIns="508" bIns="508" rtlCol="0" anchor="ctr">
            <a:normAutofit/>
          </a:bodyPr>
          <a:lstStyle/>
          <a:p>
            <a:pPr algn="l" indent="0" marL="0">
              <a:buNone/>
            </a:pPr>
            <a:r>
              <a:rPr lang="en-US" sz="1050" b="1" dirty="0">
                <a:solidFill>
                  <a:srgbClr val="0B1F5B"/>
                </a:solidFill>
                <a:latin typeface="Aptos" pitchFamily="34" charset="0"/>
                <a:ea typeface="Aptos" pitchFamily="34" charset="-122"/>
                <a:cs typeface="Aptos" pitchFamily="34" charset="-120"/>
              </a:rPr>
              <a:t>≤3 min gaps</a:t>
            </a:r>
            <a:endParaRPr lang="en-US" sz="1050" dirty="0"/>
          </a:p>
        </p:txBody>
      </p:sp>
      <p:sp>
        <p:nvSpPr>
          <p:cNvPr id="31" name="Text 29"/>
          <p:cNvSpPr/>
          <p:nvPr/>
        </p:nvSpPr>
        <p:spPr>
          <a:xfrm>
            <a:off x="5961888" y="3145536"/>
            <a:ext cx="1115568" cy="164592"/>
          </a:xfrm>
          <a:prstGeom prst="rect">
            <a:avLst/>
          </a:prstGeom>
          <a:noFill/>
          <a:ln/>
        </p:spPr>
        <p:txBody>
          <a:bodyPr wrap="square" lIns="508" tIns="508" rIns="508" bIns="508" rtlCol="0" anchor="ctr">
            <a:normAutofit/>
          </a:bodyPr>
          <a:lstStyle/>
          <a:p>
            <a:pPr algn="r" indent="0" marL="0">
              <a:buNone/>
            </a:pPr>
            <a:r>
              <a:rPr lang="en-US" sz="1030" dirty="0">
                <a:solidFill>
                  <a:srgbClr val="637B93"/>
                </a:solidFill>
                <a:latin typeface="Aptos" pitchFamily="34" charset="0"/>
                <a:ea typeface="Aptos" pitchFamily="34" charset="-122"/>
                <a:cs typeface="Aptos" pitchFamily="34" charset="-120"/>
              </a:rPr>
              <a:t>log-space interpolation</a:t>
            </a:r>
            <a:endParaRPr lang="en-US" sz="1030" dirty="0"/>
          </a:p>
        </p:txBody>
      </p:sp>
      <p:sp>
        <p:nvSpPr>
          <p:cNvPr id="32" name="Shape 30"/>
          <p:cNvSpPr/>
          <p:nvPr/>
        </p:nvSpPr>
        <p:spPr>
          <a:xfrm>
            <a:off x="4818888" y="3593592"/>
            <a:ext cx="2423160" cy="393192"/>
          </a:xfrm>
          <a:prstGeom prst="roundRect">
            <a:avLst>
              <a:gd name="adj" fmla="val 18605"/>
            </a:avLst>
          </a:prstGeom>
          <a:solidFill>
            <a:srgbClr val="FFFFFF"/>
          </a:solidFill>
          <a:ln w="12700">
            <a:solidFill>
              <a:srgbClr val="D3E5F3"/>
            </a:solidFill>
            <a:prstDash val="solid"/>
          </a:ln>
        </p:spPr>
      </p:sp>
      <p:sp>
        <p:nvSpPr>
          <p:cNvPr id="33" name="Text 31"/>
          <p:cNvSpPr/>
          <p:nvPr/>
        </p:nvSpPr>
        <p:spPr>
          <a:xfrm>
            <a:off x="4937760" y="3666744"/>
            <a:ext cx="1005840" cy="164592"/>
          </a:xfrm>
          <a:prstGeom prst="rect">
            <a:avLst/>
          </a:prstGeom>
          <a:noFill/>
          <a:ln/>
        </p:spPr>
        <p:txBody>
          <a:bodyPr wrap="square" lIns="508" tIns="508" rIns="508" bIns="508" rtlCol="0" anchor="ctr">
            <a:normAutofit/>
          </a:bodyPr>
          <a:lstStyle/>
          <a:p>
            <a:pPr algn="l" indent="0" marL="0">
              <a:buNone/>
            </a:pPr>
            <a:r>
              <a:rPr lang="en-US" sz="1050" b="1" dirty="0">
                <a:solidFill>
                  <a:srgbClr val="0B1F5B"/>
                </a:solidFill>
                <a:latin typeface="Aptos" pitchFamily="34" charset="0"/>
                <a:ea typeface="Aptos" pitchFamily="34" charset="-122"/>
                <a:cs typeface="Aptos" pitchFamily="34" charset="-120"/>
              </a:rPr>
              <a:t>&gt;3 min gaps</a:t>
            </a:r>
            <a:endParaRPr lang="en-US" sz="1050" dirty="0"/>
          </a:p>
        </p:txBody>
      </p:sp>
      <p:sp>
        <p:nvSpPr>
          <p:cNvPr id="34" name="Text 32"/>
          <p:cNvSpPr/>
          <p:nvPr/>
        </p:nvSpPr>
        <p:spPr>
          <a:xfrm>
            <a:off x="5961888" y="3666744"/>
            <a:ext cx="1115568" cy="164592"/>
          </a:xfrm>
          <a:prstGeom prst="rect">
            <a:avLst/>
          </a:prstGeom>
          <a:noFill/>
          <a:ln/>
        </p:spPr>
        <p:txBody>
          <a:bodyPr wrap="square" lIns="508" tIns="508" rIns="508" bIns="508" rtlCol="0" anchor="ctr">
            <a:normAutofit/>
          </a:bodyPr>
          <a:lstStyle/>
          <a:p>
            <a:pPr algn="r" indent="0" marL="0">
              <a:buNone/>
            </a:pPr>
            <a:r>
              <a:rPr lang="en-US" sz="1030" dirty="0">
                <a:solidFill>
                  <a:srgbClr val="637B93"/>
                </a:solidFill>
                <a:latin typeface="Aptos" pitchFamily="34" charset="0"/>
                <a:ea typeface="Aptos" pitchFamily="34" charset="-122"/>
                <a:cs typeface="Aptos" pitchFamily="34" charset="-120"/>
              </a:rPr>
              <a:t>remain missing</a:t>
            </a:r>
            <a:endParaRPr lang="en-US" sz="1030" dirty="0"/>
          </a:p>
        </p:txBody>
      </p:sp>
      <p:sp>
        <p:nvSpPr>
          <p:cNvPr id="35" name="Shape 33"/>
          <p:cNvSpPr/>
          <p:nvPr/>
        </p:nvSpPr>
        <p:spPr>
          <a:xfrm>
            <a:off x="4818888" y="4114800"/>
            <a:ext cx="2423160" cy="393192"/>
          </a:xfrm>
          <a:prstGeom prst="roundRect">
            <a:avLst>
              <a:gd name="adj" fmla="val 18605"/>
            </a:avLst>
          </a:prstGeom>
          <a:solidFill>
            <a:srgbClr val="FFFFFF"/>
          </a:solidFill>
          <a:ln w="12700">
            <a:solidFill>
              <a:srgbClr val="D3E5F3"/>
            </a:solidFill>
            <a:prstDash val="solid"/>
          </a:ln>
        </p:spPr>
      </p:sp>
      <p:sp>
        <p:nvSpPr>
          <p:cNvPr id="36" name="Text 34"/>
          <p:cNvSpPr/>
          <p:nvPr/>
        </p:nvSpPr>
        <p:spPr>
          <a:xfrm>
            <a:off x="4937760" y="4187952"/>
            <a:ext cx="1005840" cy="164592"/>
          </a:xfrm>
          <a:prstGeom prst="rect">
            <a:avLst/>
          </a:prstGeom>
          <a:noFill/>
          <a:ln/>
        </p:spPr>
        <p:txBody>
          <a:bodyPr wrap="square" lIns="508" tIns="508" rIns="508" bIns="508" rtlCol="0" anchor="ctr">
            <a:normAutofit/>
          </a:bodyPr>
          <a:lstStyle/>
          <a:p>
            <a:pPr algn="l" indent="0" marL="0">
              <a:buNone/>
            </a:pPr>
            <a:r>
              <a:rPr lang="en-US" sz="1050" b="1" dirty="0">
                <a:solidFill>
                  <a:srgbClr val="0B1F5B"/>
                </a:solidFill>
                <a:latin typeface="Aptos" pitchFamily="34" charset="0"/>
                <a:ea typeface="Aptos" pitchFamily="34" charset="-122"/>
                <a:cs typeface="Aptos" pitchFamily="34" charset="-120"/>
              </a:rPr>
              <a:t>1-min grid</a:t>
            </a:r>
            <a:endParaRPr lang="en-US" sz="1050" dirty="0"/>
          </a:p>
        </p:txBody>
      </p:sp>
      <p:sp>
        <p:nvSpPr>
          <p:cNvPr id="37" name="Text 35"/>
          <p:cNvSpPr/>
          <p:nvPr/>
        </p:nvSpPr>
        <p:spPr>
          <a:xfrm>
            <a:off x="5961888" y="4187952"/>
            <a:ext cx="1115568" cy="164592"/>
          </a:xfrm>
          <a:prstGeom prst="rect">
            <a:avLst/>
          </a:prstGeom>
          <a:noFill/>
          <a:ln/>
        </p:spPr>
        <p:txBody>
          <a:bodyPr wrap="square" lIns="508" tIns="508" rIns="508" bIns="508" rtlCol="0" anchor="ctr">
            <a:normAutofit/>
          </a:bodyPr>
          <a:lstStyle/>
          <a:p>
            <a:pPr algn="r" indent="0" marL="0">
              <a:buNone/>
            </a:pPr>
            <a:r>
              <a:rPr lang="en-US" sz="1030" dirty="0">
                <a:solidFill>
                  <a:srgbClr val="637B93"/>
                </a:solidFill>
                <a:latin typeface="Aptos" pitchFamily="34" charset="0"/>
                <a:ea typeface="Aptos" pitchFamily="34" charset="-122"/>
                <a:cs typeface="Aptos" pitchFamily="34" charset="-120"/>
              </a:rPr>
              <a:t>reindexed</a:t>
            </a:r>
            <a:endParaRPr lang="en-US" sz="1030" dirty="0"/>
          </a:p>
        </p:txBody>
      </p:sp>
      <p:sp>
        <p:nvSpPr>
          <p:cNvPr id="38" name="Shape 36"/>
          <p:cNvSpPr/>
          <p:nvPr/>
        </p:nvSpPr>
        <p:spPr>
          <a:xfrm>
            <a:off x="4818888" y="4636008"/>
            <a:ext cx="2423160" cy="393192"/>
          </a:xfrm>
          <a:prstGeom prst="roundRect">
            <a:avLst>
              <a:gd name="adj" fmla="val 18605"/>
            </a:avLst>
          </a:prstGeom>
          <a:solidFill>
            <a:srgbClr val="FFFFFF"/>
          </a:solidFill>
          <a:ln w="12700">
            <a:solidFill>
              <a:srgbClr val="D3E5F3"/>
            </a:solidFill>
            <a:prstDash val="solid"/>
          </a:ln>
        </p:spPr>
      </p:sp>
      <p:sp>
        <p:nvSpPr>
          <p:cNvPr id="39" name="Text 37"/>
          <p:cNvSpPr/>
          <p:nvPr/>
        </p:nvSpPr>
        <p:spPr>
          <a:xfrm>
            <a:off x="4937760" y="4709160"/>
            <a:ext cx="1005840" cy="164592"/>
          </a:xfrm>
          <a:prstGeom prst="rect">
            <a:avLst/>
          </a:prstGeom>
          <a:noFill/>
          <a:ln/>
        </p:spPr>
        <p:txBody>
          <a:bodyPr wrap="square" lIns="508" tIns="508" rIns="508" bIns="508" rtlCol="0" anchor="ctr">
            <a:normAutofit/>
          </a:bodyPr>
          <a:lstStyle/>
          <a:p>
            <a:pPr algn="l" indent="0" marL="0">
              <a:buNone/>
            </a:pPr>
            <a:r>
              <a:rPr lang="en-US" sz="1050" b="1" dirty="0">
                <a:solidFill>
                  <a:srgbClr val="0B1F5B"/>
                </a:solidFill>
                <a:latin typeface="Aptos" pitchFamily="34" charset="0"/>
                <a:ea typeface="Aptos" pitchFamily="34" charset="-122"/>
                <a:cs typeface="Aptos" pitchFamily="34" charset="-120"/>
              </a:rPr>
              <a:t>segments</a:t>
            </a:r>
            <a:endParaRPr lang="en-US" sz="1050" dirty="0"/>
          </a:p>
        </p:txBody>
      </p:sp>
      <p:sp>
        <p:nvSpPr>
          <p:cNvPr id="40" name="Text 38"/>
          <p:cNvSpPr/>
          <p:nvPr/>
        </p:nvSpPr>
        <p:spPr>
          <a:xfrm>
            <a:off x="5961888" y="4709160"/>
            <a:ext cx="1115568" cy="164592"/>
          </a:xfrm>
          <a:prstGeom prst="rect">
            <a:avLst/>
          </a:prstGeom>
          <a:noFill/>
          <a:ln/>
        </p:spPr>
        <p:txBody>
          <a:bodyPr wrap="square" lIns="508" tIns="508" rIns="508" bIns="508" rtlCol="0" anchor="ctr">
            <a:normAutofit/>
          </a:bodyPr>
          <a:lstStyle/>
          <a:p>
            <a:pPr algn="r" indent="0" marL="0">
              <a:buNone/>
            </a:pPr>
            <a:r>
              <a:rPr lang="en-US" sz="1030" dirty="0">
                <a:solidFill>
                  <a:srgbClr val="637B93"/>
                </a:solidFill>
                <a:latin typeface="Aptos" pitchFamily="34" charset="0"/>
                <a:ea typeface="Aptos" pitchFamily="34" charset="-122"/>
                <a:cs typeface="Aptos" pitchFamily="34" charset="-120"/>
              </a:rPr>
              <a:t>preserved</a:t>
            </a:r>
            <a:endParaRPr lang="en-US" sz="1030" dirty="0"/>
          </a:p>
        </p:txBody>
      </p:sp>
      <p:sp>
        <p:nvSpPr>
          <p:cNvPr id="41" name="Shape 39"/>
          <p:cNvSpPr/>
          <p:nvPr/>
        </p:nvSpPr>
        <p:spPr>
          <a:xfrm>
            <a:off x="7808976" y="1335024"/>
            <a:ext cx="3703320" cy="4526280"/>
          </a:xfrm>
          <a:prstGeom prst="roundRect">
            <a:avLst>
              <a:gd name="adj" fmla="val 1975"/>
            </a:avLst>
          </a:prstGeom>
          <a:solidFill>
            <a:srgbClr val="FFFFFF"/>
          </a:solidFill>
          <a:ln w="12700">
            <a:solidFill>
              <a:srgbClr val="BDD7EC"/>
            </a:solidFill>
            <a:prstDash val="solid"/>
          </a:ln>
        </p:spPr>
      </p:sp>
      <p:sp>
        <p:nvSpPr>
          <p:cNvPr id="42" name="Text 40"/>
          <p:cNvSpPr/>
          <p:nvPr/>
        </p:nvSpPr>
        <p:spPr>
          <a:xfrm>
            <a:off x="8101584" y="1554480"/>
            <a:ext cx="3108960"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3. Why this matters statistically</a:t>
            </a:r>
            <a:endParaRPr lang="en-US" sz="1700" dirty="0"/>
          </a:p>
        </p:txBody>
      </p:sp>
      <p:sp>
        <p:nvSpPr>
          <p:cNvPr id="43" name="Text 41"/>
          <p:cNvSpPr/>
          <p:nvPr/>
        </p:nvSpPr>
        <p:spPr>
          <a:xfrm>
            <a:off x="8119872" y="2148840"/>
            <a:ext cx="2880360" cy="2194560"/>
          </a:xfrm>
          <a:prstGeom prst="rect">
            <a:avLst/>
          </a:prstGeom>
          <a:noFill/>
          <a:ln/>
        </p:spPr>
        <p:txBody>
          <a:bodyPr wrap="square" lIns="508" tIns="508" rIns="508" bIns="508" rtlCol="0" anchor="ctr">
            <a:normAutofit/>
          </a:bodyPr>
          <a:lstStyle/>
          <a:p>
            <a:pPr marL="177800" indent="-177800">
              <a:buSzPct val="100000"/>
              <a:buChar char="•"/>
            </a:pPr>
            <a:r>
              <a:rPr lang="en-US" sz="1250" dirty="0">
                <a:solidFill>
                  <a:srgbClr val="18334F"/>
                </a:solidFill>
                <a:latin typeface="Aptos" pitchFamily="34" charset="0"/>
                <a:ea typeface="Aptos" pitchFamily="34" charset="-122"/>
                <a:cs typeface="Aptos" pitchFamily="34" charset="-120"/>
              </a:rPr>
              <a:t>Rolling baselines assume a known time cadence.</a:t>
            </a:r>
            <a:endParaRPr lang="en-US" sz="1250" dirty="0"/>
          </a:p>
          <a:p>
            <a:pPr marL="177800" indent="-177800">
              <a:buSzPct val="100000"/>
              <a:buChar char="•"/>
            </a:pPr>
            <a:r>
              <a:rPr lang="en-US" sz="1250" dirty="0">
                <a:solidFill>
                  <a:srgbClr val="18334F"/>
                </a:solidFill>
                <a:latin typeface="Aptos" pitchFamily="34" charset="0"/>
                <a:ea typeface="Aptos" pitchFamily="34" charset="-122"/>
                <a:cs typeface="Aptos" pitchFamily="34" charset="-120"/>
              </a:rPr>
              <a:t>Derivatives and slopes are sensitive to gaps.</a:t>
            </a:r>
            <a:endParaRPr lang="en-US" sz="1250" dirty="0"/>
          </a:p>
          <a:p>
            <a:pPr marL="177800" indent="-177800">
              <a:buSzPct val="100000"/>
              <a:buChar char="•"/>
            </a:pPr>
            <a:r>
              <a:rPr lang="en-US" sz="1250" dirty="0">
                <a:solidFill>
                  <a:srgbClr val="18334F"/>
                </a:solidFill>
                <a:latin typeface="Aptos" pitchFamily="34" charset="0"/>
                <a:ea typeface="Aptos" pitchFamily="34" charset="-122"/>
                <a:cs typeface="Aptos" pitchFamily="34" charset="-120"/>
              </a:rPr>
              <a:t>Interpolation can change peak, ROC and duration measurements.</a:t>
            </a:r>
            <a:endParaRPr lang="en-US" sz="1250" dirty="0"/>
          </a:p>
          <a:p>
            <a:pPr marL="177800" indent="-177800">
              <a:buSzPct val="100000"/>
              <a:buChar char="•"/>
            </a:pPr>
            <a:r>
              <a:rPr lang="en-US" sz="1250" dirty="0">
                <a:solidFill>
                  <a:srgbClr val="18334F"/>
                </a:solidFill>
                <a:latin typeface="Aptos" pitchFamily="34" charset="0"/>
                <a:ea typeface="Aptos" pitchFamily="34" charset="-122"/>
                <a:cs typeface="Aptos" pitchFamily="34" charset="-120"/>
              </a:rPr>
              <a:t>We therefore keep the original/segment metadata for auditability.</a:t>
            </a:r>
            <a:endParaRPr lang="en-US" sz="1250" dirty="0"/>
          </a:p>
        </p:txBody>
      </p:sp>
      <p:sp>
        <p:nvSpPr>
          <p:cNvPr id="44" name="Shape 42"/>
          <p:cNvSpPr/>
          <p:nvPr/>
        </p:nvSpPr>
        <p:spPr>
          <a:xfrm>
            <a:off x="8156448" y="4709160"/>
            <a:ext cx="1188720" cy="658368"/>
          </a:xfrm>
          <a:prstGeom prst="roundRect">
            <a:avLst>
              <a:gd name="adj" fmla="val 11111"/>
            </a:avLst>
          </a:prstGeom>
          <a:solidFill>
            <a:srgbClr val="FFFFFF"/>
          </a:solidFill>
          <a:ln w="12700">
            <a:solidFill>
              <a:srgbClr val="D3E4F3"/>
            </a:solidFill>
            <a:prstDash val="solid"/>
          </a:ln>
        </p:spPr>
      </p:sp>
      <p:sp>
        <p:nvSpPr>
          <p:cNvPr id="45" name="Text 43"/>
          <p:cNvSpPr/>
          <p:nvPr/>
        </p:nvSpPr>
        <p:spPr>
          <a:xfrm>
            <a:off x="8202168" y="4773168"/>
            <a:ext cx="1097280" cy="256032"/>
          </a:xfrm>
          <a:prstGeom prst="rect">
            <a:avLst/>
          </a:prstGeom>
          <a:noFill/>
          <a:ln/>
        </p:spPr>
        <p:txBody>
          <a:bodyPr wrap="square" lIns="508" tIns="508" rIns="508" bIns="508" rtlCol="0" anchor="ctr">
            <a:normAutofit/>
          </a:bodyPr>
          <a:lstStyle/>
          <a:p>
            <a:pPr algn="ctr" indent="0" marL="0">
              <a:buNone/>
            </a:pPr>
            <a:r>
              <a:rPr lang="en-US" sz="1700" b="1" dirty="0">
                <a:solidFill>
                  <a:srgbClr val="1C67B5"/>
                </a:solidFill>
                <a:latin typeface="Aptos" pitchFamily="34" charset="0"/>
                <a:ea typeface="Aptos" pitchFamily="34" charset="-122"/>
                <a:cs typeface="Aptos" pitchFamily="34" charset="-120"/>
              </a:rPr>
              <a:t>≈1 min</a:t>
            </a:r>
            <a:endParaRPr lang="en-US" sz="1700" dirty="0"/>
          </a:p>
        </p:txBody>
      </p:sp>
      <p:sp>
        <p:nvSpPr>
          <p:cNvPr id="46" name="Text 44"/>
          <p:cNvSpPr/>
          <p:nvPr/>
        </p:nvSpPr>
        <p:spPr>
          <a:xfrm>
            <a:off x="8220456" y="5056632"/>
            <a:ext cx="106070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cadence</a:t>
            </a:r>
            <a:endParaRPr lang="en-US" sz="880" dirty="0"/>
          </a:p>
        </p:txBody>
      </p:sp>
      <p:sp>
        <p:nvSpPr>
          <p:cNvPr id="47" name="Shape 45"/>
          <p:cNvSpPr/>
          <p:nvPr/>
        </p:nvSpPr>
        <p:spPr>
          <a:xfrm>
            <a:off x="9509760" y="4709160"/>
            <a:ext cx="1188720" cy="658368"/>
          </a:xfrm>
          <a:prstGeom prst="roundRect">
            <a:avLst>
              <a:gd name="adj" fmla="val 11111"/>
            </a:avLst>
          </a:prstGeom>
          <a:solidFill>
            <a:srgbClr val="FFFFFF"/>
          </a:solidFill>
          <a:ln w="12700">
            <a:solidFill>
              <a:srgbClr val="D3E4F3"/>
            </a:solidFill>
            <a:prstDash val="solid"/>
          </a:ln>
        </p:spPr>
      </p:sp>
      <p:sp>
        <p:nvSpPr>
          <p:cNvPr id="48" name="Text 46"/>
          <p:cNvSpPr/>
          <p:nvPr/>
        </p:nvSpPr>
        <p:spPr>
          <a:xfrm>
            <a:off x="9555480" y="4773168"/>
            <a:ext cx="1097280" cy="256032"/>
          </a:xfrm>
          <a:prstGeom prst="rect">
            <a:avLst/>
          </a:prstGeom>
          <a:noFill/>
          <a:ln/>
        </p:spPr>
        <p:txBody>
          <a:bodyPr wrap="square" lIns="508" tIns="508" rIns="508" bIns="508" rtlCol="0" anchor="ctr">
            <a:normAutofit/>
          </a:bodyPr>
          <a:lstStyle/>
          <a:p>
            <a:pPr algn="ctr" indent="0" marL="0">
              <a:buNone/>
            </a:pPr>
            <a:r>
              <a:rPr lang="en-US" sz="1700" b="1" dirty="0">
                <a:solidFill>
                  <a:srgbClr val="25A7D9"/>
                </a:solidFill>
                <a:latin typeface="Aptos" pitchFamily="34" charset="0"/>
                <a:ea typeface="Aptos" pitchFamily="34" charset="-122"/>
                <a:cs typeface="Aptos" pitchFamily="34" charset="-120"/>
              </a:rPr>
              <a:t>XRS-B</a:t>
            </a:r>
            <a:endParaRPr lang="en-US" sz="1700" dirty="0"/>
          </a:p>
        </p:txBody>
      </p:sp>
      <p:sp>
        <p:nvSpPr>
          <p:cNvPr id="49" name="Text 47"/>
          <p:cNvSpPr/>
          <p:nvPr/>
        </p:nvSpPr>
        <p:spPr>
          <a:xfrm>
            <a:off x="9573768" y="5056632"/>
            <a:ext cx="106070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main band</a:t>
            </a:r>
            <a:endParaRPr lang="en-US" sz="880" dirty="0"/>
          </a:p>
        </p:txBody>
      </p:sp>
      <p:sp>
        <p:nvSpPr>
          <p:cNvPr id="50" name="Shape 48"/>
          <p:cNvSpPr/>
          <p:nvPr/>
        </p:nvSpPr>
        <p:spPr>
          <a:xfrm>
            <a:off x="8119872" y="5413248"/>
            <a:ext cx="2880360" cy="310896"/>
          </a:xfrm>
          <a:prstGeom prst="roundRect">
            <a:avLst>
              <a:gd name="adj" fmla="val 23529"/>
            </a:avLst>
          </a:prstGeom>
          <a:solidFill>
            <a:srgbClr val="FFF8E6"/>
          </a:solidFill>
          <a:ln w="12700">
            <a:solidFill>
              <a:srgbClr val="E9A21B"/>
            </a:solidFill>
            <a:prstDash val="solid"/>
          </a:ln>
        </p:spPr>
      </p:sp>
      <p:sp>
        <p:nvSpPr>
          <p:cNvPr id="51" name="Text 49"/>
          <p:cNvSpPr/>
          <p:nvPr/>
        </p:nvSpPr>
        <p:spPr>
          <a:xfrm>
            <a:off x="8229600" y="5486400"/>
            <a:ext cx="2660904" cy="164592"/>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Preprocessing is part of the model’s evidence chain — not a cosmetic step.</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Before “Unusual,” We Need “Normal”</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Local statistical background estimation</a:t>
            </a:r>
            <a:endParaRPr lang="en-US" sz="1450" dirty="0"/>
          </a:p>
        </p:txBody>
      </p:sp>
      <p:sp>
        <p:nvSpPr>
          <p:cNvPr id="8" name="Shape 5"/>
          <p:cNvSpPr/>
          <p:nvPr/>
        </p:nvSpPr>
        <p:spPr>
          <a:xfrm>
            <a:off x="1463040" y="1335024"/>
            <a:ext cx="6812280" cy="4526280"/>
          </a:xfrm>
          <a:prstGeom prst="roundRect">
            <a:avLst>
              <a:gd name="adj" fmla="val 1616"/>
            </a:avLst>
          </a:prstGeom>
          <a:solidFill>
            <a:srgbClr val="FFFFFF"/>
          </a:solidFill>
          <a:ln w="12700">
            <a:solidFill>
              <a:srgbClr val="BDD7EC"/>
            </a:solidFill>
            <a:prstDash val="solid"/>
          </a:ln>
        </p:spPr>
      </p:sp>
      <p:pic>
        <p:nvPicPr>
          <p:cNvPr id="9" name="Image 1" descr="/mnt/data/ppt_assets/rolling_background_actual.png">    </p:cNvPr>
          <p:cNvPicPr>
            <a:picLocks noChangeAspect="1"/>
          </p:cNvPicPr>
          <p:nvPr/>
        </p:nvPicPr>
        <p:blipFill>
          <a:blip r:embed="rId2"/>
          <a:stretch>
            <a:fillRect/>
          </a:stretch>
        </p:blipFill>
        <p:spPr>
          <a:xfrm>
            <a:off x="1664208" y="2289325"/>
            <a:ext cx="6419088" cy="2334214"/>
          </a:xfrm>
          <a:prstGeom prst="rect">
            <a:avLst/>
          </a:prstGeom>
        </p:spPr>
      </p:pic>
      <p:sp>
        <p:nvSpPr>
          <p:cNvPr id="10" name="Shape 6"/>
          <p:cNvSpPr/>
          <p:nvPr/>
        </p:nvSpPr>
        <p:spPr>
          <a:xfrm>
            <a:off x="1700784" y="5340096"/>
            <a:ext cx="6309360" cy="347472"/>
          </a:xfrm>
          <a:prstGeom prst="roundRect">
            <a:avLst>
              <a:gd name="adj" fmla="val 21053"/>
            </a:avLst>
          </a:prstGeom>
          <a:solidFill>
            <a:srgbClr val="EEF6FD"/>
          </a:solidFill>
          <a:ln w="12700">
            <a:solidFill>
              <a:srgbClr val="1C67B5"/>
            </a:solidFill>
            <a:prstDash val="solid"/>
          </a:ln>
        </p:spPr>
      </p:sp>
      <p:sp>
        <p:nvSpPr>
          <p:cNvPr id="11" name="Text 7"/>
          <p:cNvSpPr/>
          <p:nvPr/>
        </p:nvSpPr>
        <p:spPr>
          <a:xfrm>
            <a:off x="1810512" y="5413248"/>
            <a:ext cx="6089904" cy="201168"/>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“Normal” is estimated locally — not from one average over the entire dataset.</a:t>
            </a:r>
            <a:endParaRPr lang="en-US" sz="1150" dirty="0"/>
          </a:p>
        </p:txBody>
      </p:sp>
      <p:sp>
        <p:nvSpPr>
          <p:cNvPr id="12" name="Shape 8"/>
          <p:cNvSpPr/>
          <p:nvPr/>
        </p:nvSpPr>
        <p:spPr>
          <a:xfrm>
            <a:off x="8503920" y="1335024"/>
            <a:ext cx="3063240" cy="4526280"/>
          </a:xfrm>
          <a:prstGeom prst="roundRect">
            <a:avLst>
              <a:gd name="adj" fmla="val 2388"/>
            </a:avLst>
          </a:prstGeom>
          <a:solidFill>
            <a:srgbClr val="FFFFFF"/>
          </a:solidFill>
          <a:ln w="12700">
            <a:solidFill>
              <a:srgbClr val="BDD7EC"/>
            </a:solidFill>
            <a:prstDash val="solid"/>
          </a:ln>
        </p:spPr>
      </p:sp>
      <p:sp>
        <p:nvSpPr>
          <p:cNvPr id="13" name="Text 9"/>
          <p:cNvSpPr/>
          <p:nvPr/>
        </p:nvSpPr>
        <p:spPr>
          <a:xfrm>
            <a:off x="8796528" y="1572768"/>
            <a:ext cx="2514600" cy="274320"/>
          </a:xfrm>
          <a:prstGeom prst="rect">
            <a:avLst/>
          </a:prstGeom>
          <a:noFill/>
          <a:ln/>
        </p:spPr>
        <p:txBody>
          <a:bodyPr wrap="square" lIns="508" tIns="508" rIns="508" bIns="508" rtlCol="0" anchor="ctr">
            <a:normAutofit/>
          </a:bodyPr>
          <a:lstStyle/>
          <a:p>
            <a:pPr algn="l" indent="0" marL="0">
              <a:buNone/>
            </a:pPr>
            <a:r>
              <a:rPr lang="en-US" sz="1650" b="1" dirty="0">
                <a:solidFill>
                  <a:srgbClr val="0B1F5B"/>
                </a:solidFill>
                <a:latin typeface="Georgia" pitchFamily="34" charset="0"/>
                <a:ea typeface="Georgia" pitchFamily="34" charset="-122"/>
                <a:cs typeface="Georgia" pitchFamily="34" charset="-120"/>
              </a:rPr>
              <a:t>What we need to estimate</a:t>
            </a:r>
            <a:endParaRPr lang="en-US" sz="1650" dirty="0"/>
          </a:p>
        </p:txBody>
      </p:sp>
      <p:sp>
        <p:nvSpPr>
          <p:cNvPr id="14" name="Shape 10"/>
          <p:cNvSpPr/>
          <p:nvPr/>
        </p:nvSpPr>
        <p:spPr>
          <a:xfrm>
            <a:off x="8759952" y="2148840"/>
            <a:ext cx="2542032" cy="658368"/>
          </a:xfrm>
          <a:prstGeom prst="roundRect">
            <a:avLst>
              <a:gd name="adj" fmla="val 11111"/>
            </a:avLst>
          </a:prstGeom>
          <a:solidFill>
            <a:srgbClr val="EEF6FD"/>
          </a:solidFill>
          <a:ln w="12700">
            <a:solidFill>
              <a:srgbClr val="BFD8EA"/>
            </a:solidFill>
            <a:prstDash val="solid"/>
          </a:ln>
        </p:spPr>
      </p:sp>
      <p:sp>
        <p:nvSpPr>
          <p:cNvPr id="15" name="Text 11"/>
          <p:cNvSpPr/>
          <p:nvPr/>
        </p:nvSpPr>
        <p:spPr>
          <a:xfrm>
            <a:off x="8915400" y="2258568"/>
            <a:ext cx="749808" cy="182880"/>
          </a:xfrm>
          <a:prstGeom prst="rect">
            <a:avLst/>
          </a:prstGeom>
          <a:noFill/>
          <a:ln/>
        </p:spPr>
        <p:txBody>
          <a:bodyPr wrap="square" lIns="508" tIns="508" rIns="508" bIns="508" rtlCol="0" anchor="ctr">
            <a:normAutofit/>
          </a:bodyPr>
          <a:lstStyle/>
          <a:p>
            <a:pPr algn="l" indent="0" marL="0">
              <a:buNone/>
            </a:pPr>
            <a:r>
              <a:rPr lang="en-US" sz="1000" b="1" dirty="0">
                <a:solidFill>
                  <a:srgbClr val="1C67B5"/>
                </a:solidFill>
                <a:latin typeface="Aptos" pitchFamily="34" charset="0"/>
                <a:ea typeface="Aptos" pitchFamily="34" charset="-122"/>
                <a:cs typeface="Aptos" pitchFamily="34" charset="-120"/>
              </a:rPr>
              <a:t>CENTER</a:t>
            </a:r>
            <a:endParaRPr lang="en-US" sz="1000" dirty="0"/>
          </a:p>
        </p:txBody>
      </p:sp>
      <p:sp>
        <p:nvSpPr>
          <p:cNvPr id="16" name="Text 12"/>
          <p:cNvSpPr/>
          <p:nvPr/>
        </p:nvSpPr>
        <p:spPr>
          <a:xfrm>
            <a:off x="9710928" y="2249424"/>
            <a:ext cx="1280160" cy="182880"/>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mean / median</a:t>
            </a:r>
            <a:endParaRPr lang="en-US" sz="1150" dirty="0"/>
          </a:p>
        </p:txBody>
      </p:sp>
      <p:sp>
        <p:nvSpPr>
          <p:cNvPr id="17" name="Text 13"/>
          <p:cNvSpPr/>
          <p:nvPr/>
        </p:nvSpPr>
        <p:spPr>
          <a:xfrm>
            <a:off x="8915400" y="2478024"/>
            <a:ext cx="2148840" cy="192024"/>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Where is the recent background?</a:t>
            </a:r>
            <a:endParaRPr lang="en-US" sz="920" dirty="0"/>
          </a:p>
        </p:txBody>
      </p:sp>
      <p:sp>
        <p:nvSpPr>
          <p:cNvPr id="18" name="Shape 14"/>
          <p:cNvSpPr/>
          <p:nvPr/>
        </p:nvSpPr>
        <p:spPr>
          <a:xfrm>
            <a:off x="8759952" y="2990088"/>
            <a:ext cx="2542032" cy="658368"/>
          </a:xfrm>
          <a:prstGeom prst="roundRect">
            <a:avLst>
              <a:gd name="adj" fmla="val 11111"/>
            </a:avLst>
          </a:prstGeom>
          <a:solidFill>
            <a:srgbClr val="FFF8E6"/>
          </a:solidFill>
          <a:ln w="12700">
            <a:solidFill>
              <a:srgbClr val="E9A21B"/>
            </a:solidFill>
            <a:prstDash val="solid"/>
          </a:ln>
        </p:spPr>
      </p:sp>
      <p:sp>
        <p:nvSpPr>
          <p:cNvPr id="19" name="Text 15"/>
          <p:cNvSpPr/>
          <p:nvPr/>
        </p:nvSpPr>
        <p:spPr>
          <a:xfrm>
            <a:off x="8915400" y="3099816"/>
            <a:ext cx="749808" cy="182880"/>
          </a:xfrm>
          <a:prstGeom prst="rect">
            <a:avLst/>
          </a:prstGeom>
          <a:noFill/>
          <a:ln/>
        </p:spPr>
        <p:txBody>
          <a:bodyPr wrap="square" lIns="508" tIns="508" rIns="508" bIns="508" rtlCol="0" anchor="ctr">
            <a:normAutofit/>
          </a:bodyPr>
          <a:lstStyle/>
          <a:p>
            <a:pPr algn="l" indent="0" marL="0">
              <a:buNone/>
            </a:pPr>
            <a:r>
              <a:rPr lang="en-US" sz="1000" b="1" dirty="0">
                <a:solidFill>
                  <a:srgbClr val="E9A21B"/>
                </a:solidFill>
                <a:latin typeface="Aptos" pitchFamily="34" charset="0"/>
                <a:ea typeface="Aptos" pitchFamily="34" charset="-122"/>
                <a:cs typeface="Aptos" pitchFamily="34" charset="-120"/>
              </a:rPr>
              <a:t>SPREAD</a:t>
            </a:r>
            <a:endParaRPr lang="en-US" sz="1000" dirty="0"/>
          </a:p>
        </p:txBody>
      </p:sp>
      <p:sp>
        <p:nvSpPr>
          <p:cNvPr id="20" name="Text 16"/>
          <p:cNvSpPr/>
          <p:nvPr/>
        </p:nvSpPr>
        <p:spPr>
          <a:xfrm>
            <a:off x="9710928" y="3090672"/>
            <a:ext cx="1280160" cy="182880"/>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SD / MAD</a:t>
            </a:r>
            <a:endParaRPr lang="en-US" sz="1150" dirty="0"/>
          </a:p>
        </p:txBody>
      </p:sp>
      <p:sp>
        <p:nvSpPr>
          <p:cNvPr id="21" name="Text 17"/>
          <p:cNvSpPr/>
          <p:nvPr/>
        </p:nvSpPr>
        <p:spPr>
          <a:xfrm>
            <a:off x="8915400" y="3319272"/>
            <a:ext cx="2148840" cy="192024"/>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How much does it normally vary?</a:t>
            </a:r>
            <a:endParaRPr lang="en-US" sz="920" dirty="0"/>
          </a:p>
        </p:txBody>
      </p:sp>
      <p:sp>
        <p:nvSpPr>
          <p:cNvPr id="22" name="Shape 18"/>
          <p:cNvSpPr/>
          <p:nvPr/>
        </p:nvSpPr>
        <p:spPr>
          <a:xfrm>
            <a:off x="8759952" y="3831336"/>
            <a:ext cx="2542032" cy="658368"/>
          </a:xfrm>
          <a:prstGeom prst="roundRect">
            <a:avLst>
              <a:gd name="adj" fmla="val 11111"/>
            </a:avLst>
          </a:prstGeom>
          <a:solidFill>
            <a:srgbClr val="EEF6FD"/>
          </a:solidFill>
          <a:ln w="12700">
            <a:solidFill>
              <a:srgbClr val="BFD8EA"/>
            </a:solidFill>
            <a:prstDash val="solid"/>
          </a:ln>
        </p:spPr>
      </p:sp>
      <p:sp>
        <p:nvSpPr>
          <p:cNvPr id="23" name="Text 19"/>
          <p:cNvSpPr/>
          <p:nvPr/>
        </p:nvSpPr>
        <p:spPr>
          <a:xfrm>
            <a:off x="8915400" y="3941064"/>
            <a:ext cx="749808" cy="182880"/>
          </a:xfrm>
          <a:prstGeom prst="rect">
            <a:avLst/>
          </a:prstGeom>
          <a:noFill/>
          <a:ln/>
        </p:spPr>
        <p:txBody>
          <a:bodyPr wrap="square" lIns="508" tIns="508" rIns="508" bIns="508" rtlCol="0" anchor="ctr">
            <a:normAutofit/>
          </a:bodyPr>
          <a:lstStyle/>
          <a:p>
            <a:pPr algn="l" indent="0" marL="0">
              <a:buNone/>
            </a:pPr>
            <a:r>
              <a:rPr lang="en-US" sz="1000" b="1" dirty="0">
                <a:solidFill>
                  <a:srgbClr val="1C67B5"/>
                </a:solidFill>
                <a:latin typeface="Aptos" pitchFamily="34" charset="0"/>
                <a:ea typeface="Aptos" pitchFamily="34" charset="-122"/>
                <a:cs typeface="Aptos" pitchFamily="34" charset="-120"/>
              </a:rPr>
              <a:t>CONTEXT</a:t>
            </a:r>
            <a:endParaRPr lang="en-US" sz="1000" dirty="0"/>
          </a:p>
        </p:txBody>
      </p:sp>
      <p:sp>
        <p:nvSpPr>
          <p:cNvPr id="24" name="Text 20"/>
          <p:cNvSpPr/>
          <p:nvPr/>
        </p:nvSpPr>
        <p:spPr>
          <a:xfrm>
            <a:off x="9710928" y="3931920"/>
            <a:ext cx="1280160" cy="182880"/>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recent window</a:t>
            </a:r>
            <a:endParaRPr lang="en-US" sz="1150" dirty="0"/>
          </a:p>
        </p:txBody>
      </p:sp>
      <p:sp>
        <p:nvSpPr>
          <p:cNvPr id="25" name="Text 21"/>
          <p:cNvSpPr/>
          <p:nvPr/>
        </p:nvSpPr>
        <p:spPr>
          <a:xfrm>
            <a:off x="8915400" y="4160520"/>
            <a:ext cx="2148840" cy="192024"/>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What is normal right now?</a:t>
            </a:r>
            <a:endParaRPr lang="en-US" sz="920" dirty="0"/>
          </a:p>
        </p:txBody>
      </p:sp>
      <p:sp>
        <p:nvSpPr>
          <p:cNvPr id="26" name="Shape 22"/>
          <p:cNvSpPr/>
          <p:nvPr/>
        </p:nvSpPr>
        <p:spPr>
          <a:xfrm>
            <a:off x="8759952" y="4901184"/>
            <a:ext cx="2542032" cy="475488"/>
          </a:xfrm>
          <a:prstGeom prst="roundRect">
            <a:avLst>
              <a:gd name="adj" fmla="val 15385"/>
            </a:avLst>
          </a:prstGeom>
          <a:solidFill>
            <a:srgbClr val="FFF4F4"/>
          </a:solidFill>
          <a:ln w="12700">
            <a:solidFill>
              <a:srgbClr val="C73B3B"/>
            </a:solidFill>
            <a:prstDash val="solid"/>
          </a:ln>
        </p:spPr>
      </p:sp>
      <p:sp>
        <p:nvSpPr>
          <p:cNvPr id="27" name="Text 23"/>
          <p:cNvSpPr/>
          <p:nvPr/>
        </p:nvSpPr>
        <p:spPr>
          <a:xfrm>
            <a:off x="8869680" y="4974336"/>
            <a:ext cx="2322576" cy="32918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Current point excluded from its own trailing baseline.</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sp>
        <p:nvSpPr>
          <p:cNvPr id="4" name="Text 2"/>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Center, Spread and Robustness</a:t>
            </a:r>
            <a:endParaRPr lang="en-US" sz="2500" dirty="0"/>
          </a:p>
        </p:txBody>
      </p:sp>
      <p:sp>
        <p:nvSpPr>
          <p:cNvPr id="5" name="Text 3"/>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Mean, standard deviation, median and MAD answer different questions</a:t>
            </a:r>
            <a:endParaRPr lang="en-US" sz="1450" dirty="0"/>
          </a:p>
        </p:txBody>
      </p:sp>
      <p:sp>
        <p:nvSpPr>
          <p:cNvPr id="6" name="Shape 4"/>
          <p:cNvSpPr/>
          <p:nvPr/>
        </p:nvSpPr>
        <p:spPr>
          <a:xfrm>
            <a:off x="713232" y="1353312"/>
            <a:ext cx="5166360" cy="2029968"/>
          </a:xfrm>
          <a:prstGeom prst="roundRect">
            <a:avLst>
              <a:gd name="adj" fmla="val 3604"/>
            </a:avLst>
          </a:prstGeom>
          <a:solidFill>
            <a:srgbClr val="FFFFFF"/>
          </a:solidFill>
          <a:ln w="12700">
            <a:solidFill>
              <a:srgbClr val="1C67B5"/>
            </a:solidFill>
            <a:prstDash val="solid"/>
          </a:ln>
        </p:spPr>
      </p:sp>
      <p:sp>
        <p:nvSpPr>
          <p:cNvPr id="7" name="Shape 5"/>
          <p:cNvSpPr/>
          <p:nvPr/>
        </p:nvSpPr>
        <p:spPr>
          <a:xfrm>
            <a:off x="896112" y="1517904"/>
            <a:ext cx="1508760" cy="256032"/>
          </a:xfrm>
          <a:prstGeom prst="roundRect">
            <a:avLst>
              <a:gd name="adj" fmla="val 21429"/>
            </a:avLst>
          </a:prstGeom>
          <a:solidFill>
            <a:srgbClr val="1C67B5"/>
          </a:solidFill>
          <a:ln w="12700">
            <a:solidFill>
              <a:srgbClr val="1C67B5">
                <a:alpha val="0"/>
              </a:srgbClr>
            </a:solidFill>
            <a:prstDash val="solid"/>
          </a:ln>
        </p:spPr>
      </p:sp>
      <p:sp>
        <p:nvSpPr>
          <p:cNvPr id="8" name="Text 6"/>
          <p:cNvSpPr/>
          <p:nvPr/>
        </p:nvSpPr>
        <p:spPr>
          <a:xfrm>
            <a:off x="941832" y="1527048"/>
            <a:ext cx="1417320"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MEAN</a:t>
            </a:r>
            <a:endParaRPr lang="en-US" sz="900" dirty="0"/>
          </a:p>
        </p:txBody>
      </p:sp>
      <p:sp>
        <p:nvSpPr>
          <p:cNvPr id="9" name="Text 7"/>
          <p:cNvSpPr/>
          <p:nvPr/>
        </p:nvSpPr>
        <p:spPr>
          <a:xfrm>
            <a:off x="914400" y="1920240"/>
            <a:ext cx="4526280" cy="411480"/>
          </a:xfrm>
          <a:prstGeom prst="rect">
            <a:avLst/>
          </a:prstGeom>
          <a:noFill/>
          <a:ln/>
        </p:spPr>
        <p:txBody>
          <a:bodyPr wrap="square" lIns="508" tIns="508" rIns="508" bIns="508" rtlCol="0" anchor="ctr">
            <a:normAutofit/>
          </a:bodyPr>
          <a:lstStyle/>
          <a:p>
            <a:pPr algn="l" indent="0" marL="0">
              <a:buNone/>
            </a:pPr>
            <a:r>
              <a:rPr lang="en-US" sz="1450" b="1" dirty="0">
                <a:solidFill>
                  <a:srgbClr val="0B1F5B"/>
                </a:solidFill>
                <a:latin typeface="Aptos" pitchFamily="34" charset="0"/>
                <a:ea typeface="Aptos" pitchFamily="34" charset="-122"/>
                <a:cs typeface="Aptos" pitchFamily="34" charset="-120"/>
              </a:rPr>
              <a:t>Where is the recent level centered?</a:t>
            </a:r>
            <a:endParaRPr lang="en-US" sz="1450" dirty="0"/>
          </a:p>
        </p:txBody>
      </p:sp>
      <p:sp>
        <p:nvSpPr>
          <p:cNvPr id="10" name="Text 8"/>
          <p:cNvSpPr/>
          <p:nvPr/>
        </p:nvSpPr>
        <p:spPr>
          <a:xfrm>
            <a:off x="914400" y="2404872"/>
            <a:ext cx="4526280" cy="384048"/>
          </a:xfrm>
          <a:prstGeom prst="rect">
            <a:avLst/>
          </a:prstGeom>
          <a:noFill/>
          <a:ln/>
        </p:spPr>
        <p:txBody>
          <a:bodyPr wrap="square" lIns="508" tIns="508" rIns="508" bIns="508" rtlCol="0" anchor="ctr">
            <a:normAutofit/>
          </a:bodyPr>
          <a:lstStyle/>
          <a:p>
            <a:pPr algn="ctr" indent="0" marL="0">
              <a:buNone/>
            </a:pPr>
            <a:r>
              <a:rPr lang="en-US" sz="1600" dirty="0">
                <a:solidFill>
                  <a:srgbClr val="1C67B5"/>
                </a:solidFill>
                <a:latin typeface="Cambria Math" pitchFamily="34" charset="0"/>
                <a:ea typeface="Cambria Math" pitchFamily="34" charset="-122"/>
                <a:cs typeface="Cambria Math" pitchFamily="34" charset="-120"/>
              </a:rPr>
              <a:t>x̄ = Σxᵢ / n</a:t>
            </a:r>
            <a:endParaRPr lang="en-US" sz="1600" dirty="0"/>
          </a:p>
        </p:txBody>
      </p:sp>
      <p:sp>
        <p:nvSpPr>
          <p:cNvPr id="11" name="Text 9"/>
          <p:cNvSpPr/>
          <p:nvPr/>
        </p:nvSpPr>
        <p:spPr>
          <a:xfrm>
            <a:off x="914400" y="2926080"/>
            <a:ext cx="4526280" cy="201168"/>
          </a:xfrm>
          <a:prstGeom prst="rect">
            <a:avLst/>
          </a:prstGeom>
          <a:noFill/>
          <a:ln/>
        </p:spPr>
        <p:txBody>
          <a:bodyPr wrap="square" lIns="508" tIns="508" rIns="508" bIns="508" rtlCol="0" anchor="ctr">
            <a:normAutofit/>
          </a:bodyPr>
          <a:lstStyle/>
          <a:p>
            <a:pPr algn="ctr" indent="0" marL="0">
              <a:buNone/>
            </a:pPr>
            <a:r>
              <a:rPr lang="en-US" sz="960" dirty="0">
                <a:solidFill>
                  <a:srgbClr val="637B93"/>
                </a:solidFill>
                <a:latin typeface="Aptos" pitchFamily="34" charset="0"/>
                <a:ea typeface="Aptos" pitchFamily="34" charset="-122"/>
                <a:cs typeface="Aptos" pitchFamily="34" charset="-120"/>
              </a:rPr>
              <a:t>Conventional estimator</a:t>
            </a:r>
            <a:endParaRPr lang="en-US" sz="960" dirty="0"/>
          </a:p>
        </p:txBody>
      </p:sp>
      <p:sp>
        <p:nvSpPr>
          <p:cNvPr id="12" name="Shape 10"/>
          <p:cNvSpPr/>
          <p:nvPr/>
        </p:nvSpPr>
        <p:spPr>
          <a:xfrm>
            <a:off x="6245352" y="1353312"/>
            <a:ext cx="5166360" cy="2029968"/>
          </a:xfrm>
          <a:prstGeom prst="roundRect">
            <a:avLst>
              <a:gd name="adj" fmla="val 3604"/>
            </a:avLst>
          </a:prstGeom>
          <a:solidFill>
            <a:srgbClr val="FFFFFF"/>
          </a:solidFill>
          <a:ln w="12700">
            <a:solidFill>
              <a:srgbClr val="7454C7"/>
            </a:solidFill>
            <a:prstDash val="solid"/>
          </a:ln>
        </p:spPr>
      </p:sp>
      <p:sp>
        <p:nvSpPr>
          <p:cNvPr id="13" name="Shape 11"/>
          <p:cNvSpPr/>
          <p:nvPr/>
        </p:nvSpPr>
        <p:spPr>
          <a:xfrm>
            <a:off x="6428232" y="1517904"/>
            <a:ext cx="1508760" cy="256032"/>
          </a:xfrm>
          <a:prstGeom prst="roundRect">
            <a:avLst>
              <a:gd name="adj" fmla="val 21429"/>
            </a:avLst>
          </a:prstGeom>
          <a:solidFill>
            <a:srgbClr val="7454C7"/>
          </a:solidFill>
          <a:ln w="12700">
            <a:solidFill>
              <a:srgbClr val="7454C7">
                <a:alpha val="0"/>
              </a:srgbClr>
            </a:solidFill>
            <a:prstDash val="solid"/>
          </a:ln>
        </p:spPr>
      </p:sp>
      <p:sp>
        <p:nvSpPr>
          <p:cNvPr id="14" name="Text 12"/>
          <p:cNvSpPr/>
          <p:nvPr/>
        </p:nvSpPr>
        <p:spPr>
          <a:xfrm>
            <a:off x="6473952" y="1527048"/>
            <a:ext cx="1417320"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STANDARD DEVIATION</a:t>
            </a:r>
            <a:endParaRPr lang="en-US" sz="900" dirty="0"/>
          </a:p>
        </p:txBody>
      </p:sp>
      <p:sp>
        <p:nvSpPr>
          <p:cNvPr id="15" name="Text 13"/>
          <p:cNvSpPr/>
          <p:nvPr/>
        </p:nvSpPr>
        <p:spPr>
          <a:xfrm>
            <a:off x="6446520" y="1920240"/>
            <a:ext cx="4526280" cy="411480"/>
          </a:xfrm>
          <a:prstGeom prst="rect">
            <a:avLst/>
          </a:prstGeom>
          <a:noFill/>
          <a:ln/>
        </p:spPr>
        <p:txBody>
          <a:bodyPr wrap="square" lIns="508" tIns="508" rIns="508" bIns="508" rtlCol="0" anchor="ctr">
            <a:normAutofit/>
          </a:bodyPr>
          <a:lstStyle/>
          <a:p>
            <a:pPr algn="l" indent="0" marL="0">
              <a:buNone/>
            </a:pPr>
            <a:r>
              <a:rPr lang="en-US" sz="1450" b="1" dirty="0">
                <a:solidFill>
                  <a:srgbClr val="0B1F5B"/>
                </a:solidFill>
                <a:latin typeface="Aptos" pitchFamily="34" charset="0"/>
                <a:ea typeface="Aptos" pitchFamily="34" charset="-122"/>
                <a:cs typeface="Aptos" pitchFamily="34" charset="-120"/>
              </a:rPr>
              <a:t>How much does recent background normally fluctuate?</a:t>
            </a:r>
            <a:endParaRPr lang="en-US" sz="1450" dirty="0"/>
          </a:p>
        </p:txBody>
      </p:sp>
      <p:sp>
        <p:nvSpPr>
          <p:cNvPr id="16" name="Text 14"/>
          <p:cNvSpPr/>
          <p:nvPr/>
        </p:nvSpPr>
        <p:spPr>
          <a:xfrm>
            <a:off x="6446520" y="2404872"/>
            <a:ext cx="4526280" cy="384048"/>
          </a:xfrm>
          <a:prstGeom prst="rect">
            <a:avLst/>
          </a:prstGeom>
          <a:noFill/>
          <a:ln/>
        </p:spPr>
        <p:txBody>
          <a:bodyPr wrap="square" lIns="508" tIns="508" rIns="508" bIns="508" rtlCol="0" anchor="ctr">
            <a:normAutofit/>
          </a:bodyPr>
          <a:lstStyle/>
          <a:p>
            <a:pPr algn="ctr" indent="0" marL="0">
              <a:buNone/>
            </a:pPr>
            <a:r>
              <a:rPr lang="en-US" sz="1600" dirty="0">
                <a:solidFill>
                  <a:srgbClr val="7454C7"/>
                </a:solidFill>
                <a:latin typeface="Cambria Math" pitchFamily="34" charset="0"/>
                <a:ea typeface="Cambria Math" pitchFamily="34" charset="-122"/>
                <a:cs typeface="Cambria Math" pitchFamily="34" charset="-120"/>
              </a:rPr>
              <a:t>s = √[Σ(xᵢ−x̄)²/(n−1)]</a:t>
            </a:r>
            <a:endParaRPr lang="en-US" sz="1600" dirty="0"/>
          </a:p>
        </p:txBody>
      </p:sp>
      <p:sp>
        <p:nvSpPr>
          <p:cNvPr id="17" name="Text 15"/>
          <p:cNvSpPr/>
          <p:nvPr/>
        </p:nvSpPr>
        <p:spPr>
          <a:xfrm>
            <a:off x="6446520" y="2926080"/>
            <a:ext cx="4526280" cy="201168"/>
          </a:xfrm>
          <a:prstGeom prst="rect">
            <a:avLst/>
          </a:prstGeom>
          <a:noFill/>
          <a:ln/>
        </p:spPr>
        <p:txBody>
          <a:bodyPr wrap="square" lIns="508" tIns="508" rIns="508" bIns="508" rtlCol="0" anchor="ctr">
            <a:normAutofit/>
          </a:bodyPr>
          <a:lstStyle/>
          <a:p>
            <a:pPr algn="ctr" indent="0" marL="0">
              <a:buNone/>
            </a:pPr>
            <a:r>
              <a:rPr lang="en-US" sz="960" dirty="0">
                <a:solidFill>
                  <a:srgbClr val="637B93"/>
                </a:solidFill>
                <a:latin typeface="Aptos" pitchFamily="34" charset="0"/>
                <a:ea typeface="Aptos" pitchFamily="34" charset="-122"/>
                <a:cs typeface="Aptos" pitchFamily="34" charset="-120"/>
              </a:rPr>
              <a:t>Conventional estimator</a:t>
            </a:r>
            <a:endParaRPr lang="en-US" sz="960" dirty="0"/>
          </a:p>
        </p:txBody>
      </p:sp>
      <p:sp>
        <p:nvSpPr>
          <p:cNvPr id="18" name="Shape 16"/>
          <p:cNvSpPr/>
          <p:nvPr/>
        </p:nvSpPr>
        <p:spPr>
          <a:xfrm>
            <a:off x="713232" y="3685032"/>
            <a:ext cx="5166360" cy="2029968"/>
          </a:xfrm>
          <a:prstGeom prst="roundRect">
            <a:avLst>
              <a:gd name="adj" fmla="val 3604"/>
            </a:avLst>
          </a:prstGeom>
          <a:solidFill>
            <a:srgbClr val="FFFFFF"/>
          </a:solidFill>
          <a:ln w="12700">
            <a:solidFill>
              <a:srgbClr val="2E8B57"/>
            </a:solidFill>
            <a:prstDash val="solid"/>
          </a:ln>
        </p:spPr>
      </p:sp>
      <p:sp>
        <p:nvSpPr>
          <p:cNvPr id="19" name="Shape 17"/>
          <p:cNvSpPr/>
          <p:nvPr/>
        </p:nvSpPr>
        <p:spPr>
          <a:xfrm>
            <a:off x="896112" y="3849624"/>
            <a:ext cx="1508760" cy="256032"/>
          </a:xfrm>
          <a:prstGeom prst="roundRect">
            <a:avLst>
              <a:gd name="adj" fmla="val 21429"/>
            </a:avLst>
          </a:prstGeom>
          <a:solidFill>
            <a:srgbClr val="2E8B57"/>
          </a:solidFill>
          <a:ln w="12700">
            <a:solidFill>
              <a:srgbClr val="2E8B57">
                <a:alpha val="0"/>
              </a:srgbClr>
            </a:solidFill>
            <a:prstDash val="solid"/>
          </a:ln>
        </p:spPr>
      </p:sp>
      <p:sp>
        <p:nvSpPr>
          <p:cNvPr id="20" name="Text 18"/>
          <p:cNvSpPr/>
          <p:nvPr/>
        </p:nvSpPr>
        <p:spPr>
          <a:xfrm>
            <a:off x="941832" y="3858768"/>
            <a:ext cx="1417320"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MEDIAN</a:t>
            </a:r>
            <a:endParaRPr lang="en-US" sz="900" dirty="0"/>
          </a:p>
        </p:txBody>
      </p:sp>
      <p:sp>
        <p:nvSpPr>
          <p:cNvPr id="21" name="Text 19"/>
          <p:cNvSpPr/>
          <p:nvPr/>
        </p:nvSpPr>
        <p:spPr>
          <a:xfrm>
            <a:off x="914400" y="4251960"/>
            <a:ext cx="4526280" cy="411480"/>
          </a:xfrm>
          <a:prstGeom prst="rect">
            <a:avLst/>
          </a:prstGeom>
          <a:noFill/>
          <a:ln/>
        </p:spPr>
        <p:txBody>
          <a:bodyPr wrap="square" lIns="508" tIns="508" rIns="508" bIns="508" rtlCol="0" anchor="ctr">
            <a:normAutofit/>
          </a:bodyPr>
          <a:lstStyle/>
          <a:p>
            <a:pPr algn="l" indent="0" marL="0">
              <a:buNone/>
            </a:pPr>
            <a:r>
              <a:rPr lang="en-US" sz="1450" b="1" dirty="0">
                <a:solidFill>
                  <a:srgbClr val="0B1F5B"/>
                </a:solidFill>
                <a:latin typeface="Aptos" pitchFamily="34" charset="0"/>
                <a:ea typeface="Aptos" pitchFamily="34" charset="-122"/>
                <a:cs typeface="Aptos" pitchFamily="34" charset="-120"/>
              </a:rPr>
              <a:t>What is the middle recent value?</a:t>
            </a:r>
            <a:endParaRPr lang="en-US" sz="1450" dirty="0"/>
          </a:p>
        </p:txBody>
      </p:sp>
      <p:sp>
        <p:nvSpPr>
          <p:cNvPr id="22" name="Text 20"/>
          <p:cNvSpPr/>
          <p:nvPr/>
        </p:nvSpPr>
        <p:spPr>
          <a:xfrm>
            <a:off x="914400" y="4736592"/>
            <a:ext cx="4526280" cy="384048"/>
          </a:xfrm>
          <a:prstGeom prst="rect">
            <a:avLst/>
          </a:prstGeom>
          <a:noFill/>
          <a:ln/>
        </p:spPr>
        <p:txBody>
          <a:bodyPr wrap="square" lIns="508" tIns="508" rIns="508" bIns="508" rtlCol="0" anchor="ctr">
            <a:normAutofit/>
          </a:bodyPr>
          <a:lstStyle/>
          <a:p>
            <a:pPr algn="ctr" indent="0" marL="0">
              <a:buNone/>
            </a:pPr>
            <a:r>
              <a:rPr lang="en-US" sz="1600" dirty="0">
                <a:solidFill>
                  <a:srgbClr val="2E8B57"/>
                </a:solidFill>
                <a:latin typeface="Cambria Math" pitchFamily="34" charset="0"/>
                <a:ea typeface="Cambria Math" pitchFamily="34" charset="-122"/>
                <a:cs typeface="Cambria Math" pitchFamily="34" charset="-120"/>
              </a:rPr>
              <a:t>middle of sorted observations</a:t>
            </a:r>
            <a:endParaRPr lang="en-US" sz="1600" dirty="0"/>
          </a:p>
        </p:txBody>
      </p:sp>
      <p:sp>
        <p:nvSpPr>
          <p:cNvPr id="23" name="Text 21"/>
          <p:cNvSpPr/>
          <p:nvPr/>
        </p:nvSpPr>
        <p:spPr>
          <a:xfrm>
            <a:off x="914400" y="5257800"/>
            <a:ext cx="4526280" cy="201168"/>
          </a:xfrm>
          <a:prstGeom prst="rect">
            <a:avLst/>
          </a:prstGeom>
          <a:noFill/>
          <a:ln/>
        </p:spPr>
        <p:txBody>
          <a:bodyPr wrap="square" lIns="508" tIns="508" rIns="508" bIns="508" rtlCol="0" anchor="ctr">
            <a:normAutofit/>
          </a:bodyPr>
          <a:lstStyle/>
          <a:p>
            <a:pPr algn="ctr" indent="0" marL="0">
              <a:buNone/>
            </a:pPr>
            <a:r>
              <a:rPr lang="en-US" sz="960" dirty="0">
                <a:solidFill>
                  <a:srgbClr val="637B93"/>
                </a:solidFill>
                <a:latin typeface="Aptos" pitchFamily="34" charset="0"/>
                <a:ea typeface="Aptos" pitchFamily="34" charset="-122"/>
                <a:cs typeface="Aptos" pitchFamily="34" charset="-120"/>
              </a:rPr>
              <a:t>Robust estimator</a:t>
            </a:r>
            <a:endParaRPr lang="en-US" sz="960" dirty="0"/>
          </a:p>
        </p:txBody>
      </p:sp>
      <p:sp>
        <p:nvSpPr>
          <p:cNvPr id="24" name="Shape 22"/>
          <p:cNvSpPr/>
          <p:nvPr/>
        </p:nvSpPr>
        <p:spPr>
          <a:xfrm>
            <a:off x="6245352" y="3685032"/>
            <a:ext cx="5166360" cy="2029968"/>
          </a:xfrm>
          <a:prstGeom prst="roundRect">
            <a:avLst>
              <a:gd name="adj" fmla="val 3604"/>
            </a:avLst>
          </a:prstGeom>
          <a:solidFill>
            <a:srgbClr val="FFFFFF"/>
          </a:solidFill>
          <a:ln w="12700">
            <a:solidFill>
              <a:srgbClr val="E9A21B"/>
            </a:solidFill>
            <a:prstDash val="solid"/>
          </a:ln>
        </p:spPr>
      </p:sp>
      <p:sp>
        <p:nvSpPr>
          <p:cNvPr id="25" name="Shape 23"/>
          <p:cNvSpPr/>
          <p:nvPr/>
        </p:nvSpPr>
        <p:spPr>
          <a:xfrm>
            <a:off x="6428232" y="3849624"/>
            <a:ext cx="1508760" cy="256032"/>
          </a:xfrm>
          <a:prstGeom prst="roundRect">
            <a:avLst>
              <a:gd name="adj" fmla="val 21429"/>
            </a:avLst>
          </a:prstGeom>
          <a:solidFill>
            <a:srgbClr val="E9A21B"/>
          </a:solidFill>
          <a:ln w="12700">
            <a:solidFill>
              <a:srgbClr val="E9A21B">
                <a:alpha val="0"/>
              </a:srgbClr>
            </a:solidFill>
            <a:prstDash val="solid"/>
          </a:ln>
        </p:spPr>
      </p:sp>
      <p:sp>
        <p:nvSpPr>
          <p:cNvPr id="26" name="Text 24"/>
          <p:cNvSpPr/>
          <p:nvPr/>
        </p:nvSpPr>
        <p:spPr>
          <a:xfrm>
            <a:off x="6473952" y="3858768"/>
            <a:ext cx="1417320"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MAD</a:t>
            </a:r>
            <a:endParaRPr lang="en-US" sz="900" dirty="0"/>
          </a:p>
        </p:txBody>
      </p:sp>
      <p:sp>
        <p:nvSpPr>
          <p:cNvPr id="27" name="Text 25"/>
          <p:cNvSpPr/>
          <p:nvPr/>
        </p:nvSpPr>
        <p:spPr>
          <a:xfrm>
            <a:off x="6446520" y="4251960"/>
            <a:ext cx="4526280" cy="411480"/>
          </a:xfrm>
          <a:prstGeom prst="rect">
            <a:avLst/>
          </a:prstGeom>
          <a:noFill/>
          <a:ln/>
        </p:spPr>
        <p:txBody>
          <a:bodyPr wrap="square" lIns="508" tIns="508" rIns="508" bIns="508" rtlCol="0" anchor="ctr">
            <a:normAutofit/>
          </a:bodyPr>
          <a:lstStyle/>
          <a:p>
            <a:pPr algn="l" indent="0" marL="0">
              <a:buNone/>
            </a:pPr>
            <a:r>
              <a:rPr lang="en-US" sz="1450" b="1" dirty="0">
                <a:solidFill>
                  <a:srgbClr val="0B1F5B"/>
                </a:solidFill>
                <a:latin typeface="Aptos" pitchFamily="34" charset="0"/>
                <a:ea typeface="Aptos" pitchFamily="34" charset="-122"/>
                <a:cs typeface="Aptos" pitchFamily="34" charset="-120"/>
              </a:rPr>
              <a:t>How much does it vary without being dominated by extremes?</a:t>
            </a:r>
            <a:endParaRPr lang="en-US" sz="1450" dirty="0"/>
          </a:p>
        </p:txBody>
      </p:sp>
      <p:sp>
        <p:nvSpPr>
          <p:cNvPr id="28" name="Text 26"/>
          <p:cNvSpPr/>
          <p:nvPr/>
        </p:nvSpPr>
        <p:spPr>
          <a:xfrm>
            <a:off x="6446520" y="4736592"/>
            <a:ext cx="4526280" cy="384048"/>
          </a:xfrm>
          <a:prstGeom prst="rect">
            <a:avLst/>
          </a:prstGeom>
          <a:noFill/>
          <a:ln/>
        </p:spPr>
        <p:txBody>
          <a:bodyPr wrap="square" lIns="508" tIns="508" rIns="508" bIns="508" rtlCol="0" anchor="ctr">
            <a:normAutofit/>
          </a:bodyPr>
          <a:lstStyle/>
          <a:p>
            <a:pPr algn="ctr" indent="0" marL="0">
              <a:buNone/>
            </a:pPr>
            <a:r>
              <a:rPr lang="en-US" sz="1600" dirty="0">
                <a:solidFill>
                  <a:srgbClr val="E9A21B"/>
                </a:solidFill>
                <a:latin typeface="Cambria Math" pitchFamily="34" charset="0"/>
                <a:ea typeface="Cambria Math" pitchFamily="34" charset="-122"/>
                <a:cs typeface="Cambria Math" pitchFamily="34" charset="-120"/>
              </a:rPr>
              <a:t>median(|xᵢ−median(x)|)</a:t>
            </a:r>
            <a:endParaRPr lang="en-US" sz="1600" dirty="0"/>
          </a:p>
        </p:txBody>
      </p:sp>
      <p:sp>
        <p:nvSpPr>
          <p:cNvPr id="29" name="Text 27"/>
          <p:cNvSpPr/>
          <p:nvPr/>
        </p:nvSpPr>
        <p:spPr>
          <a:xfrm>
            <a:off x="6446520" y="5257800"/>
            <a:ext cx="4526280" cy="201168"/>
          </a:xfrm>
          <a:prstGeom prst="rect">
            <a:avLst/>
          </a:prstGeom>
          <a:noFill/>
          <a:ln/>
        </p:spPr>
        <p:txBody>
          <a:bodyPr wrap="square" lIns="508" tIns="508" rIns="508" bIns="508" rtlCol="0" anchor="ctr">
            <a:normAutofit/>
          </a:bodyPr>
          <a:lstStyle/>
          <a:p>
            <a:pPr algn="ctr" indent="0" marL="0">
              <a:buNone/>
            </a:pPr>
            <a:r>
              <a:rPr lang="en-US" sz="960" dirty="0">
                <a:solidFill>
                  <a:srgbClr val="637B93"/>
                </a:solidFill>
                <a:latin typeface="Aptos" pitchFamily="34" charset="0"/>
                <a:ea typeface="Aptos" pitchFamily="34" charset="-122"/>
                <a:cs typeface="Aptos" pitchFamily="34" charset="-120"/>
              </a:rPr>
              <a:t>Robust estimator</a:t>
            </a:r>
            <a:endParaRPr lang="en-US" sz="960" dirty="0"/>
          </a:p>
        </p:txBody>
      </p:sp>
      <p:sp>
        <p:nvSpPr>
          <p:cNvPr id="30" name="Shape 28"/>
          <p:cNvSpPr/>
          <p:nvPr/>
        </p:nvSpPr>
        <p:spPr>
          <a:xfrm>
            <a:off x="3547872" y="6035040"/>
            <a:ext cx="5074920" cy="329184"/>
          </a:xfrm>
          <a:prstGeom prst="roundRect">
            <a:avLst>
              <a:gd name="adj" fmla="val 22222"/>
            </a:avLst>
          </a:prstGeom>
          <a:solidFill>
            <a:srgbClr val="FFF8E6"/>
          </a:solidFill>
          <a:ln w="12700">
            <a:solidFill>
              <a:srgbClr val="E9A21B"/>
            </a:solidFill>
            <a:prstDash val="solid"/>
          </a:ln>
        </p:spPr>
      </p:sp>
      <p:sp>
        <p:nvSpPr>
          <p:cNvPr id="31" name="Text 29"/>
          <p:cNvSpPr/>
          <p:nvPr/>
        </p:nvSpPr>
        <p:spPr>
          <a:xfrm>
            <a:off x="3657600" y="6108192"/>
            <a:ext cx="4855464" cy="182880"/>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Scaled MAD = 1.4826 × raw MAD (applied once)</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sp>
        <p:nvSpPr>
          <p:cNvPr id="4" name="Text 2"/>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Why Statistics Must Move With Time</a:t>
            </a:r>
            <a:endParaRPr lang="en-US" sz="2500" dirty="0"/>
          </a:p>
        </p:txBody>
      </p:sp>
      <p:sp>
        <p:nvSpPr>
          <p:cNvPr id="5" name="Text 3"/>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Rolling statistics estimate what is normal right now</a:t>
            </a:r>
            <a:endParaRPr lang="en-US" sz="1450" dirty="0"/>
          </a:p>
        </p:txBody>
      </p:sp>
      <p:sp>
        <p:nvSpPr>
          <p:cNvPr id="6" name="Shape 4"/>
          <p:cNvSpPr/>
          <p:nvPr/>
        </p:nvSpPr>
        <p:spPr>
          <a:xfrm>
            <a:off x="658368" y="1325880"/>
            <a:ext cx="7406640" cy="4526280"/>
          </a:xfrm>
          <a:prstGeom prst="roundRect">
            <a:avLst>
              <a:gd name="adj" fmla="val 1616"/>
            </a:avLst>
          </a:prstGeom>
          <a:solidFill>
            <a:srgbClr val="FFFFFF"/>
          </a:solidFill>
          <a:ln w="12700">
            <a:solidFill>
              <a:srgbClr val="BDD7EC"/>
            </a:solidFill>
            <a:prstDash val="solid"/>
          </a:ln>
        </p:spPr>
      </p:sp>
      <p:pic>
        <p:nvPicPr>
          <p:cNvPr id="7" name="Image 0" descr="/mnt/data/ppt_assets/rolling_background_actual.png">    </p:cNvPr>
          <p:cNvPicPr>
            <a:picLocks noChangeAspect="1"/>
          </p:cNvPicPr>
          <p:nvPr/>
        </p:nvPicPr>
        <p:blipFill>
          <a:blip r:embed="rId1"/>
          <a:stretch>
            <a:fillRect/>
          </a:stretch>
        </p:blipFill>
        <p:spPr>
          <a:xfrm>
            <a:off x="877824" y="2125564"/>
            <a:ext cx="6967728" cy="2533719"/>
          </a:xfrm>
          <a:prstGeom prst="rect">
            <a:avLst/>
          </a:prstGeom>
        </p:spPr>
      </p:pic>
      <p:sp>
        <p:nvSpPr>
          <p:cNvPr id="8" name="Shape 5"/>
          <p:cNvSpPr/>
          <p:nvPr/>
        </p:nvSpPr>
        <p:spPr>
          <a:xfrm>
            <a:off x="2130552" y="2011680"/>
            <a:ext cx="1417320" cy="2359152"/>
          </a:xfrm>
          <a:prstGeom prst="rect">
            <a:avLst/>
          </a:prstGeom>
          <a:solidFill>
            <a:srgbClr val="A8DDF1">
              <a:alpha val="30000"/>
            </a:srgbClr>
          </a:solidFill>
          <a:ln w="15240">
            <a:solidFill>
              <a:srgbClr val="25A7D9"/>
            </a:solidFill>
            <a:prstDash val="solid"/>
          </a:ln>
        </p:spPr>
      </p:sp>
      <p:sp>
        <p:nvSpPr>
          <p:cNvPr id="9" name="Text 6"/>
          <p:cNvSpPr/>
          <p:nvPr/>
        </p:nvSpPr>
        <p:spPr>
          <a:xfrm>
            <a:off x="2048256" y="1764792"/>
            <a:ext cx="1627632" cy="210312"/>
          </a:xfrm>
          <a:prstGeom prst="rect">
            <a:avLst/>
          </a:prstGeom>
          <a:noFill/>
          <a:ln/>
        </p:spPr>
        <p:txBody>
          <a:bodyPr wrap="square" lIns="508" tIns="508" rIns="508" bIns="508" rtlCol="0" anchor="ctr">
            <a:normAutofit/>
          </a:bodyPr>
          <a:lstStyle/>
          <a:p>
            <a:pPr algn="ctr" indent="0" marL="0">
              <a:buNone/>
            </a:pPr>
            <a:r>
              <a:rPr lang="en-US" sz="940" b="1" dirty="0">
                <a:solidFill>
                  <a:srgbClr val="25A7D9"/>
                </a:solidFill>
                <a:latin typeface="Aptos" pitchFamily="34" charset="0"/>
                <a:ea typeface="Aptos" pitchFamily="34" charset="-122"/>
                <a:cs typeface="Aptos" pitchFamily="34" charset="-120"/>
              </a:rPr>
              <a:t>30-min trailing window</a:t>
            </a:r>
            <a:endParaRPr lang="en-US" sz="940" dirty="0"/>
          </a:p>
        </p:txBody>
      </p:sp>
      <p:sp>
        <p:nvSpPr>
          <p:cNvPr id="10" name="Shape 7"/>
          <p:cNvSpPr/>
          <p:nvPr/>
        </p:nvSpPr>
        <p:spPr>
          <a:xfrm>
            <a:off x="8302752" y="1325880"/>
            <a:ext cx="3246120" cy="4526280"/>
          </a:xfrm>
          <a:prstGeom prst="roundRect">
            <a:avLst>
              <a:gd name="adj" fmla="val 2254"/>
            </a:avLst>
          </a:prstGeom>
          <a:solidFill>
            <a:srgbClr val="EEF6FD"/>
          </a:solidFill>
          <a:ln w="12700">
            <a:solidFill>
              <a:srgbClr val="BDD7EC"/>
            </a:solidFill>
            <a:prstDash val="solid"/>
          </a:ln>
        </p:spPr>
      </p:sp>
      <p:sp>
        <p:nvSpPr>
          <p:cNvPr id="11" name="Text 8"/>
          <p:cNvSpPr/>
          <p:nvPr/>
        </p:nvSpPr>
        <p:spPr>
          <a:xfrm>
            <a:off x="8641080" y="1609344"/>
            <a:ext cx="2560320"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At each minute</a:t>
            </a:r>
            <a:endParaRPr lang="en-US" sz="1700" dirty="0"/>
          </a:p>
        </p:txBody>
      </p:sp>
      <p:sp>
        <p:nvSpPr>
          <p:cNvPr id="12" name="Shape 9"/>
          <p:cNvSpPr/>
          <p:nvPr/>
        </p:nvSpPr>
        <p:spPr>
          <a:xfrm>
            <a:off x="8613648" y="2148840"/>
            <a:ext cx="329184" cy="329184"/>
          </a:xfrm>
          <a:prstGeom prst="ellipse">
            <a:avLst/>
          </a:prstGeom>
          <a:solidFill>
            <a:srgbClr val="1C67B5"/>
          </a:solidFill>
          <a:ln w="12700">
            <a:solidFill>
              <a:srgbClr val="1C67B5"/>
            </a:solidFill>
            <a:prstDash val="solid"/>
          </a:ln>
        </p:spPr>
      </p:sp>
      <p:sp>
        <p:nvSpPr>
          <p:cNvPr id="13" name="Text 10"/>
          <p:cNvSpPr/>
          <p:nvPr/>
        </p:nvSpPr>
        <p:spPr>
          <a:xfrm>
            <a:off x="8613648" y="2221992"/>
            <a:ext cx="329184" cy="137160"/>
          </a:xfrm>
          <a:prstGeom prst="rect">
            <a:avLst/>
          </a:prstGeom>
          <a:noFill/>
          <a:ln/>
        </p:spPr>
        <p:txBody>
          <a:bodyPr wrap="square" lIns="508" tIns="508" rIns="508" bIns="508"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14" name="Text 11"/>
          <p:cNvSpPr/>
          <p:nvPr/>
        </p:nvSpPr>
        <p:spPr>
          <a:xfrm>
            <a:off x="9070848" y="2121408"/>
            <a:ext cx="914400" cy="182880"/>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look back</a:t>
            </a:r>
            <a:endParaRPr lang="en-US" sz="1150" dirty="0"/>
          </a:p>
        </p:txBody>
      </p:sp>
      <p:sp>
        <p:nvSpPr>
          <p:cNvPr id="15" name="Text 12"/>
          <p:cNvSpPr/>
          <p:nvPr/>
        </p:nvSpPr>
        <p:spPr>
          <a:xfrm>
            <a:off x="9857232" y="2121408"/>
            <a:ext cx="1261872" cy="182880"/>
          </a:xfrm>
          <a:prstGeom prst="rect">
            <a:avLst/>
          </a:prstGeom>
          <a:noFill/>
          <a:ln/>
        </p:spPr>
        <p:txBody>
          <a:bodyPr wrap="square" lIns="508" tIns="508" rIns="508" bIns="508" rtlCol="0" anchor="ctr">
            <a:normAutofit/>
          </a:bodyPr>
          <a:lstStyle/>
          <a:p>
            <a:pPr algn="r" indent="0" marL="0">
              <a:buNone/>
            </a:pPr>
            <a:r>
              <a:rPr lang="en-US" sz="1020" dirty="0">
                <a:solidFill>
                  <a:srgbClr val="637B93"/>
                </a:solidFill>
                <a:latin typeface="Aptos" pitchFamily="34" charset="0"/>
                <a:ea typeface="Aptos" pitchFamily="34" charset="-122"/>
                <a:cs typeface="Aptos" pitchFamily="34" charset="-120"/>
              </a:rPr>
              <a:t>recent earlier points</a:t>
            </a:r>
            <a:endParaRPr lang="en-US" sz="1020" dirty="0"/>
          </a:p>
        </p:txBody>
      </p:sp>
      <p:sp>
        <p:nvSpPr>
          <p:cNvPr id="16" name="Shape 13"/>
          <p:cNvSpPr/>
          <p:nvPr/>
        </p:nvSpPr>
        <p:spPr>
          <a:xfrm>
            <a:off x="8613648" y="2807208"/>
            <a:ext cx="329184" cy="329184"/>
          </a:xfrm>
          <a:prstGeom prst="ellipse">
            <a:avLst/>
          </a:prstGeom>
          <a:solidFill>
            <a:srgbClr val="1C67B5"/>
          </a:solidFill>
          <a:ln w="12700">
            <a:solidFill>
              <a:srgbClr val="1C67B5"/>
            </a:solidFill>
            <a:prstDash val="solid"/>
          </a:ln>
        </p:spPr>
      </p:sp>
      <p:sp>
        <p:nvSpPr>
          <p:cNvPr id="17" name="Text 14"/>
          <p:cNvSpPr/>
          <p:nvPr/>
        </p:nvSpPr>
        <p:spPr>
          <a:xfrm>
            <a:off x="8613648" y="2880360"/>
            <a:ext cx="329184" cy="137160"/>
          </a:xfrm>
          <a:prstGeom prst="rect">
            <a:avLst/>
          </a:prstGeom>
          <a:noFill/>
          <a:ln/>
        </p:spPr>
        <p:txBody>
          <a:bodyPr wrap="square" lIns="508" tIns="508" rIns="508" bIns="508"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8" name="Text 15"/>
          <p:cNvSpPr/>
          <p:nvPr/>
        </p:nvSpPr>
        <p:spPr>
          <a:xfrm>
            <a:off x="9070848" y="2779776"/>
            <a:ext cx="914400" cy="182880"/>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estimate</a:t>
            </a:r>
            <a:endParaRPr lang="en-US" sz="1150" dirty="0"/>
          </a:p>
        </p:txBody>
      </p:sp>
      <p:sp>
        <p:nvSpPr>
          <p:cNvPr id="19" name="Text 16"/>
          <p:cNvSpPr/>
          <p:nvPr/>
        </p:nvSpPr>
        <p:spPr>
          <a:xfrm>
            <a:off x="9857232" y="2779776"/>
            <a:ext cx="1261872" cy="182880"/>
          </a:xfrm>
          <a:prstGeom prst="rect">
            <a:avLst/>
          </a:prstGeom>
          <a:noFill/>
          <a:ln/>
        </p:spPr>
        <p:txBody>
          <a:bodyPr wrap="square" lIns="508" tIns="508" rIns="508" bIns="508" rtlCol="0" anchor="ctr">
            <a:normAutofit/>
          </a:bodyPr>
          <a:lstStyle/>
          <a:p>
            <a:pPr algn="r" indent="0" marL="0">
              <a:buNone/>
            </a:pPr>
            <a:r>
              <a:rPr lang="en-US" sz="1020" dirty="0">
                <a:solidFill>
                  <a:srgbClr val="637B93"/>
                </a:solidFill>
                <a:latin typeface="Aptos" pitchFamily="34" charset="0"/>
                <a:ea typeface="Aptos" pitchFamily="34" charset="-122"/>
                <a:cs typeface="Aptos" pitchFamily="34" charset="-120"/>
              </a:rPr>
              <a:t>mean / median / spread</a:t>
            </a:r>
            <a:endParaRPr lang="en-US" sz="1020" dirty="0"/>
          </a:p>
        </p:txBody>
      </p:sp>
      <p:sp>
        <p:nvSpPr>
          <p:cNvPr id="20" name="Shape 17"/>
          <p:cNvSpPr/>
          <p:nvPr/>
        </p:nvSpPr>
        <p:spPr>
          <a:xfrm>
            <a:off x="8613648" y="3465576"/>
            <a:ext cx="329184" cy="329184"/>
          </a:xfrm>
          <a:prstGeom prst="ellipse">
            <a:avLst/>
          </a:prstGeom>
          <a:solidFill>
            <a:srgbClr val="1C67B5"/>
          </a:solidFill>
          <a:ln w="12700">
            <a:solidFill>
              <a:srgbClr val="1C67B5"/>
            </a:solidFill>
            <a:prstDash val="solid"/>
          </a:ln>
        </p:spPr>
      </p:sp>
      <p:sp>
        <p:nvSpPr>
          <p:cNvPr id="21" name="Text 18"/>
          <p:cNvSpPr/>
          <p:nvPr/>
        </p:nvSpPr>
        <p:spPr>
          <a:xfrm>
            <a:off x="8613648" y="3538728"/>
            <a:ext cx="329184" cy="137160"/>
          </a:xfrm>
          <a:prstGeom prst="rect">
            <a:avLst/>
          </a:prstGeom>
          <a:noFill/>
          <a:ln/>
        </p:spPr>
        <p:txBody>
          <a:bodyPr wrap="square" lIns="508" tIns="508" rIns="508" bIns="508"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22" name="Text 19"/>
          <p:cNvSpPr/>
          <p:nvPr/>
        </p:nvSpPr>
        <p:spPr>
          <a:xfrm>
            <a:off x="9070848" y="3438144"/>
            <a:ext cx="914400" cy="182880"/>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compare</a:t>
            </a:r>
            <a:endParaRPr lang="en-US" sz="1150" dirty="0"/>
          </a:p>
        </p:txBody>
      </p:sp>
      <p:sp>
        <p:nvSpPr>
          <p:cNvPr id="23" name="Text 20"/>
          <p:cNvSpPr/>
          <p:nvPr/>
        </p:nvSpPr>
        <p:spPr>
          <a:xfrm>
            <a:off x="9857232" y="3438144"/>
            <a:ext cx="1261872" cy="182880"/>
          </a:xfrm>
          <a:prstGeom prst="rect">
            <a:avLst/>
          </a:prstGeom>
          <a:noFill/>
          <a:ln/>
        </p:spPr>
        <p:txBody>
          <a:bodyPr wrap="square" lIns="508" tIns="508" rIns="508" bIns="508" rtlCol="0" anchor="ctr">
            <a:normAutofit/>
          </a:bodyPr>
          <a:lstStyle/>
          <a:p>
            <a:pPr algn="r" indent="0" marL="0">
              <a:buNone/>
            </a:pPr>
            <a:r>
              <a:rPr lang="en-US" sz="1020" dirty="0">
                <a:solidFill>
                  <a:srgbClr val="637B93"/>
                </a:solidFill>
                <a:latin typeface="Aptos" pitchFamily="34" charset="0"/>
                <a:ea typeface="Aptos" pitchFamily="34" charset="-122"/>
                <a:cs typeface="Aptos" pitchFamily="34" charset="-120"/>
              </a:rPr>
              <a:t>current observation</a:t>
            </a:r>
            <a:endParaRPr lang="en-US" sz="1020" dirty="0"/>
          </a:p>
        </p:txBody>
      </p:sp>
      <p:sp>
        <p:nvSpPr>
          <p:cNvPr id="24" name="Shape 21"/>
          <p:cNvSpPr/>
          <p:nvPr/>
        </p:nvSpPr>
        <p:spPr>
          <a:xfrm>
            <a:off x="8613648" y="4123944"/>
            <a:ext cx="329184" cy="329184"/>
          </a:xfrm>
          <a:prstGeom prst="ellipse">
            <a:avLst/>
          </a:prstGeom>
          <a:solidFill>
            <a:srgbClr val="1C67B5"/>
          </a:solidFill>
          <a:ln w="12700">
            <a:solidFill>
              <a:srgbClr val="1C67B5"/>
            </a:solidFill>
            <a:prstDash val="solid"/>
          </a:ln>
        </p:spPr>
      </p:sp>
      <p:sp>
        <p:nvSpPr>
          <p:cNvPr id="25" name="Text 22"/>
          <p:cNvSpPr/>
          <p:nvPr/>
        </p:nvSpPr>
        <p:spPr>
          <a:xfrm>
            <a:off x="8613648" y="4197096"/>
            <a:ext cx="329184" cy="137160"/>
          </a:xfrm>
          <a:prstGeom prst="rect">
            <a:avLst/>
          </a:prstGeom>
          <a:noFill/>
          <a:ln/>
        </p:spPr>
        <p:txBody>
          <a:bodyPr wrap="square" lIns="508" tIns="508" rIns="508" bIns="508"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26" name="Text 23"/>
          <p:cNvSpPr/>
          <p:nvPr/>
        </p:nvSpPr>
        <p:spPr>
          <a:xfrm>
            <a:off x="9070848" y="4096512"/>
            <a:ext cx="914400" cy="182880"/>
          </a:xfrm>
          <a:prstGeom prst="rect">
            <a:avLst/>
          </a:prstGeom>
          <a:noFill/>
          <a:ln/>
        </p:spPr>
        <p:txBody>
          <a:bodyPr wrap="square" lIns="508" tIns="508" rIns="508" bIns="508" rtlCol="0" anchor="ctr">
            <a:normAutofit/>
          </a:bodyPr>
          <a:lstStyle/>
          <a:p>
            <a:pPr algn="l" indent="0" marL="0">
              <a:buNone/>
            </a:pPr>
            <a:r>
              <a:rPr lang="en-US" sz="1150" b="1" dirty="0">
                <a:solidFill>
                  <a:srgbClr val="0B1F5B"/>
                </a:solidFill>
                <a:latin typeface="Aptos" pitchFamily="34" charset="0"/>
                <a:ea typeface="Aptos" pitchFamily="34" charset="-122"/>
                <a:cs typeface="Aptos" pitchFamily="34" charset="-120"/>
              </a:rPr>
              <a:t>advance</a:t>
            </a:r>
            <a:endParaRPr lang="en-US" sz="1150" dirty="0"/>
          </a:p>
        </p:txBody>
      </p:sp>
      <p:sp>
        <p:nvSpPr>
          <p:cNvPr id="27" name="Text 24"/>
          <p:cNvSpPr/>
          <p:nvPr/>
        </p:nvSpPr>
        <p:spPr>
          <a:xfrm>
            <a:off x="9857232" y="4096512"/>
            <a:ext cx="1261872" cy="182880"/>
          </a:xfrm>
          <a:prstGeom prst="rect">
            <a:avLst/>
          </a:prstGeom>
          <a:noFill/>
          <a:ln/>
        </p:spPr>
        <p:txBody>
          <a:bodyPr wrap="square" lIns="508" tIns="508" rIns="508" bIns="508" rtlCol="0" anchor="ctr">
            <a:normAutofit/>
          </a:bodyPr>
          <a:lstStyle/>
          <a:p>
            <a:pPr algn="r" indent="0" marL="0">
              <a:buNone/>
            </a:pPr>
            <a:r>
              <a:rPr lang="en-US" sz="1020" dirty="0">
                <a:solidFill>
                  <a:srgbClr val="637B93"/>
                </a:solidFill>
                <a:latin typeface="Aptos" pitchFamily="34" charset="0"/>
                <a:ea typeface="Aptos" pitchFamily="34" charset="-122"/>
                <a:cs typeface="Aptos" pitchFamily="34" charset="-120"/>
              </a:rPr>
              <a:t>window moves forward</a:t>
            </a:r>
            <a:endParaRPr lang="en-US" sz="1020" dirty="0"/>
          </a:p>
        </p:txBody>
      </p:sp>
      <p:sp>
        <p:nvSpPr>
          <p:cNvPr id="28" name="Shape 25"/>
          <p:cNvSpPr/>
          <p:nvPr/>
        </p:nvSpPr>
        <p:spPr>
          <a:xfrm>
            <a:off x="8613648" y="4892040"/>
            <a:ext cx="2514600" cy="512064"/>
          </a:xfrm>
          <a:prstGeom prst="roundRect">
            <a:avLst>
              <a:gd name="adj" fmla="val 14286"/>
            </a:avLst>
          </a:prstGeom>
          <a:solidFill>
            <a:srgbClr val="FFF4F4"/>
          </a:solidFill>
          <a:ln w="12700">
            <a:solidFill>
              <a:srgbClr val="C73B3B"/>
            </a:solidFill>
            <a:prstDash val="solid"/>
          </a:ln>
        </p:spPr>
      </p:sp>
      <p:sp>
        <p:nvSpPr>
          <p:cNvPr id="29" name="Text 26"/>
          <p:cNvSpPr/>
          <p:nvPr/>
        </p:nvSpPr>
        <p:spPr>
          <a:xfrm>
            <a:off x="8723376" y="4965192"/>
            <a:ext cx="2295144" cy="365760"/>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Current observation is not allowed to redefine its own background.</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How Unusual Is This Measurement?</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Standard and robust statistical anomaly scores</a:t>
            </a:r>
            <a:endParaRPr lang="en-US" sz="1450" dirty="0"/>
          </a:p>
        </p:txBody>
      </p:sp>
      <p:sp>
        <p:nvSpPr>
          <p:cNvPr id="8" name="Shape 5"/>
          <p:cNvSpPr/>
          <p:nvPr/>
        </p:nvSpPr>
        <p:spPr>
          <a:xfrm>
            <a:off x="1417320" y="1335024"/>
            <a:ext cx="5532120" cy="4526280"/>
          </a:xfrm>
          <a:prstGeom prst="roundRect">
            <a:avLst>
              <a:gd name="adj" fmla="val 1616"/>
            </a:avLst>
          </a:prstGeom>
          <a:solidFill>
            <a:srgbClr val="FFFFFF"/>
          </a:solidFill>
          <a:ln w="12700">
            <a:solidFill>
              <a:srgbClr val="BDD7EC"/>
            </a:solidFill>
            <a:prstDash val="solid"/>
          </a:ln>
        </p:spPr>
      </p:sp>
      <p:sp>
        <p:nvSpPr>
          <p:cNvPr id="9" name="Text 6"/>
          <p:cNvSpPr/>
          <p:nvPr/>
        </p:nvSpPr>
        <p:spPr>
          <a:xfrm>
            <a:off x="1719072" y="1572768"/>
            <a:ext cx="2377440" cy="292608"/>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Z-score intuition</a:t>
            </a:r>
            <a:endParaRPr lang="en-US" sz="1700" dirty="0"/>
          </a:p>
        </p:txBody>
      </p:sp>
      <p:sp>
        <p:nvSpPr>
          <p:cNvPr id="10" name="Shape 7"/>
          <p:cNvSpPr/>
          <p:nvPr/>
        </p:nvSpPr>
        <p:spPr>
          <a:xfrm>
            <a:off x="2057400" y="2121408"/>
            <a:ext cx="3429000" cy="2011680"/>
          </a:xfrm>
          <a:prstGeom prst="arc">
            <a:avLst/>
          </a:prstGeom>
          <a:solidFill>
            <a:srgbClr val="FFFFFF">
              <a:alpha val="0"/>
            </a:srgbClr>
          </a:solidFill>
          <a:ln w="25400">
            <a:solidFill>
              <a:srgbClr val="1C67B5"/>
            </a:solidFill>
            <a:prstDash val="solid"/>
          </a:ln>
        </p:spPr>
      </p:sp>
      <p:sp>
        <p:nvSpPr>
          <p:cNvPr id="11" name="Shape 8"/>
          <p:cNvSpPr/>
          <p:nvPr/>
        </p:nvSpPr>
        <p:spPr>
          <a:xfrm>
            <a:off x="2560320" y="3886200"/>
            <a:ext cx="82296" cy="82296"/>
          </a:xfrm>
          <a:prstGeom prst="ellipse">
            <a:avLst/>
          </a:prstGeom>
          <a:solidFill>
            <a:srgbClr val="1C67B5"/>
          </a:solidFill>
          <a:ln w="12700">
            <a:solidFill>
              <a:srgbClr val="1C67B5"/>
            </a:solidFill>
            <a:prstDash val="solid"/>
          </a:ln>
        </p:spPr>
      </p:sp>
      <p:sp>
        <p:nvSpPr>
          <p:cNvPr id="12" name="Shape 9"/>
          <p:cNvSpPr/>
          <p:nvPr/>
        </p:nvSpPr>
        <p:spPr>
          <a:xfrm>
            <a:off x="2852928" y="3858768"/>
            <a:ext cx="82296" cy="82296"/>
          </a:xfrm>
          <a:prstGeom prst="ellipse">
            <a:avLst/>
          </a:prstGeom>
          <a:solidFill>
            <a:srgbClr val="1C67B5"/>
          </a:solidFill>
          <a:ln w="12700">
            <a:solidFill>
              <a:srgbClr val="1C67B5"/>
            </a:solidFill>
            <a:prstDash val="solid"/>
          </a:ln>
        </p:spPr>
      </p:sp>
      <p:sp>
        <p:nvSpPr>
          <p:cNvPr id="13" name="Shape 10"/>
          <p:cNvSpPr/>
          <p:nvPr/>
        </p:nvSpPr>
        <p:spPr>
          <a:xfrm>
            <a:off x="3145536" y="3831336"/>
            <a:ext cx="82296" cy="82296"/>
          </a:xfrm>
          <a:prstGeom prst="ellipse">
            <a:avLst/>
          </a:prstGeom>
          <a:solidFill>
            <a:srgbClr val="1C67B5"/>
          </a:solidFill>
          <a:ln w="12700">
            <a:solidFill>
              <a:srgbClr val="1C67B5"/>
            </a:solidFill>
            <a:prstDash val="solid"/>
          </a:ln>
        </p:spPr>
      </p:sp>
      <p:sp>
        <p:nvSpPr>
          <p:cNvPr id="14" name="Shape 11"/>
          <p:cNvSpPr/>
          <p:nvPr/>
        </p:nvSpPr>
        <p:spPr>
          <a:xfrm>
            <a:off x="3438144" y="3886200"/>
            <a:ext cx="82296" cy="82296"/>
          </a:xfrm>
          <a:prstGeom prst="ellipse">
            <a:avLst/>
          </a:prstGeom>
          <a:solidFill>
            <a:srgbClr val="1C67B5"/>
          </a:solidFill>
          <a:ln w="12700">
            <a:solidFill>
              <a:srgbClr val="1C67B5"/>
            </a:solidFill>
            <a:prstDash val="solid"/>
          </a:ln>
        </p:spPr>
      </p:sp>
      <p:sp>
        <p:nvSpPr>
          <p:cNvPr id="15" name="Shape 12"/>
          <p:cNvSpPr/>
          <p:nvPr/>
        </p:nvSpPr>
        <p:spPr>
          <a:xfrm>
            <a:off x="3730752" y="3858768"/>
            <a:ext cx="82296" cy="82296"/>
          </a:xfrm>
          <a:prstGeom prst="ellipse">
            <a:avLst/>
          </a:prstGeom>
          <a:solidFill>
            <a:srgbClr val="1C67B5"/>
          </a:solidFill>
          <a:ln w="12700">
            <a:solidFill>
              <a:srgbClr val="1C67B5"/>
            </a:solidFill>
            <a:prstDash val="solid"/>
          </a:ln>
        </p:spPr>
      </p:sp>
      <p:sp>
        <p:nvSpPr>
          <p:cNvPr id="16" name="Shape 13"/>
          <p:cNvSpPr/>
          <p:nvPr/>
        </p:nvSpPr>
        <p:spPr>
          <a:xfrm>
            <a:off x="4023360" y="3831336"/>
            <a:ext cx="82296" cy="82296"/>
          </a:xfrm>
          <a:prstGeom prst="ellipse">
            <a:avLst/>
          </a:prstGeom>
          <a:solidFill>
            <a:srgbClr val="1C67B5"/>
          </a:solidFill>
          <a:ln w="12700">
            <a:solidFill>
              <a:srgbClr val="1C67B5"/>
            </a:solidFill>
            <a:prstDash val="solid"/>
          </a:ln>
        </p:spPr>
      </p:sp>
      <p:sp>
        <p:nvSpPr>
          <p:cNvPr id="17" name="Shape 14"/>
          <p:cNvSpPr/>
          <p:nvPr/>
        </p:nvSpPr>
        <p:spPr>
          <a:xfrm>
            <a:off x="4315968" y="3886200"/>
            <a:ext cx="82296" cy="82296"/>
          </a:xfrm>
          <a:prstGeom prst="ellipse">
            <a:avLst/>
          </a:prstGeom>
          <a:solidFill>
            <a:srgbClr val="1C67B5"/>
          </a:solidFill>
          <a:ln w="12700">
            <a:solidFill>
              <a:srgbClr val="1C67B5"/>
            </a:solidFill>
            <a:prstDash val="solid"/>
          </a:ln>
        </p:spPr>
      </p:sp>
      <p:sp>
        <p:nvSpPr>
          <p:cNvPr id="18" name="Shape 15"/>
          <p:cNvSpPr/>
          <p:nvPr/>
        </p:nvSpPr>
        <p:spPr>
          <a:xfrm>
            <a:off x="2560320" y="3657600"/>
            <a:ext cx="82296" cy="82296"/>
          </a:xfrm>
          <a:prstGeom prst="ellipse">
            <a:avLst/>
          </a:prstGeom>
          <a:solidFill>
            <a:srgbClr val="1C67B5"/>
          </a:solidFill>
          <a:ln w="12700">
            <a:solidFill>
              <a:srgbClr val="1C67B5"/>
            </a:solidFill>
            <a:prstDash val="solid"/>
          </a:ln>
        </p:spPr>
      </p:sp>
      <p:sp>
        <p:nvSpPr>
          <p:cNvPr id="19" name="Shape 16"/>
          <p:cNvSpPr/>
          <p:nvPr/>
        </p:nvSpPr>
        <p:spPr>
          <a:xfrm>
            <a:off x="2852928" y="3630168"/>
            <a:ext cx="82296" cy="82296"/>
          </a:xfrm>
          <a:prstGeom prst="ellipse">
            <a:avLst/>
          </a:prstGeom>
          <a:solidFill>
            <a:srgbClr val="1C67B5"/>
          </a:solidFill>
          <a:ln w="12700">
            <a:solidFill>
              <a:srgbClr val="1C67B5"/>
            </a:solidFill>
            <a:prstDash val="solid"/>
          </a:ln>
        </p:spPr>
      </p:sp>
      <p:sp>
        <p:nvSpPr>
          <p:cNvPr id="20" name="Shape 17"/>
          <p:cNvSpPr/>
          <p:nvPr/>
        </p:nvSpPr>
        <p:spPr>
          <a:xfrm>
            <a:off x="3145536" y="3685032"/>
            <a:ext cx="82296" cy="82296"/>
          </a:xfrm>
          <a:prstGeom prst="ellipse">
            <a:avLst/>
          </a:prstGeom>
          <a:solidFill>
            <a:srgbClr val="1C67B5"/>
          </a:solidFill>
          <a:ln w="12700">
            <a:solidFill>
              <a:srgbClr val="1C67B5"/>
            </a:solidFill>
            <a:prstDash val="solid"/>
          </a:ln>
        </p:spPr>
      </p:sp>
      <p:sp>
        <p:nvSpPr>
          <p:cNvPr id="21" name="Shape 18"/>
          <p:cNvSpPr/>
          <p:nvPr/>
        </p:nvSpPr>
        <p:spPr>
          <a:xfrm>
            <a:off x="3438144" y="3657600"/>
            <a:ext cx="82296" cy="82296"/>
          </a:xfrm>
          <a:prstGeom prst="ellipse">
            <a:avLst/>
          </a:prstGeom>
          <a:solidFill>
            <a:srgbClr val="1C67B5"/>
          </a:solidFill>
          <a:ln w="12700">
            <a:solidFill>
              <a:srgbClr val="1C67B5"/>
            </a:solidFill>
            <a:prstDash val="solid"/>
          </a:ln>
        </p:spPr>
      </p:sp>
      <p:sp>
        <p:nvSpPr>
          <p:cNvPr id="22" name="Shape 19"/>
          <p:cNvSpPr/>
          <p:nvPr/>
        </p:nvSpPr>
        <p:spPr>
          <a:xfrm>
            <a:off x="3730752" y="3630168"/>
            <a:ext cx="82296" cy="82296"/>
          </a:xfrm>
          <a:prstGeom prst="ellipse">
            <a:avLst/>
          </a:prstGeom>
          <a:solidFill>
            <a:srgbClr val="1C67B5"/>
          </a:solidFill>
          <a:ln w="12700">
            <a:solidFill>
              <a:srgbClr val="1C67B5"/>
            </a:solidFill>
            <a:prstDash val="solid"/>
          </a:ln>
        </p:spPr>
      </p:sp>
      <p:sp>
        <p:nvSpPr>
          <p:cNvPr id="23" name="Shape 20"/>
          <p:cNvSpPr/>
          <p:nvPr/>
        </p:nvSpPr>
        <p:spPr>
          <a:xfrm>
            <a:off x="4023360" y="3685032"/>
            <a:ext cx="82296" cy="82296"/>
          </a:xfrm>
          <a:prstGeom prst="ellipse">
            <a:avLst/>
          </a:prstGeom>
          <a:solidFill>
            <a:srgbClr val="1C67B5"/>
          </a:solidFill>
          <a:ln w="12700">
            <a:solidFill>
              <a:srgbClr val="1C67B5"/>
            </a:solidFill>
            <a:prstDash val="solid"/>
          </a:ln>
        </p:spPr>
      </p:sp>
      <p:sp>
        <p:nvSpPr>
          <p:cNvPr id="24" name="Shape 21"/>
          <p:cNvSpPr/>
          <p:nvPr/>
        </p:nvSpPr>
        <p:spPr>
          <a:xfrm>
            <a:off x="4315968" y="3657600"/>
            <a:ext cx="82296" cy="82296"/>
          </a:xfrm>
          <a:prstGeom prst="ellipse">
            <a:avLst/>
          </a:prstGeom>
          <a:solidFill>
            <a:srgbClr val="1C67B5"/>
          </a:solidFill>
          <a:ln w="12700">
            <a:solidFill>
              <a:srgbClr val="1C67B5"/>
            </a:solidFill>
            <a:prstDash val="solid"/>
          </a:ln>
        </p:spPr>
      </p:sp>
      <p:sp>
        <p:nvSpPr>
          <p:cNvPr id="25" name="Shape 22"/>
          <p:cNvSpPr/>
          <p:nvPr/>
        </p:nvSpPr>
        <p:spPr>
          <a:xfrm>
            <a:off x="5230368" y="2395728"/>
            <a:ext cx="137160" cy="137160"/>
          </a:xfrm>
          <a:prstGeom prst="ellipse">
            <a:avLst/>
          </a:prstGeom>
          <a:solidFill>
            <a:srgbClr val="E9A21B"/>
          </a:solidFill>
          <a:ln w="12700">
            <a:solidFill>
              <a:srgbClr val="E9A21B"/>
            </a:solidFill>
            <a:prstDash val="solid"/>
          </a:ln>
        </p:spPr>
      </p:sp>
      <p:sp>
        <p:nvSpPr>
          <p:cNvPr id="26" name="Shape 23"/>
          <p:cNvSpPr/>
          <p:nvPr/>
        </p:nvSpPr>
        <p:spPr>
          <a:xfrm>
            <a:off x="3749040" y="2880360"/>
            <a:ext cx="1536192" cy="-347472"/>
          </a:xfrm>
          <a:prstGeom prst="line">
            <a:avLst/>
          </a:prstGeom>
          <a:noFill/>
          <a:ln w="16510">
            <a:solidFill>
              <a:srgbClr val="E9A21B"/>
            </a:solidFill>
            <a:prstDash val="solid"/>
            <a:headEnd type="none"/>
            <a:tailEnd type="triangle"/>
          </a:ln>
        </p:spPr>
      </p:sp>
      <p:sp>
        <p:nvSpPr>
          <p:cNvPr id="27" name="Text 24"/>
          <p:cNvSpPr/>
          <p:nvPr/>
        </p:nvSpPr>
        <p:spPr>
          <a:xfrm>
            <a:off x="3977640" y="2514600"/>
            <a:ext cx="1188720" cy="365760"/>
          </a:xfrm>
          <a:prstGeom prst="rect">
            <a:avLst/>
          </a:prstGeom>
          <a:noFill/>
          <a:ln/>
        </p:spPr>
        <p:txBody>
          <a:bodyPr wrap="square" lIns="508" tIns="508" rIns="508" bIns="508" rtlCol="0" anchor="ctr">
            <a:normAutofit/>
          </a:bodyPr>
          <a:lstStyle/>
          <a:p>
            <a:pPr algn="ctr" indent="0" marL="0">
              <a:buNone/>
            </a:pPr>
            <a:r>
              <a:rPr lang="en-US" sz="1000" b="1" dirty="0">
                <a:solidFill>
                  <a:srgbClr val="E9A21B"/>
                </a:solidFill>
                <a:latin typeface="Aptos" pitchFamily="34" charset="0"/>
                <a:ea typeface="Aptos" pitchFamily="34" charset="-122"/>
                <a:cs typeface="Aptos" pitchFamily="34" charset="-120"/>
              </a:rPr>
              <a:t>distance from recent normal</a:t>
            </a:r>
            <a:endParaRPr lang="en-US" sz="1000" dirty="0"/>
          </a:p>
        </p:txBody>
      </p:sp>
      <p:sp>
        <p:nvSpPr>
          <p:cNvPr id="28" name="Text 25"/>
          <p:cNvSpPr/>
          <p:nvPr/>
        </p:nvSpPr>
        <p:spPr>
          <a:xfrm>
            <a:off x="1965960" y="4315968"/>
            <a:ext cx="2286000" cy="411480"/>
          </a:xfrm>
          <a:prstGeom prst="rect">
            <a:avLst/>
          </a:prstGeom>
          <a:noFill/>
          <a:ln/>
        </p:spPr>
        <p:txBody>
          <a:bodyPr wrap="square" lIns="508" tIns="508" rIns="508" bIns="508" rtlCol="0" anchor="ctr">
            <a:normAutofit/>
          </a:bodyPr>
          <a:lstStyle/>
          <a:p>
            <a:pPr algn="ctr" indent="0" marL="0">
              <a:buNone/>
            </a:pPr>
            <a:r>
              <a:rPr lang="en-US" sz="2000" b="1" dirty="0">
                <a:solidFill>
                  <a:srgbClr val="0B1F5B"/>
                </a:solidFill>
                <a:latin typeface="Cambria Math" pitchFamily="34" charset="0"/>
                <a:ea typeface="Cambria Math" pitchFamily="34" charset="-122"/>
                <a:cs typeface="Cambria Math" pitchFamily="34" charset="-120"/>
              </a:rPr>
              <a:t>z = (x − μ) / σ</a:t>
            </a:r>
            <a:endParaRPr lang="en-US" sz="2000" dirty="0"/>
          </a:p>
        </p:txBody>
      </p:sp>
      <p:sp>
        <p:nvSpPr>
          <p:cNvPr id="29" name="Text 26"/>
          <p:cNvSpPr/>
          <p:nvPr/>
        </p:nvSpPr>
        <p:spPr>
          <a:xfrm>
            <a:off x="4251960" y="4224528"/>
            <a:ext cx="2148840" cy="713232"/>
          </a:xfrm>
          <a:prstGeom prst="rect">
            <a:avLst/>
          </a:prstGeom>
          <a:noFill/>
          <a:ln/>
        </p:spPr>
        <p:txBody>
          <a:bodyPr wrap="square" lIns="508" tIns="508" rIns="508" bIns="508" rtlCol="0" anchor="ctr">
            <a:normAutofit/>
          </a:bodyPr>
          <a:lstStyle/>
          <a:p>
            <a:pPr algn="l" indent="0" marL="0">
              <a:buNone/>
            </a:pPr>
            <a:r>
              <a:rPr lang="en-US" sz="1050" dirty="0">
                <a:solidFill>
                  <a:srgbClr val="18334F"/>
                </a:solidFill>
                <a:latin typeface="Aptos" pitchFamily="34" charset="0"/>
                <a:ea typeface="Aptos" pitchFamily="34" charset="-122"/>
                <a:cs typeface="Aptos" pitchFamily="34" charset="-120"/>
              </a:rPr>
              <a:t>x = current measurement</a:t>
            </a:r>
            <a:endParaRPr lang="en-US" sz="1050" dirty="0"/>
          </a:p>
          <a:p>
            <a:pPr algn="l" indent="0" marL="0">
              <a:buNone/>
            </a:pPr>
            <a:r>
              <a:rPr lang="en-US" sz="1050" dirty="0">
                <a:solidFill>
                  <a:srgbClr val="18334F"/>
                </a:solidFill>
                <a:latin typeface="Aptos" pitchFamily="34" charset="0"/>
                <a:ea typeface="Aptos" pitchFamily="34" charset="-122"/>
                <a:cs typeface="Aptos" pitchFamily="34" charset="-120"/>
              </a:rPr>
              <a:t>μ = recent background average</a:t>
            </a:r>
            <a:endParaRPr lang="en-US" sz="1050" dirty="0"/>
          </a:p>
          <a:p>
            <a:pPr algn="l" indent="0" marL="0">
              <a:buNone/>
            </a:pPr>
            <a:r>
              <a:rPr lang="en-US" sz="1050" dirty="0">
                <a:solidFill>
                  <a:srgbClr val="18334F"/>
                </a:solidFill>
                <a:latin typeface="Aptos" pitchFamily="34" charset="0"/>
                <a:ea typeface="Aptos" pitchFamily="34" charset="-122"/>
                <a:cs typeface="Aptos" pitchFamily="34" charset="-120"/>
              </a:rPr>
              <a:t>σ = recent background spread</a:t>
            </a:r>
            <a:endParaRPr lang="en-US" sz="1050" dirty="0"/>
          </a:p>
        </p:txBody>
      </p:sp>
      <p:sp>
        <p:nvSpPr>
          <p:cNvPr id="30" name="Shape 27"/>
          <p:cNvSpPr/>
          <p:nvPr/>
        </p:nvSpPr>
        <p:spPr>
          <a:xfrm>
            <a:off x="1719072" y="5102352"/>
            <a:ext cx="4892040" cy="438912"/>
          </a:xfrm>
          <a:prstGeom prst="roundRect">
            <a:avLst>
              <a:gd name="adj" fmla="val 16667"/>
            </a:avLst>
          </a:prstGeom>
          <a:solidFill>
            <a:srgbClr val="EEF6FD"/>
          </a:solidFill>
          <a:ln w="12700">
            <a:solidFill>
              <a:srgbClr val="1C67B5"/>
            </a:solidFill>
            <a:prstDash val="solid"/>
          </a:ln>
        </p:spPr>
      </p:sp>
      <p:sp>
        <p:nvSpPr>
          <p:cNvPr id="31" name="Text 28"/>
          <p:cNvSpPr/>
          <p:nvPr/>
        </p:nvSpPr>
        <p:spPr>
          <a:xfrm>
            <a:off x="1828800" y="5175504"/>
            <a:ext cx="4672584" cy="292608"/>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Z-score = distance from recent normal behavior, measured in standard-deviation units.</a:t>
            </a:r>
            <a:endParaRPr lang="en-US" sz="1150" dirty="0"/>
          </a:p>
        </p:txBody>
      </p:sp>
      <p:sp>
        <p:nvSpPr>
          <p:cNvPr id="32" name="Shape 29"/>
          <p:cNvSpPr/>
          <p:nvPr/>
        </p:nvSpPr>
        <p:spPr>
          <a:xfrm>
            <a:off x="7178040" y="1335024"/>
            <a:ext cx="4297680" cy="4526280"/>
          </a:xfrm>
          <a:prstGeom prst="roundRect">
            <a:avLst>
              <a:gd name="adj" fmla="val 1702"/>
            </a:avLst>
          </a:prstGeom>
          <a:solidFill>
            <a:srgbClr val="FFFFFF"/>
          </a:solidFill>
          <a:ln w="12700">
            <a:solidFill>
              <a:srgbClr val="BDD7EC"/>
            </a:solidFill>
            <a:prstDash val="solid"/>
          </a:ln>
        </p:spPr>
      </p:sp>
      <p:sp>
        <p:nvSpPr>
          <p:cNvPr id="33" name="Text 30"/>
          <p:cNvSpPr/>
          <p:nvPr/>
        </p:nvSpPr>
        <p:spPr>
          <a:xfrm>
            <a:off x="7479792" y="1572768"/>
            <a:ext cx="3611880"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Actual project anomaly scores</a:t>
            </a:r>
            <a:endParaRPr lang="en-US" sz="1700" dirty="0"/>
          </a:p>
        </p:txBody>
      </p:sp>
      <p:pic>
        <p:nvPicPr>
          <p:cNvPr id="34" name="Image 1" descr="/mnt/data/ppt_assets/zscore_actual.png">    </p:cNvPr>
          <p:cNvPicPr>
            <a:picLocks noChangeAspect="1"/>
          </p:cNvPicPr>
          <p:nvPr/>
        </p:nvPicPr>
        <p:blipFill>
          <a:blip r:embed="rId2"/>
          <a:stretch>
            <a:fillRect/>
          </a:stretch>
        </p:blipFill>
        <p:spPr>
          <a:xfrm>
            <a:off x="7424928" y="2414432"/>
            <a:ext cx="3794760" cy="1379913"/>
          </a:xfrm>
          <a:prstGeom prst="rect">
            <a:avLst/>
          </a:prstGeom>
        </p:spPr>
      </p:pic>
      <p:sp>
        <p:nvSpPr>
          <p:cNvPr id="35" name="Shape 31"/>
          <p:cNvSpPr/>
          <p:nvPr/>
        </p:nvSpPr>
        <p:spPr>
          <a:xfrm>
            <a:off x="7424928" y="4535424"/>
            <a:ext cx="1645920" cy="859536"/>
          </a:xfrm>
          <a:prstGeom prst="roundRect">
            <a:avLst>
              <a:gd name="adj" fmla="val 8511"/>
            </a:avLst>
          </a:prstGeom>
          <a:solidFill>
            <a:srgbClr val="EEF6FD"/>
          </a:solidFill>
          <a:ln w="12700">
            <a:solidFill>
              <a:srgbClr val="1C67B5"/>
            </a:solidFill>
            <a:prstDash val="solid"/>
          </a:ln>
        </p:spPr>
      </p:sp>
      <p:sp>
        <p:nvSpPr>
          <p:cNvPr id="36" name="Text 32"/>
          <p:cNvSpPr/>
          <p:nvPr/>
        </p:nvSpPr>
        <p:spPr>
          <a:xfrm>
            <a:off x="7543800" y="4645152"/>
            <a:ext cx="1389888" cy="182880"/>
          </a:xfrm>
          <a:prstGeom prst="rect">
            <a:avLst/>
          </a:prstGeom>
          <a:noFill/>
          <a:ln/>
        </p:spPr>
        <p:txBody>
          <a:bodyPr wrap="square" lIns="508" tIns="508" rIns="508" bIns="508" rtlCol="0" anchor="ctr">
            <a:normAutofit/>
          </a:bodyPr>
          <a:lstStyle/>
          <a:p>
            <a:pPr algn="ctr" indent="0" marL="0">
              <a:buNone/>
            </a:pPr>
            <a:r>
              <a:rPr lang="en-US" sz="1200" b="1" dirty="0">
                <a:solidFill>
                  <a:srgbClr val="1C67B5"/>
                </a:solidFill>
                <a:latin typeface="Aptos" pitchFamily="34" charset="0"/>
                <a:ea typeface="Aptos" pitchFamily="34" charset="-122"/>
                <a:cs typeface="Aptos" pitchFamily="34" charset="-120"/>
              </a:rPr>
              <a:t>Standard Z</a:t>
            </a:r>
            <a:endParaRPr lang="en-US" sz="1200" dirty="0"/>
          </a:p>
        </p:txBody>
      </p:sp>
      <p:sp>
        <p:nvSpPr>
          <p:cNvPr id="37" name="Text 33"/>
          <p:cNvSpPr/>
          <p:nvPr/>
        </p:nvSpPr>
        <p:spPr>
          <a:xfrm>
            <a:off x="7543800" y="4919472"/>
            <a:ext cx="1389888" cy="182880"/>
          </a:xfrm>
          <a:prstGeom prst="rect">
            <a:avLst/>
          </a:prstGeom>
          <a:noFill/>
          <a:ln/>
        </p:spPr>
        <p:txBody>
          <a:bodyPr wrap="square" lIns="508" tIns="508" rIns="508" bIns="508" rtlCol="0" anchor="ctr">
            <a:normAutofit/>
          </a:bodyPr>
          <a:lstStyle/>
          <a:p>
            <a:pPr algn="ctr" indent="0" marL="0">
              <a:buNone/>
            </a:pPr>
            <a:r>
              <a:rPr lang="en-US" sz="1000" dirty="0">
                <a:solidFill>
                  <a:srgbClr val="637B93"/>
                </a:solidFill>
                <a:latin typeface="Aptos" pitchFamily="34" charset="0"/>
                <a:ea typeface="Aptos" pitchFamily="34" charset="-122"/>
                <a:cs typeface="Aptos" pitchFamily="34" charset="-120"/>
              </a:rPr>
              <a:t>mean + SD</a:t>
            </a:r>
            <a:endParaRPr lang="en-US" sz="1000" dirty="0"/>
          </a:p>
        </p:txBody>
      </p:sp>
      <p:sp>
        <p:nvSpPr>
          <p:cNvPr id="38" name="Shape 34"/>
          <p:cNvSpPr/>
          <p:nvPr/>
        </p:nvSpPr>
        <p:spPr>
          <a:xfrm>
            <a:off x="9299448" y="4535424"/>
            <a:ext cx="1645920" cy="859536"/>
          </a:xfrm>
          <a:prstGeom prst="roundRect">
            <a:avLst>
              <a:gd name="adj" fmla="val 8511"/>
            </a:avLst>
          </a:prstGeom>
          <a:solidFill>
            <a:srgbClr val="F4ECFD"/>
          </a:solidFill>
          <a:ln w="12700">
            <a:solidFill>
              <a:srgbClr val="7454C7"/>
            </a:solidFill>
            <a:prstDash val="solid"/>
          </a:ln>
        </p:spPr>
      </p:sp>
      <p:sp>
        <p:nvSpPr>
          <p:cNvPr id="39" name="Text 35"/>
          <p:cNvSpPr/>
          <p:nvPr/>
        </p:nvSpPr>
        <p:spPr>
          <a:xfrm>
            <a:off x="9418320" y="4645152"/>
            <a:ext cx="1389888" cy="182880"/>
          </a:xfrm>
          <a:prstGeom prst="rect">
            <a:avLst/>
          </a:prstGeom>
          <a:noFill/>
          <a:ln/>
        </p:spPr>
        <p:txBody>
          <a:bodyPr wrap="square" lIns="508" tIns="508" rIns="508" bIns="508" rtlCol="0" anchor="ctr">
            <a:normAutofit/>
          </a:bodyPr>
          <a:lstStyle/>
          <a:p>
            <a:pPr algn="ctr" indent="0" marL="0">
              <a:buNone/>
            </a:pPr>
            <a:r>
              <a:rPr lang="en-US" sz="1200" b="1" dirty="0">
                <a:solidFill>
                  <a:srgbClr val="7454C7"/>
                </a:solidFill>
                <a:latin typeface="Aptos" pitchFamily="34" charset="0"/>
                <a:ea typeface="Aptos" pitchFamily="34" charset="-122"/>
                <a:cs typeface="Aptos" pitchFamily="34" charset="-120"/>
              </a:rPr>
              <a:t>Robust Z</a:t>
            </a:r>
            <a:endParaRPr lang="en-US" sz="1200" dirty="0"/>
          </a:p>
        </p:txBody>
      </p:sp>
      <p:sp>
        <p:nvSpPr>
          <p:cNvPr id="40" name="Text 36"/>
          <p:cNvSpPr/>
          <p:nvPr/>
        </p:nvSpPr>
        <p:spPr>
          <a:xfrm>
            <a:off x="9418320" y="4919472"/>
            <a:ext cx="1389888" cy="182880"/>
          </a:xfrm>
          <a:prstGeom prst="rect">
            <a:avLst/>
          </a:prstGeom>
          <a:noFill/>
          <a:ln/>
        </p:spPr>
        <p:txBody>
          <a:bodyPr wrap="square" lIns="508" tIns="508" rIns="508" bIns="508" rtlCol="0" anchor="ctr">
            <a:normAutofit/>
          </a:bodyPr>
          <a:lstStyle/>
          <a:p>
            <a:pPr algn="ctr" indent="0" marL="0">
              <a:buNone/>
            </a:pPr>
            <a:r>
              <a:rPr lang="en-US" sz="1000" dirty="0">
                <a:solidFill>
                  <a:srgbClr val="637B93"/>
                </a:solidFill>
                <a:latin typeface="Aptos" pitchFamily="34" charset="0"/>
                <a:ea typeface="Aptos" pitchFamily="34" charset="-122"/>
                <a:cs typeface="Aptos" pitchFamily="34" charset="-120"/>
              </a:rPr>
              <a:t>median + MAD</a:t>
            </a:r>
            <a:endParaRPr lang="en-US" sz="1000" dirty="0"/>
          </a:p>
        </p:txBody>
      </p:sp>
      <p:sp>
        <p:nvSpPr>
          <p:cNvPr id="41" name="Shape 37"/>
          <p:cNvSpPr/>
          <p:nvPr/>
        </p:nvSpPr>
        <p:spPr>
          <a:xfrm>
            <a:off x="7424928" y="5559552"/>
            <a:ext cx="3520440" cy="320040"/>
          </a:xfrm>
          <a:prstGeom prst="roundRect">
            <a:avLst>
              <a:gd name="adj" fmla="val 22857"/>
            </a:avLst>
          </a:prstGeom>
          <a:solidFill>
            <a:srgbClr val="FFF4F4"/>
          </a:solidFill>
          <a:ln w="12700">
            <a:solidFill>
              <a:srgbClr val="C73B3B"/>
            </a:solidFill>
            <a:prstDash val="solid"/>
          </a:ln>
        </p:spPr>
      </p:sp>
      <p:sp>
        <p:nvSpPr>
          <p:cNvPr id="42" name="Text 38"/>
          <p:cNvSpPr/>
          <p:nvPr/>
        </p:nvSpPr>
        <p:spPr>
          <a:xfrm>
            <a:off x="7534656" y="5632704"/>
            <a:ext cx="3300984" cy="173736"/>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Anomaly score ≠ formal Z-test with a p-value.</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sp>
        <p:nvSpPr>
          <p:cNvPr id="4" name="Text 2"/>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From Unusual Observations to an Event</a:t>
            </a:r>
            <a:endParaRPr lang="en-US" sz="2500" dirty="0"/>
          </a:p>
        </p:txBody>
      </p:sp>
      <p:sp>
        <p:nvSpPr>
          <p:cNvPr id="5" name="Text 3"/>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Thresholds, rate of change, persistence and segmentation</a:t>
            </a:r>
            <a:endParaRPr lang="en-US" sz="1450" dirty="0"/>
          </a:p>
        </p:txBody>
      </p:sp>
      <p:sp>
        <p:nvSpPr>
          <p:cNvPr id="6" name="Shape 4"/>
          <p:cNvSpPr/>
          <p:nvPr/>
        </p:nvSpPr>
        <p:spPr>
          <a:xfrm>
            <a:off x="914400" y="1600200"/>
            <a:ext cx="2148840" cy="1874520"/>
          </a:xfrm>
          <a:prstGeom prst="roundRect">
            <a:avLst>
              <a:gd name="adj" fmla="val 3902"/>
            </a:avLst>
          </a:prstGeom>
          <a:solidFill>
            <a:srgbClr val="FFFFFF"/>
          </a:solidFill>
          <a:ln w="12700">
            <a:solidFill>
              <a:srgbClr val="25A7D9"/>
            </a:solidFill>
            <a:prstDash val="solid"/>
          </a:ln>
        </p:spPr>
      </p:sp>
      <p:sp>
        <p:nvSpPr>
          <p:cNvPr id="7" name="Shape 5"/>
          <p:cNvSpPr/>
          <p:nvPr/>
        </p:nvSpPr>
        <p:spPr>
          <a:xfrm>
            <a:off x="1124712" y="1801368"/>
            <a:ext cx="1719072" cy="256032"/>
          </a:xfrm>
          <a:prstGeom prst="roundRect">
            <a:avLst>
              <a:gd name="adj" fmla="val 21429"/>
            </a:avLst>
          </a:prstGeom>
          <a:solidFill>
            <a:srgbClr val="25A7D9"/>
          </a:solidFill>
          <a:ln w="12700">
            <a:solidFill>
              <a:srgbClr val="25A7D9">
                <a:alpha val="0"/>
              </a:srgbClr>
            </a:solidFill>
            <a:prstDash val="solid"/>
          </a:ln>
        </p:spPr>
      </p:sp>
      <p:sp>
        <p:nvSpPr>
          <p:cNvPr id="8" name="Text 6"/>
          <p:cNvSpPr/>
          <p:nvPr/>
        </p:nvSpPr>
        <p:spPr>
          <a:xfrm>
            <a:off x="1170432" y="1810512"/>
            <a:ext cx="1627632"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ANOMALY SCORES</a:t>
            </a:r>
            <a:endParaRPr lang="en-US" sz="900" dirty="0"/>
          </a:p>
        </p:txBody>
      </p:sp>
      <p:sp>
        <p:nvSpPr>
          <p:cNvPr id="9" name="Text 7"/>
          <p:cNvSpPr/>
          <p:nvPr/>
        </p:nvSpPr>
        <p:spPr>
          <a:xfrm>
            <a:off x="1097280" y="2331720"/>
            <a:ext cx="1783080" cy="310896"/>
          </a:xfrm>
          <a:prstGeom prst="rect">
            <a:avLst/>
          </a:prstGeom>
          <a:noFill/>
          <a:ln/>
        </p:spPr>
        <p:txBody>
          <a:bodyPr wrap="square" lIns="508" tIns="508" rIns="508" bIns="508" rtlCol="0" anchor="ctr">
            <a:normAutofit/>
          </a:bodyPr>
          <a:lstStyle/>
          <a:p>
            <a:pPr algn="ctr" indent="0" marL="0">
              <a:buNone/>
            </a:pPr>
            <a:r>
              <a:rPr lang="en-US" sz="1200" b="1" dirty="0">
                <a:solidFill>
                  <a:srgbClr val="0B1F5B"/>
                </a:solidFill>
                <a:latin typeface="Aptos" pitchFamily="34" charset="0"/>
                <a:ea typeface="Aptos" pitchFamily="34" charset="-122"/>
                <a:cs typeface="Aptos" pitchFamily="34" charset="-120"/>
              </a:rPr>
              <a:t>z_mean / z_mad</a:t>
            </a:r>
            <a:endParaRPr lang="en-US" sz="1200" dirty="0"/>
          </a:p>
        </p:txBody>
      </p:sp>
      <p:sp>
        <p:nvSpPr>
          <p:cNvPr id="10" name="Shape 8"/>
          <p:cNvSpPr/>
          <p:nvPr/>
        </p:nvSpPr>
        <p:spPr>
          <a:xfrm>
            <a:off x="3136392" y="2331720"/>
            <a:ext cx="228600" cy="256032"/>
          </a:xfrm>
          <a:prstGeom prst="chevron">
            <a:avLst/>
          </a:prstGeom>
          <a:solidFill>
            <a:srgbClr val="1C67B5"/>
          </a:solidFill>
          <a:ln w="12700">
            <a:solidFill>
              <a:srgbClr val="1C67B5">
                <a:alpha val="0"/>
              </a:srgbClr>
            </a:solidFill>
            <a:prstDash val="solid"/>
          </a:ln>
        </p:spPr>
      </p:sp>
      <p:sp>
        <p:nvSpPr>
          <p:cNvPr id="11" name="Shape 9"/>
          <p:cNvSpPr/>
          <p:nvPr/>
        </p:nvSpPr>
        <p:spPr>
          <a:xfrm>
            <a:off x="3520440" y="1600200"/>
            <a:ext cx="2148840" cy="1874520"/>
          </a:xfrm>
          <a:prstGeom prst="roundRect">
            <a:avLst>
              <a:gd name="adj" fmla="val 3902"/>
            </a:avLst>
          </a:prstGeom>
          <a:solidFill>
            <a:srgbClr val="FFFFFF"/>
          </a:solidFill>
          <a:ln w="12700">
            <a:solidFill>
              <a:srgbClr val="1C67B5"/>
            </a:solidFill>
            <a:prstDash val="solid"/>
          </a:ln>
        </p:spPr>
      </p:sp>
      <p:sp>
        <p:nvSpPr>
          <p:cNvPr id="12" name="Shape 10"/>
          <p:cNvSpPr/>
          <p:nvPr/>
        </p:nvSpPr>
        <p:spPr>
          <a:xfrm>
            <a:off x="3730752" y="1801368"/>
            <a:ext cx="1719072" cy="256032"/>
          </a:xfrm>
          <a:prstGeom prst="roundRect">
            <a:avLst>
              <a:gd name="adj" fmla="val 21429"/>
            </a:avLst>
          </a:prstGeom>
          <a:solidFill>
            <a:srgbClr val="1C67B5"/>
          </a:solidFill>
          <a:ln w="12700">
            <a:solidFill>
              <a:srgbClr val="1C67B5">
                <a:alpha val="0"/>
              </a:srgbClr>
            </a:solidFill>
            <a:prstDash val="solid"/>
          </a:ln>
        </p:spPr>
      </p:sp>
      <p:sp>
        <p:nvSpPr>
          <p:cNvPr id="13" name="Text 11"/>
          <p:cNvSpPr/>
          <p:nvPr/>
        </p:nvSpPr>
        <p:spPr>
          <a:xfrm>
            <a:off x="3776472" y="1810512"/>
            <a:ext cx="1627632"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RAPID CHANGE</a:t>
            </a:r>
            <a:endParaRPr lang="en-US" sz="900" dirty="0"/>
          </a:p>
        </p:txBody>
      </p:sp>
      <p:sp>
        <p:nvSpPr>
          <p:cNvPr id="14" name="Text 12"/>
          <p:cNvSpPr/>
          <p:nvPr/>
        </p:nvSpPr>
        <p:spPr>
          <a:xfrm>
            <a:off x="3703320" y="2331720"/>
            <a:ext cx="1783080" cy="310896"/>
          </a:xfrm>
          <a:prstGeom prst="rect">
            <a:avLst/>
          </a:prstGeom>
          <a:noFill/>
          <a:ln/>
        </p:spPr>
        <p:txBody>
          <a:bodyPr wrap="square" lIns="508" tIns="508" rIns="508" bIns="508" rtlCol="0" anchor="ctr">
            <a:normAutofit/>
          </a:bodyPr>
          <a:lstStyle/>
          <a:p>
            <a:pPr algn="ctr" indent="0" marL="0">
              <a:buNone/>
            </a:pPr>
            <a:r>
              <a:rPr lang="en-US" sz="1200" b="1" dirty="0">
                <a:solidFill>
                  <a:srgbClr val="0B1F5B"/>
                </a:solidFill>
                <a:latin typeface="Aptos" pitchFamily="34" charset="0"/>
                <a:ea typeface="Aptos" pitchFamily="34" charset="-122"/>
                <a:cs typeface="Aptos" pitchFamily="34" charset="-120"/>
              </a:rPr>
              <a:t>ROC / local slope</a:t>
            </a:r>
            <a:endParaRPr lang="en-US" sz="1200" dirty="0"/>
          </a:p>
        </p:txBody>
      </p:sp>
      <p:sp>
        <p:nvSpPr>
          <p:cNvPr id="15" name="Shape 13"/>
          <p:cNvSpPr/>
          <p:nvPr/>
        </p:nvSpPr>
        <p:spPr>
          <a:xfrm>
            <a:off x="5742432" y="2331720"/>
            <a:ext cx="228600" cy="256032"/>
          </a:xfrm>
          <a:prstGeom prst="chevron">
            <a:avLst/>
          </a:prstGeom>
          <a:solidFill>
            <a:srgbClr val="1C67B5"/>
          </a:solidFill>
          <a:ln w="12700">
            <a:solidFill>
              <a:srgbClr val="1C67B5">
                <a:alpha val="0"/>
              </a:srgbClr>
            </a:solidFill>
            <a:prstDash val="solid"/>
          </a:ln>
        </p:spPr>
      </p:sp>
      <p:sp>
        <p:nvSpPr>
          <p:cNvPr id="16" name="Shape 14"/>
          <p:cNvSpPr/>
          <p:nvPr/>
        </p:nvSpPr>
        <p:spPr>
          <a:xfrm>
            <a:off x="6126480" y="1600200"/>
            <a:ext cx="2148840" cy="1874520"/>
          </a:xfrm>
          <a:prstGeom prst="roundRect">
            <a:avLst>
              <a:gd name="adj" fmla="val 3902"/>
            </a:avLst>
          </a:prstGeom>
          <a:solidFill>
            <a:srgbClr val="FFFFFF"/>
          </a:solidFill>
          <a:ln w="12700">
            <a:solidFill>
              <a:srgbClr val="E9A21B"/>
            </a:solidFill>
            <a:prstDash val="solid"/>
          </a:ln>
        </p:spPr>
      </p:sp>
      <p:sp>
        <p:nvSpPr>
          <p:cNvPr id="17" name="Shape 15"/>
          <p:cNvSpPr/>
          <p:nvPr/>
        </p:nvSpPr>
        <p:spPr>
          <a:xfrm>
            <a:off x="6336792" y="1801368"/>
            <a:ext cx="1719072" cy="256032"/>
          </a:xfrm>
          <a:prstGeom prst="roundRect">
            <a:avLst>
              <a:gd name="adj" fmla="val 21429"/>
            </a:avLst>
          </a:prstGeom>
          <a:solidFill>
            <a:srgbClr val="E9A21B"/>
          </a:solidFill>
          <a:ln w="12700">
            <a:solidFill>
              <a:srgbClr val="E9A21B">
                <a:alpha val="0"/>
              </a:srgbClr>
            </a:solidFill>
            <a:prstDash val="solid"/>
          </a:ln>
        </p:spPr>
      </p:sp>
      <p:sp>
        <p:nvSpPr>
          <p:cNvPr id="18" name="Text 16"/>
          <p:cNvSpPr/>
          <p:nvPr/>
        </p:nvSpPr>
        <p:spPr>
          <a:xfrm>
            <a:off x="6382512" y="1810512"/>
            <a:ext cx="1627632"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PERSISTENCE</a:t>
            </a:r>
            <a:endParaRPr lang="en-US" sz="900" dirty="0"/>
          </a:p>
        </p:txBody>
      </p:sp>
      <p:sp>
        <p:nvSpPr>
          <p:cNvPr id="19" name="Text 17"/>
          <p:cNvSpPr/>
          <p:nvPr/>
        </p:nvSpPr>
        <p:spPr>
          <a:xfrm>
            <a:off x="6309360" y="2331720"/>
            <a:ext cx="1783080" cy="310896"/>
          </a:xfrm>
          <a:prstGeom prst="rect">
            <a:avLst/>
          </a:prstGeom>
          <a:noFill/>
          <a:ln/>
        </p:spPr>
        <p:txBody>
          <a:bodyPr wrap="square" lIns="508" tIns="508" rIns="508" bIns="508" rtlCol="0" anchor="ctr">
            <a:normAutofit/>
          </a:bodyPr>
          <a:lstStyle/>
          <a:p>
            <a:pPr algn="ctr" indent="0" marL="0">
              <a:buNone/>
            </a:pPr>
            <a:r>
              <a:rPr lang="en-US" sz="1200" b="1" dirty="0">
                <a:solidFill>
                  <a:srgbClr val="0B1F5B"/>
                </a:solidFill>
                <a:latin typeface="Aptos" pitchFamily="34" charset="0"/>
                <a:ea typeface="Aptos" pitchFamily="34" charset="-122"/>
                <a:cs typeface="Aptos" pitchFamily="34" charset="-120"/>
              </a:rPr>
              <a:t>≥3 consecutive points</a:t>
            </a:r>
            <a:endParaRPr lang="en-US" sz="1200" dirty="0"/>
          </a:p>
        </p:txBody>
      </p:sp>
      <p:sp>
        <p:nvSpPr>
          <p:cNvPr id="20" name="Shape 18"/>
          <p:cNvSpPr/>
          <p:nvPr/>
        </p:nvSpPr>
        <p:spPr>
          <a:xfrm>
            <a:off x="8348472" y="2331720"/>
            <a:ext cx="228600" cy="256032"/>
          </a:xfrm>
          <a:prstGeom prst="chevron">
            <a:avLst/>
          </a:prstGeom>
          <a:solidFill>
            <a:srgbClr val="1C67B5"/>
          </a:solidFill>
          <a:ln w="12700">
            <a:solidFill>
              <a:srgbClr val="1C67B5">
                <a:alpha val="0"/>
              </a:srgbClr>
            </a:solidFill>
            <a:prstDash val="solid"/>
          </a:ln>
        </p:spPr>
      </p:sp>
      <p:sp>
        <p:nvSpPr>
          <p:cNvPr id="21" name="Shape 19"/>
          <p:cNvSpPr/>
          <p:nvPr/>
        </p:nvSpPr>
        <p:spPr>
          <a:xfrm>
            <a:off x="8732520" y="1600200"/>
            <a:ext cx="2148840" cy="1874520"/>
          </a:xfrm>
          <a:prstGeom prst="roundRect">
            <a:avLst>
              <a:gd name="adj" fmla="val 3902"/>
            </a:avLst>
          </a:prstGeom>
          <a:solidFill>
            <a:srgbClr val="FFFFFF"/>
          </a:solidFill>
          <a:ln w="12700">
            <a:solidFill>
              <a:srgbClr val="7454C7"/>
            </a:solidFill>
            <a:prstDash val="solid"/>
          </a:ln>
        </p:spPr>
      </p:sp>
      <p:sp>
        <p:nvSpPr>
          <p:cNvPr id="22" name="Shape 20"/>
          <p:cNvSpPr/>
          <p:nvPr/>
        </p:nvSpPr>
        <p:spPr>
          <a:xfrm>
            <a:off x="8942832" y="1801368"/>
            <a:ext cx="1719072" cy="256032"/>
          </a:xfrm>
          <a:prstGeom prst="roundRect">
            <a:avLst>
              <a:gd name="adj" fmla="val 21429"/>
            </a:avLst>
          </a:prstGeom>
          <a:solidFill>
            <a:srgbClr val="7454C7"/>
          </a:solidFill>
          <a:ln w="12700">
            <a:solidFill>
              <a:srgbClr val="7454C7">
                <a:alpha val="0"/>
              </a:srgbClr>
            </a:solidFill>
            <a:prstDash val="solid"/>
          </a:ln>
        </p:spPr>
      </p:sp>
      <p:sp>
        <p:nvSpPr>
          <p:cNvPr id="23" name="Text 21"/>
          <p:cNvSpPr/>
          <p:nvPr/>
        </p:nvSpPr>
        <p:spPr>
          <a:xfrm>
            <a:off x="8988552" y="1810512"/>
            <a:ext cx="1627632"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SEGMENTATION</a:t>
            </a:r>
            <a:endParaRPr lang="en-US" sz="900" dirty="0"/>
          </a:p>
        </p:txBody>
      </p:sp>
      <p:sp>
        <p:nvSpPr>
          <p:cNvPr id="24" name="Text 22"/>
          <p:cNvSpPr/>
          <p:nvPr/>
        </p:nvSpPr>
        <p:spPr>
          <a:xfrm>
            <a:off x="8915400" y="2331720"/>
            <a:ext cx="1783080" cy="310896"/>
          </a:xfrm>
          <a:prstGeom prst="rect">
            <a:avLst/>
          </a:prstGeom>
          <a:noFill/>
          <a:ln/>
        </p:spPr>
        <p:txBody>
          <a:bodyPr wrap="square" lIns="508" tIns="508" rIns="508" bIns="508" rtlCol="0" anchor="ctr">
            <a:normAutofit/>
          </a:bodyPr>
          <a:lstStyle/>
          <a:p>
            <a:pPr algn="ctr" indent="0" marL="0">
              <a:buNone/>
            </a:pPr>
            <a:r>
              <a:rPr lang="en-US" sz="1200" b="1" dirty="0">
                <a:solidFill>
                  <a:srgbClr val="0B1F5B"/>
                </a:solidFill>
                <a:latin typeface="Aptos" pitchFamily="34" charset="0"/>
                <a:ea typeface="Aptos" pitchFamily="34" charset="-122"/>
                <a:cs typeface="Aptos" pitchFamily="34" charset="-120"/>
              </a:rPr>
              <a:t>START / PEAK / END</a:t>
            </a:r>
            <a:endParaRPr lang="en-US" sz="1200" dirty="0"/>
          </a:p>
        </p:txBody>
      </p:sp>
      <p:sp>
        <p:nvSpPr>
          <p:cNvPr id="25" name="Shape 23"/>
          <p:cNvSpPr/>
          <p:nvPr/>
        </p:nvSpPr>
        <p:spPr>
          <a:xfrm>
            <a:off x="914400" y="3822192"/>
            <a:ext cx="6812280" cy="1965960"/>
          </a:xfrm>
          <a:prstGeom prst="roundRect">
            <a:avLst>
              <a:gd name="adj" fmla="val 3721"/>
            </a:avLst>
          </a:prstGeom>
          <a:solidFill>
            <a:srgbClr val="FFFFFF"/>
          </a:solidFill>
          <a:ln w="12700">
            <a:solidFill>
              <a:srgbClr val="BDD7EC"/>
            </a:solidFill>
            <a:prstDash val="solid"/>
          </a:ln>
        </p:spPr>
      </p:sp>
      <p:pic>
        <p:nvPicPr>
          <p:cNvPr id="26" name="Image 0" descr="/mnt/data/ppt_project/reports/figures/fig5_derivatives_and_slopes.png">    </p:cNvPr>
          <p:cNvPicPr>
            <a:picLocks noChangeAspect="1"/>
          </p:cNvPicPr>
          <p:nvPr/>
        </p:nvPicPr>
        <p:blipFill>
          <a:blip r:embed="rId1"/>
          <a:stretch>
            <a:fillRect/>
          </a:stretch>
        </p:blipFill>
        <p:spPr>
          <a:xfrm>
            <a:off x="3120390" y="4005072"/>
            <a:ext cx="2372868" cy="1581912"/>
          </a:xfrm>
          <a:prstGeom prst="rect">
            <a:avLst/>
          </a:prstGeom>
        </p:spPr>
      </p:pic>
      <p:sp>
        <p:nvSpPr>
          <p:cNvPr id="27" name="Shape 24"/>
          <p:cNvSpPr/>
          <p:nvPr/>
        </p:nvSpPr>
        <p:spPr>
          <a:xfrm>
            <a:off x="7973568" y="3822192"/>
            <a:ext cx="3611880" cy="1965960"/>
          </a:xfrm>
          <a:prstGeom prst="roundRect">
            <a:avLst>
              <a:gd name="adj" fmla="val 3721"/>
            </a:avLst>
          </a:prstGeom>
          <a:solidFill>
            <a:srgbClr val="EEF6FD"/>
          </a:solidFill>
          <a:ln w="12700">
            <a:solidFill>
              <a:srgbClr val="BDD7EC"/>
            </a:solidFill>
            <a:prstDash val="solid"/>
          </a:ln>
        </p:spPr>
      </p:sp>
      <p:sp>
        <p:nvSpPr>
          <p:cNvPr id="28" name="Text 25"/>
          <p:cNvSpPr/>
          <p:nvPr/>
        </p:nvSpPr>
        <p:spPr>
          <a:xfrm>
            <a:off x="8247888" y="4023360"/>
            <a:ext cx="3063240" cy="274320"/>
          </a:xfrm>
          <a:prstGeom prst="rect">
            <a:avLst/>
          </a:prstGeom>
          <a:noFill/>
          <a:ln/>
        </p:spPr>
        <p:txBody>
          <a:bodyPr wrap="square" lIns="508" tIns="508" rIns="508" bIns="508" rtlCol="0" anchor="ctr">
            <a:normAutofit/>
          </a:bodyPr>
          <a:lstStyle/>
          <a:p>
            <a:pPr algn="l" indent="0" marL="0">
              <a:buNone/>
            </a:pPr>
            <a:r>
              <a:rPr lang="en-US" sz="1600" b="1" dirty="0">
                <a:solidFill>
                  <a:srgbClr val="0B1F5B"/>
                </a:solidFill>
                <a:latin typeface="Georgia" pitchFamily="34" charset="0"/>
                <a:ea typeface="Georgia" pitchFamily="34" charset="-122"/>
                <a:cs typeface="Georgia" pitchFamily="34" charset="-120"/>
              </a:rPr>
              <a:t>Frozen detector configuration</a:t>
            </a:r>
            <a:endParaRPr lang="en-US" sz="1600" dirty="0"/>
          </a:p>
        </p:txBody>
      </p:sp>
      <p:sp>
        <p:nvSpPr>
          <p:cNvPr id="29" name="Text 26"/>
          <p:cNvSpPr/>
          <p:nvPr/>
        </p:nvSpPr>
        <p:spPr>
          <a:xfrm>
            <a:off x="8284464" y="4498848"/>
            <a:ext cx="1828800" cy="164592"/>
          </a:xfrm>
          <a:prstGeom prst="rect">
            <a:avLst/>
          </a:prstGeom>
          <a:noFill/>
          <a:ln/>
        </p:spPr>
        <p:txBody>
          <a:bodyPr wrap="square" lIns="508" tIns="508" rIns="508" bIns="508" rtlCol="0" anchor="ctr">
            <a:normAutofit/>
          </a:bodyPr>
          <a:lstStyle/>
          <a:p>
            <a:pPr algn="l" indent="0" marL="0">
              <a:buNone/>
            </a:pPr>
            <a:r>
              <a:rPr lang="en-US" sz="980" dirty="0">
                <a:solidFill>
                  <a:srgbClr val="637B93"/>
                </a:solidFill>
                <a:latin typeface="Aptos" pitchFamily="34" charset="0"/>
                <a:ea typeface="Aptos" pitchFamily="34" charset="-122"/>
                <a:cs typeface="Aptos" pitchFamily="34" charset="-120"/>
              </a:rPr>
              <a:t>Z mean threshold</a:t>
            </a:r>
            <a:endParaRPr lang="en-US" sz="980" dirty="0"/>
          </a:p>
        </p:txBody>
      </p:sp>
      <p:sp>
        <p:nvSpPr>
          <p:cNvPr id="30" name="Text 27"/>
          <p:cNvSpPr/>
          <p:nvPr/>
        </p:nvSpPr>
        <p:spPr>
          <a:xfrm>
            <a:off x="10360152" y="4498848"/>
            <a:ext cx="612648" cy="164592"/>
          </a:xfrm>
          <a:prstGeom prst="rect">
            <a:avLst/>
          </a:prstGeom>
          <a:noFill/>
          <a:ln/>
        </p:spPr>
        <p:txBody>
          <a:bodyPr wrap="square" lIns="508" tIns="508" rIns="508" bIns="508" rtlCol="0" anchor="ctr">
            <a:normAutofit/>
          </a:bodyPr>
          <a:lstStyle/>
          <a:p>
            <a:pPr algn="r" indent="0" marL="0">
              <a:buNone/>
            </a:pPr>
            <a:r>
              <a:rPr lang="en-US" sz="1020" b="1" dirty="0">
                <a:solidFill>
                  <a:srgbClr val="0B1F5B"/>
                </a:solidFill>
                <a:latin typeface="Aptos" pitchFamily="34" charset="0"/>
                <a:ea typeface="Aptos" pitchFamily="34" charset="-122"/>
                <a:cs typeface="Aptos" pitchFamily="34" charset="-120"/>
              </a:rPr>
              <a:t>3.0</a:t>
            </a:r>
            <a:endParaRPr lang="en-US" sz="1020" dirty="0"/>
          </a:p>
        </p:txBody>
      </p:sp>
      <p:sp>
        <p:nvSpPr>
          <p:cNvPr id="31" name="Text 28"/>
          <p:cNvSpPr/>
          <p:nvPr/>
        </p:nvSpPr>
        <p:spPr>
          <a:xfrm>
            <a:off x="8284464" y="4727448"/>
            <a:ext cx="1828800" cy="164592"/>
          </a:xfrm>
          <a:prstGeom prst="rect">
            <a:avLst/>
          </a:prstGeom>
          <a:noFill/>
          <a:ln/>
        </p:spPr>
        <p:txBody>
          <a:bodyPr wrap="square" lIns="508" tIns="508" rIns="508" bIns="508" rtlCol="0" anchor="ctr">
            <a:normAutofit/>
          </a:bodyPr>
          <a:lstStyle/>
          <a:p>
            <a:pPr algn="l" indent="0" marL="0">
              <a:buNone/>
            </a:pPr>
            <a:r>
              <a:rPr lang="en-US" sz="980" dirty="0">
                <a:solidFill>
                  <a:srgbClr val="637B93"/>
                </a:solidFill>
                <a:latin typeface="Aptos" pitchFamily="34" charset="0"/>
                <a:ea typeface="Aptos" pitchFamily="34" charset="-122"/>
                <a:cs typeface="Aptos" pitchFamily="34" charset="-120"/>
              </a:rPr>
              <a:t>Robust Z threshold</a:t>
            </a:r>
            <a:endParaRPr lang="en-US" sz="980" dirty="0"/>
          </a:p>
        </p:txBody>
      </p:sp>
      <p:sp>
        <p:nvSpPr>
          <p:cNvPr id="32" name="Text 29"/>
          <p:cNvSpPr/>
          <p:nvPr/>
        </p:nvSpPr>
        <p:spPr>
          <a:xfrm>
            <a:off x="10360152" y="4727448"/>
            <a:ext cx="612648" cy="164592"/>
          </a:xfrm>
          <a:prstGeom prst="rect">
            <a:avLst/>
          </a:prstGeom>
          <a:noFill/>
          <a:ln/>
        </p:spPr>
        <p:txBody>
          <a:bodyPr wrap="square" lIns="508" tIns="508" rIns="508" bIns="508" rtlCol="0" anchor="ctr">
            <a:normAutofit/>
          </a:bodyPr>
          <a:lstStyle/>
          <a:p>
            <a:pPr algn="r" indent="0" marL="0">
              <a:buNone/>
            </a:pPr>
            <a:r>
              <a:rPr lang="en-US" sz="1020" b="1" dirty="0">
                <a:solidFill>
                  <a:srgbClr val="0B1F5B"/>
                </a:solidFill>
                <a:latin typeface="Aptos" pitchFamily="34" charset="0"/>
                <a:ea typeface="Aptos" pitchFamily="34" charset="-122"/>
                <a:cs typeface="Aptos" pitchFamily="34" charset="-120"/>
              </a:rPr>
              <a:t>3.0</a:t>
            </a:r>
            <a:endParaRPr lang="en-US" sz="1020" dirty="0"/>
          </a:p>
        </p:txBody>
      </p:sp>
      <p:sp>
        <p:nvSpPr>
          <p:cNvPr id="33" name="Text 30"/>
          <p:cNvSpPr/>
          <p:nvPr/>
        </p:nvSpPr>
        <p:spPr>
          <a:xfrm>
            <a:off x="8284464" y="4956048"/>
            <a:ext cx="1828800" cy="164592"/>
          </a:xfrm>
          <a:prstGeom prst="rect">
            <a:avLst/>
          </a:prstGeom>
          <a:noFill/>
          <a:ln/>
        </p:spPr>
        <p:txBody>
          <a:bodyPr wrap="square" lIns="508" tIns="508" rIns="508" bIns="508" rtlCol="0" anchor="ctr">
            <a:normAutofit/>
          </a:bodyPr>
          <a:lstStyle/>
          <a:p>
            <a:pPr algn="l" indent="0" marL="0">
              <a:buNone/>
            </a:pPr>
            <a:r>
              <a:rPr lang="en-US" sz="980" dirty="0">
                <a:solidFill>
                  <a:srgbClr val="637B93"/>
                </a:solidFill>
                <a:latin typeface="Aptos" pitchFamily="34" charset="0"/>
                <a:ea typeface="Aptos" pitchFamily="34" charset="-122"/>
                <a:cs typeface="Aptos" pitchFamily="34" charset="-120"/>
              </a:rPr>
              <a:t>ROC threshold</a:t>
            </a:r>
            <a:endParaRPr lang="en-US" sz="980" dirty="0"/>
          </a:p>
        </p:txBody>
      </p:sp>
      <p:sp>
        <p:nvSpPr>
          <p:cNvPr id="34" name="Text 31"/>
          <p:cNvSpPr/>
          <p:nvPr/>
        </p:nvSpPr>
        <p:spPr>
          <a:xfrm>
            <a:off x="10360152" y="4956048"/>
            <a:ext cx="612648" cy="164592"/>
          </a:xfrm>
          <a:prstGeom prst="rect">
            <a:avLst/>
          </a:prstGeom>
          <a:noFill/>
          <a:ln/>
        </p:spPr>
        <p:txBody>
          <a:bodyPr wrap="square" lIns="508" tIns="508" rIns="508" bIns="508" rtlCol="0" anchor="ctr">
            <a:normAutofit/>
          </a:bodyPr>
          <a:lstStyle/>
          <a:p>
            <a:pPr algn="r" indent="0" marL="0">
              <a:buNone/>
            </a:pPr>
            <a:r>
              <a:rPr lang="en-US" sz="1020" b="1" dirty="0">
                <a:solidFill>
                  <a:srgbClr val="0B1F5B"/>
                </a:solidFill>
                <a:latin typeface="Aptos" pitchFamily="34" charset="0"/>
                <a:ea typeface="Aptos" pitchFamily="34" charset="-122"/>
                <a:cs typeface="Aptos" pitchFamily="34" charset="-120"/>
              </a:rPr>
              <a:t>0.05</a:t>
            </a:r>
            <a:endParaRPr lang="en-US" sz="1020" dirty="0"/>
          </a:p>
        </p:txBody>
      </p:sp>
      <p:sp>
        <p:nvSpPr>
          <p:cNvPr id="35" name="Text 32"/>
          <p:cNvSpPr/>
          <p:nvPr/>
        </p:nvSpPr>
        <p:spPr>
          <a:xfrm>
            <a:off x="8284464" y="5184648"/>
            <a:ext cx="1828800" cy="164592"/>
          </a:xfrm>
          <a:prstGeom prst="rect">
            <a:avLst/>
          </a:prstGeom>
          <a:noFill/>
          <a:ln/>
        </p:spPr>
        <p:txBody>
          <a:bodyPr wrap="square" lIns="508" tIns="508" rIns="508" bIns="508" rtlCol="0" anchor="ctr">
            <a:normAutofit/>
          </a:bodyPr>
          <a:lstStyle/>
          <a:p>
            <a:pPr algn="l" indent="0" marL="0">
              <a:buNone/>
            </a:pPr>
            <a:r>
              <a:rPr lang="en-US" sz="980" dirty="0">
                <a:solidFill>
                  <a:srgbClr val="637B93"/>
                </a:solidFill>
                <a:latin typeface="Aptos" pitchFamily="34" charset="0"/>
                <a:ea typeface="Aptos" pitchFamily="34" charset="-122"/>
                <a:cs typeface="Aptos" pitchFamily="34" charset="-120"/>
              </a:rPr>
              <a:t>Persistence</a:t>
            </a:r>
            <a:endParaRPr lang="en-US" sz="980" dirty="0"/>
          </a:p>
        </p:txBody>
      </p:sp>
      <p:sp>
        <p:nvSpPr>
          <p:cNvPr id="36" name="Text 33"/>
          <p:cNvSpPr/>
          <p:nvPr/>
        </p:nvSpPr>
        <p:spPr>
          <a:xfrm>
            <a:off x="10360152" y="5184648"/>
            <a:ext cx="612648" cy="164592"/>
          </a:xfrm>
          <a:prstGeom prst="rect">
            <a:avLst/>
          </a:prstGeom>
          <a:noFill/>
          <a:ln/>
        </p:spPr>
        <p:txBody>
          <a:bodyPr wrap="square" lIns="508" tIns="508" rIns="508" bIns="508" rtlCol="0" anchor="ctr">
            <a:normAutofit/>
          </a:bodyPr>
          <a:lstStyle/>
          <a:p>
            <a:pPr algn="r" indent="0" marL="0">
              <a:buNone/>
            </a:pPr>
            <a:r>
              <a:rPr lang="en-US" sz="1020" b="1" dirty="0">
                <a:solidFill>
                  <a:srgbClr val="0B1F5B"/>
                </a:solidFill>
                <a:latin typeface="Aptos" pitchFamily="34" charset="0"/>
                <a:ea typeface="Aptos" pitchFamily="34" charset="-122"/>
                <a:cs typeface="Aptos" pitchFamily="34" charset="-120"/>
              </a:rPr>
              <a:t>3 points</a:t>
            </a:r>
            <a:endParaRPr lang="en-US" sz="1020" dirty="0"/>
          </a:p>
        </p:txBody>
      </p:sp>
      <p:sp>
        <p:nvSpPr>
          <p:cNvPr id="37" name="Text 34"/>
          <p:cNvSpPr/>
          <p:nvPr/>
        </p:nvSpPr>
        <p:spPr>
          <a:xfrm>
            <a:off x="8284464" y="5413248"/>
            <a:ext cx="1828800" cy="164592"/>
          </a:xfrm>
          <a:prstGeom prst="rect">
            <a:avLst/>
          </a:prstGeom>
          <a:noFill/>
          <a:ln/>
        </p:spPr>
        <p:txBody>
          <a:bodyPr wrap="square" lIns="508" tIns="508" rIns="508" bIns="508" rtlCol="0" anchor="ctr">
            <a:normAutofit/>
          </a:bodyPr>
          <a:lstStyle/>
          <a:p>
            <a:pPr algn="l" indent="0" marL="0">
              <a:buNone/>
            </a:pPr>
            <a:r>
              <a:rPr lang="en-US" sz="980" dirty="0">
                <a:solidFill>
                  <a:srgbClr val="637B93"/>
                </a:solidFill>
                <a:latin typeface="Aptos" pitchFamily="34" charset="0"/>
                <a:ea typeface="Aptos" pitchFamily="34" charset="-122"/>
                <a:cs typeface="Aptos" pitchFamily="34" charset="-120"/>
              </a:rPr>
              <a:t>Rolling window</a:t>
            </a:r>
            <a:endParaRPr lang="en-US" sz="980" dirty="0"/>
          </a:p>
        </p:txBody>
      </p:sp>
      <p:sp>
        <p:nvSpPr>
          <p:cNvPr id="38" name="Text 35"/>
          <p:cNvSpPr/>
          <p:nvPr/>
        </p:nvSpPr>
        <p:spPr>
          <a:xfrm>
            <a:off x="10360152" y="5413248"/>
            <a:ext cx="612648" cy="164592"/>
          </a:xfrm>
          <a:prstGeom prst="rect">
            <a:avLst/>
          </a:prstGeom>
          <a:noFill/>
          <a:ln/>
        </p:spPr>
        <p:txBody>
          <a:bodyPr wrap="square" lIns="508" tIns="508" rIns="508" bIns="508" rtlCol="0" anchor="ctr">
            <a:normAutofit/>
          </a:bodyPr>
          <a:lstStyle/>
          <a:p>
            <a:pPr algn="r" indent="0" marL="0">
              <a:buNone/>
            </a:pPr>
            <a:r>
              <a:rPr lang="en-US" sz="1020" b="1" dirty="0">
                <a:solidFill>
                  <a:srgbClr val="0B1F5B"/>
                </a:solidFill>
                <a:latin typeface="Aptos" pitchFamily="34" charset="0"/>
                <a:ea typeface="Aptos" pitchFamily="34" charset="-122"/>
                <a:cs typeface="Aptos" pitchFamily="34" charset="-120"/>
              </a:rPr>
              <a:t>30 min</a:t>
            </a:r>
            <a:endParaRPr lang="en-US" sz="1020" dirty="0"/>
          </a:p>
        </p:txBody>
      </p:sp>
      <p:sp>
        <p:nvSpPr>
          <p:cNvPr id="39" name="Shape 36"/>
          <p:cNvSpPr/>
          <p:nvPr/>
        </p:nvSpPr>
        <p:spPr>
          <a:xfrm>
            <a:off x="3044952" y="5925312"/>
            <a:ext cx="6126480" cy="384048"/>
          </a:xfrm>
          <a:prstGeom prst="roundRect">
            <a:avLst>
              <a:gd name="adj" fmla="val 19048"/>
            </a:avLst>
          </a:prstGeom>
          <a:solidFill>
            <a:srgbClr val="FFF8E6"/>
          </a:solidFill>
          <a:ln w="12700">
            <a:solidFill>
              <a:srgbClr val="E9A21B"/>
            </a:solidFill>
            <a:prstDash val="solid"/>
          </a:ln>
        </p:spPr>
      </p:sp>
      <p:sp>
        <p:nvSpPr>
          <p:cNvPr id="40" name="Text 37"/>
          <p:cNvSpPr/>
          <p:nvPr/>
        </p:nvSpPr>
        <p:spPr>
          <a:xfrm>
            <a:off x="3154680" y="5998464"/>
            <a:ext cx="5907024" cy="23774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One unusual point may be noise. An event requires sustained evidence.</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An Event Has a Shape</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START → RISE → PEAK → DECAY → END</a:t>
            </a:r>
            <a:endParaRPr lang="en-US" sz="1450" dirty="0"/>
          </a:p>
        </p:txBody>
      </p:sp>
      <p:sp>
        <p:nvSpPr>
          <p:cNvPr id="8" name="Shape 5"/>
          <p:cNvSpPr/>
          <p:nvPr/>
        </p:nvSpPr>
        <p:spPr>
          <a:xfrm>
            <a:off x="1481328" y="1353312"/>
            <a:ext cx="7772400" cy="4526280"/>
          </a:xfrm>
          <a:prstGeom prst="roundRect">
            <a:avLst>
              <a:gd name="adj" fmla="val 1616"/>
            </a:avLst>
          </a:prstGeom>
          <a:solidFill>
            <a:srgbClr val="FFFFFF"/>
          </a:solidFill>
          <a:ln w="12700">
            <a:solidFill>
              <a:srgbClr val="BDD7EC"/>
            </a:solidFill>
            <a:prstDash val="solid"/>
          </a:ln>
        </p:spPr>
      </p:sp>
      <p:pic>
        <p:nvPicPr>
          <p:cNvPr id="9" name="Image 1" descr="/mnt/data/ppt_assets/event_lifecycle_actual.png">    </p:cNvPr>
          <p:cNvPicPr>
            <a:picLocks noChangeAspect="1"/>
          </p:cNvPicPr>
          <p:nvPr/>
        </p:nvPicPr>
        <p:blipFill>
          <a:blip r:embed="rId2"/>
          <a:stretch>
            <a:fillRect/>
          </a:stretch>
        </p:blipFill>
        <p:spPr>
          <a:xfrm>
            <a:off x="1691640" y="2004713"/>
            <a:ext cx="7333488" cy="2793710"/>
          </a:xfrm>
          <a:prstGeom prst="rect">
            <a:avLst/>
          </a:prstGeom>
        </p:spPr>
      </p:pic>
      <p:sp>
        <p:nvSpPr>
          <p:cNvPr id="10" name="Shape 6"/>
          <p:cNvSpPr/>
          <p:nvPr/>
        </p:nvSpPr>
        <p:spPr>
          <a:xfrm>
            <a:off x="9464040" y="1353312"/>
            <a:ext cx="2194560" cy="4526280"/>
          </a:xfrm>
          <a:prstGeom prst="roundRect">
            <a:avLst>
              <a:gd name="adj" fmla="val 3333"/>
            </a:avLst>
          </a:prstGeom>
          <a:solidFill>
            <a:srgbClr val="FFFFFF"/>
          </a:solidFill>
          <a:ln w="12700">
            <a:solidFill>
              <a:srgbClr val="BDD7EC"/>
            </a:solidFill>
            <a:prstDash val="solid"/>
          </a:ln>
        </p:spPr>
      </p:sp>
      <p:sp>
        <p:nvSpPr>
          <p:cNvPr id="11" name="Text 7"/>
          <p:cNvSpPr/>
          <p:nvPr/>
        </p:nvSpPr>
        <p:spPr>
          <a:xfrm>
            <a:off x="9765792" y="1682496"/>
            <a:ext cx="658368" cy="201168"/>
          </a:xfrm>
          <a:prstGeom prst="rect">
            <a:avLst/>
          </a:prstGeom>
          <a:noFill/>
          <a:ln/>
        </p:spPr>
        <p:txBody>
          <a:bodyPr wrap="square" lIns="508" tIns="508" rIns="508" bIns="508" rtlCol="0" anchor="ctr">
            <a:normAutofit/>
          </a:bodyPr>
          <a:lstStyle/>
          <a:p>
            <a:pPr algn="l" indent="0" marL="0">
              <a:buNone/>
            </a:pPr>
            <a:r>
              <a:rPr lang="en-US" sz="1150" b="1" dirty="0">
                <a:solidFill>
                  <a:srgbClr val="2E8B57"/>
                </a:solidFill>
                <a:latin typeface="Aptos" pitchFamily="34" charset="0"/>
                <a:ea typeface="Aptos" pitchFamily="34" charset="-122"/>
                <a:cs typeface="Aptos" pitchFamily="34" charset="-120"/>
              </a:rPr>
              <a:t>START</a:t>
            </a:r>
            <a:endParaRPr lang="en-US" sz="1150" dirty="0"/>
          </a:p>
        </p:txBody>
      </p:sp>
      <p:sp>
        <p:nvSpPr>
          <p:cNvPr id="12" name="Text 8"/>
          <p:cNvSpPr/>
          <p:nvPr/>
        </p:nvSpPr>
        <p:spPr>
          <a:xfrm>
            <a:off x="10405872" y="1682496"/>
            <a:ext cx="960120" cy="329184"/>
          </a:xfrm>
          <a:prstGeom prst="rect">
            <a:avLst/>
          </a:prstGeom>
          <a:noFill/>
          <a:ln/>
        </p:spPr>
        <p:txBody>
          <a:bodyPr wrap="square" lIns="508" tIns="508" rIns="508" bIns="508" rtlCol="0" anchor="ctr">
            <a:normAutofit/>
          </a:bodyPr>
          <a:lstStyle/>
          <a:p>
            <a:pPr algn="l" indent="0" marL="0">
              <a:buNone/>
            </a:pPr>
            <a:r>
              <a:rPr lang="en-US" sz="970" dirty="0">
                <a:solidFill>
                  <a:srgbClr val="637B93"/>
                </a:solidFill>
                <a:latin typeface="Aptos" pitchFamily="34" charset="0"/>
                <a:ea typeface="Aptos" pitchFamily="34" charset="-122"/>
                <a:cs typeface="Aptos" pitchFamily="34" charset="-120"/>
              </a:rPr>
              <a:t>detected onset</a:t>
            </a:r>
            <a:endParaRPr lang="en-US" sz="970" dirty="0"/>
          </a:p>
        </p:txBody>
      </p:sp>
      <p:sp>
        <p:nvSpPr>
          <p:cNvPr id="13" name="Text 9"/>
          <p:cNvSpPr/>
          <p:nvPr/>
        </p:nvSpPr>
        <p:spPr>
          <a:xfrm>
            <a:off x="9765792" y="2368296"/>
            <a:ext cx="658368" cy="201168"/>
          </a:xfrm>
          <a:prstGeom prst="rect">
            <a:avLst/>
          </a:prstGeom>
          <a:noFill/>
          <a:ln/>
        </p:spPr>
        <p:txBody>
          <a:bodyPr wrap="square" lIns="508" tIns="508" rIns="508" bIns="508" rtlCol="0" anchor="ctr">
            <a:normAutofit/>
          </a:bodyPr>
          <a:lstStyle/>
          <a:p>
            <a:pPr algn="l" indent="0" marL="0">
              <a:buNone/>
            </a:pPr>
            <a:r>
              <a:rPr lang="en-US" sz="1150" b="1" dirty="0">
                <a:solidFill>
                  <a:srgbClr val="25A7D9"/>
                </a:solidFill>
                <a:latin typeface="Aptos" pitchFamily="34" charset="0"/>
                <a:ea typeface="Aptos" pitchFamily="34" charset="-122"/>
                <a:cs typeface="Aptos" pitchFamily="34" charset="-120"/>
              </a:rPr>
              <a:t>RISE</a:t>
            </a:r>
            <a:endParaRPr lang="en-US" sz="1150" dirty="0"/>
          </a:p>
        </p:txBody>
      </p:sp>
      <p:sp>
        <p:nvSpPr>
          <p:cNvPr id="14" name="Text 10"/>
          <p:cNvSpPr/>
          <p:nvPr/>
        </p:nvSpPr>
        <p:spPr>
          <a:xfrm>
            <a:off x="10405872" y="2368296"/>
            <a:ext cx="960120" cy="329184"/>
          </a:xfrm>
          <a:prstGeom prst="rect">
            <a:avLst/>
          </a:prstGeom>
          <a:noFill/>
          <a:ln/>
        </p:spPr>
        <p:txBody>
          <a:bodyPr wrap="square" lIns="508" tIns="508" rIns="508" bIns="508" rtlCol="0" anchor="ctr">
            <a:normAutofit/>
          </a:bodyPr>
          <a:lstStyle/>
          <a:p>
            <a:pPr algn="l" indent="0" marL="0">
              <a:buNone/>
            </a:pPr>
            <a:r>
              <a:rPr lang="en-US" sz="970" dirty="0">
                <a:solidFill>
                  <a:srgbClr val="637B93"/>
                </a:solidFill>
                <a:latin typeface="Aptos" pitchFamily="34" charset="0"/>
                <a:ea typeface="Aptos" pitchFamily="34" charset="-122"/>
                <a:cs typeface="Aptos" pitchFamily="34" charset="-120"/>
              </a:rPr>
              <a:t>impulsive increase</a:t>
            </a:r>
            <a:endParaRPr lang="en-US" sz="970" dirty="0"/>
          </a:p>
        </p:txBody>
      </p:sp>
      <p:sp>
        <p:nvSpPr>
          <p:cNvPr id="15" name="Text 11"/>
          <p:cNvSpPr/>
          <p:nvPr/>
        </p:nvSpPr>
        <p:spPr>
          <a:xfrm>
            <a:off x="9765792" y="3054096"/>
            <a:ext cx="658368" cy="201168"/>
          </a:xfrm>
          <a:prstGeom prst="rect">
            <a:avLst/>
          </a:prstGeom>
          <a:noFill/>
          <a:ln/>
        </p:spPr>
        <p:txBody>
          <a:bodyPr wrap="square" lIns="508" tIns="508" rIns="508" bIns="508" rtlCol="0" anchor="ctr">
            <a:normAutofit/>
          </a:bodyPr>
          <a:lstStyle/>
          <a:p>
            <a:pPr algn="l" indent="0" marL="0">
              <a:buNone/>
            </a:pPr>
            <a:r>
              <a:rPr lang="en-US" sz="1150" b="1" dirty="0">
                <a:solidFill>
                  <a:srgbClr val="E9A21B"/>
                </a:solidFill>
                <a:latin typeface="Aptos" pitchFamily="34" charset="0"/>
                <a:ea typeface="Aptos" pitchFamily="34" charset="-122"/>
                <a:cs typeface="Aptos" pitchFamily="34" charset="-120"/>
              </a:rPr>
              <a:t>PEAK</a:t>
            </a:r>
            <a:endParaRPr lang="en-US" sz="1150" dirty="0"/>
          </a:p>
        </p:txBody>
      </p:sp>
      <p:sp>
        <p:nvSpPr>
          <p:cNvPr id="16" name="Text 12"/>
          <p:cNvSpPr/>
          <p:nvPr/>
        </p:nvSpPr>
        <p:spPr>
          <a:xfrm>
            <a:off x="10405872" y="3054096"/>
            <a:ext cx="960120" cy="329184"/>
          </a:xfrm>
          <a:prstGeom prst="rect">
            <a:avLst/>
          </a:prstGeom>
          <a:noFill/>
          <a:ln/>
        </p:spPr>
        <p:txBody>
          <a:bodyPr wrap="square" lIns="508" tIns="508" rIns="508" bIns="508" rtlCol="0" anchor="ctr">
            <a:normAutofit/>
          </a:bodyPr>
          <a:lstStyle/>
          <a:p>
            <a:pPr algn="l" indent="0" marL="0">
              <a:buNone/>
            </a:pPr>
            <a:r>
              <a:rPr lang="en-US" sz="970" dirty="0">
                <a:solidFill>
                  <a:srgbClr val="637B93"/>
                </a:solidFill>
                <a:latin typeface="Aptos" pitchFamily="34" charset="0"/>
                <a:ea typeface="Aptos" pitchFamily="34" charset="-122"/>
                <a:cs typeface="Aptos" pitchFamily="34" charset="-120"/>
              </a:rPr>
              <a:t>maximum observed level</a:t>
            </a:r>
            <a:endParaRPr lang="en-US" sz="970" dirty="0"/>
          </a:p>
        </p:txBody>
      </p:sp>
      <p:sp>
        <p:nvSpPr>
          <p:cNvPr id="17" name="Text 13"/>
          <p:cNvSpPr/>
          <p:nvPr/>
        </p:nvSpPr>
        <p:spPr>
          <a:xfrm>
            <a:off x="9765792" y="3739896"/>
            <a:ext cx="658368" cy="201168"/>
          </a:xfrm>
          <a:prstGeom prst="rect">
            <a:avLst/>
          </a:prstGeom>
          <a:noFill/>
          <a:ln/>
        </p:spPr>
        <p:txBody>
          <a:bodyPr wrap="square" lIns="508" tIns="508" rIns="508" bIns="508" rtlCol="0" anchor="ctr">
            <a:normAutofit/>
          </a:bodyPr>
          <a:lstStyle/>
          <a:p>
            <a:pPr algn="l" indent="0" marL="0">
              <a:buNone/>
            </a:pPr>
            <a:r>
              <a:rPr lang="en-US" sz="1150" b="1" dirty="0">
                <a:solidFill>
                  <a:srgbClr val="E86F1C"/>
                </a:solidFill>
                <a:latin typeface="Aptos" pitchFamily="34" charset="0"/>
                <a:ea typeface="Aptos" pitchFamily="34" charset="-122"/>
                <a:cs typeface="Aptos" pitchFamily="34" charset="-120"/>
              </a:rPr>
              <a:t>DECAY</a:t>
            </a:r>
            <a:endParaRPr lang="en-US" sz="1150" dirty="0"/>
          </a:p>
        </p:txBody>
      </p:sp>
      <p:sp>
        <p:nvSpPr>
          <p:cNvPr id="18" name="Text 14"/>
          <p:cNvSpPr/>
          <p:nvPr/>
        </p:nvSpPr>
        <p:spPr>
          <a:xfrm>
            <a:off x="10405872" y="3739896"/>
            <a:ext cx="960120" cy="329184"/>
          </a:xfrm>
          <a:prstGeom prst="rect">
            <a:avLst/>
          </a:prstGeom>
          <a:noFill/>
          <a:ln/>
        </p:spPr>
        <p:txBody>
          <a:bodyPr wrap="square" lIns="508" tIns="508" rIns="508" bIns="508" rtlCol="0" anchor="ctr">
            <a:normAutofit/>
          </a:bodyPr>
          <a:lstStyle/>
          <a:p>
            <a:pPr algn="l" indent="0" marL="0">
              <a:buNone/>
            </a:pPr>
            <a:r>
              <a:rPr lang="en-US" sz="970" dirty="0">
                <a:solidFill>
                  <a:srgbClr val="637B93"/>
                </a:solidFill>
                <a:latin typeface="Aptos" pitchFamily="34" charset="0"/>
                <a:ea typeface="Aptos" pitchFamily="34" charset="-122"/>
                <a:cs typeface="Aptos" pitchFamily="34" charset="-120"/>
              </a:rPr>
              <a:t>post-peak decrease</a:t>
            </a:r>
            <a:endParaRPr lang="en-US" sz="970" dirty="0"/>
          </a:p>
        </p:txBody>
      </p:sp>
      <p:sp>
        <p:nvSpPr>
          <p:cNvPr id="19" name="Text 15"/>
          <p:cNvSpPr/>
          <p:nvPr/>
        </p:nvSpPr>
        <p:spPr>
          <a:xfrm>
            <a:off x="9765792" y="4425696"/>
            <a:ext cx="658368" cy="201168"/>
          </a:xfrm>
          <a:prstGeom prst="rect">
            <a:avLst/>
          </a:prstGeom>
          <a:noFill/>
          <a:ln/>
        </p:spPr>
        <p:txBody>
          <a:bodyPr wrap="square" lIns="508" tIns="508" rIns="508" bIns="508" rtlCol="0" anchor="ctr">
            <a:normAutofit/>
          </a:bodyPr>
          <a:lstStyle/>
          <a:p>
            <a:pPr algn="l" indent="0" marL="0">
              <a:buNone/>
            </a:pPr>
            <a:r>
              <a:rPr lang="en-US" sz="1150" b="1" dirty="0">
                <a:solidFill>
                  <a:srgbClr val="C73B3B"/>
                </a:solidFill>
                <a:latin typeface="Aptos" pitchFamily="34" charset="0"/>
                <a:ea typeface="Aptos" pitchFamily="34" charset="-122"/>
                <a:cs typeface="Aptos" pitchFamily="34" charset="-120"/>
              </a:rPr>
              <a:t>END</a:t>
            </a:r>
            <a:endParaRPr lang="en-US" sz="1150" dirty="0"/>
          </a:p>
        </p:txBody>
      </p:sp>
      <p:sp>
        <p:nvSpPr>
          <p:cNvPr id="20" name="Text 16"/>
          <p:cNvSpPr/>
          <p:nvPr/>
        </p:nvSpPr>
        <p:spPr>
          <a:xfrm>
            <a:off x="10405872" y="4425696"/>
            <a:ext cx="960120" cy="329184"/>
          </a:xfrm>
          <a:prstGeom prst="rect">
            <a:avLst/>
          </a:prstGeom>
          <a:noFill/>
          <a:ln/>
        </p:spPr>
        <p:txBody>
          <a:bodyPr wrap="square" lIns="508" tIns="508" rIns="508" bIns="508" rtlCol="0" anchor="ctr">
            <a:normAutofit/>
          </a:bodyPr>
          <a:lstStyle/>
          <a:p>
            <a:pPr algn="l" indent="0" marL="0">
              <a:buNone/>
            </a:pPr>
            <a:r>
              <a:rPr lang="en-US" sz="970" dirty="0">
                <a:solidFill>
                  <a:srgbClr val="637B93"/>
                </a:solidFill>
                <a:latin typeface="Aptos" pitchFamily="34" charset="0"/>
                <a:ea typeface="Aptos" pitchFamily="34" charset="-122"/>
                <a:cs typeface="Aptos" pitchFamily="34" charset="-120"/>
              </a:rPr>
              <a:t>event termination</a:t>
            </a:r>
            <a:endParaRPr lang="en-US" sz="970" dirty="0"/>
          </a:p>
        </p:txBody>
      </p:sp>
      <p:sp>
        <p:nvSpPr>
          <p:cNvPr id="21" name="Shape 17"/>
          <p:cNvSpPr/>
          <p:nvPr/>
        </p:nvSpPr>
        <p:spPr>
          <a:xfrm>
            <a:off x="2084832" y="5449824"/>
            <a:ext cx="6537960" cy="347472"/>
          </a:xfrm>
          <a:prstGeom prst="roundRect">
            <a:avLst>
              <a:gd name="adj" fmla="val 21053"/>
            </a:avLst>
          </a:prstGeom>
          <a:solidFill>
            <a:srgbClr val="EEF6FD"/>
          </a:solidFill>
          <a:ln w="12700">
            <a:solidFill>
              <a:srgbClr val="1C67B5"/>
            </a:solidFill>
            <a:prstDash val="solid"/>
          </a:ln>
        </p:spPr>
      </p:sp>
      <p:sp>
        <p:nvSpPr>
          <p:cNvPr id="22" name="Text 18"/>
          <p:cNvSpPr/>
          <p:nvPr/>
        </p:nvSpPr>
        <p:spPr>
          <a:xfrm>
            <a:off x="2194560" y="5522976"/>
            <a:ext cx="6318504" cy="201168"/>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For the primary nowcast, predictor information stops at PEAK.</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Did Our Statistical Detector Find a Real NOAA Event?</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Event alignment against an independent official record</a:t>
            </a:r>
            <a:endParaRPr lang="en-US" sz="1450" dirty="0"/>
          </a:p>
        </p:txBody>
      </p:sp>
      <p:sp>
        <p:nvSpPr>
          <p:cNvPr id="8" name="Shape 5"/>
          <p:cNvSpPr/>
          <p:nvPr/>
        </p:nvSpPr>
        <p:spPr>
          <a:xfrm>
            <a:off x="1417320" y="1389888"/>
            <a:ext cx="7360920" cy="1874520"/>
          </a:xfrm>
          <a:prstGeom prst="roundRect">
            <a:avLst>
              <a:gd name="adj" fmla="val 3902"/>
            </a:avLst>
          </a:prstGeom>
          <a:solidFill>
            <a:srgbClr val="FFFFFF"/>
          </a:solidFill>
          <a:ln w="12700">
            <a:solidFill>
              <a:srgbClr val="BDD7EC"/>
            </a:solidFill>
            <a:prstDash val="solid"/>
          </a:ln>
        </p:spPr>
      </p:sp>
      <p:sp>
        <p:nvSpPr>
          <p:cNvPr id="9" name="Text 6"/>
          <p:cNvSpPr/>
          <p:nvPr/>
        </p:nvSpPr>
        <p:spPr>
          <a:xfrm>
            <a:off x="1627632" y="1572768"/>
            <a:ext cx="1417320" cy="228600"/>
          </a:xfrm>
          <a:prstGeom prst="rect">
            <a:avLst/>
          </a:prstGeom>
          <a:noFill/>
          <a:ln/>
        </p:spPr>
        <p:txBody>
          <a:bodyPr wrap="square" lIns="508" tIns="508" rIns="508" bIns="508" rtlCol="0" anchor="ctr">
            <a:normAutofit/>
          </a:bodyPr>
          <a:lstStyle/>
          <a:p>
            <a:pPr algn="l" indent="0" marL="0">
              <a:buNone/>
            </a:pPr>
            <a:r>
              <a:rPr lang="en-US" sz="1100" b="1" dirty="0">
                <a:solidFill>
                  <a:srgbClr val="1C67B5"/>
                </a:solidFill>
                <a:latin typeface="Aptos" pitchFamily="34" charset="0"/>
                <a:ea typeface="Aptos" pitchFamily="34" charset="-122"/>
                <a:cs typeface="Aptos" pitchFamily="34" charset="-120"/>
              </a:rPr>
              <a:t>OUR DETECTOR</a:t>
            </a:r>
            <a:endParaRPr lang="en-US" sz="1100" dirty="0"/>
          </a:p>
        </p:txBody>
      </p:sp>
      <p:pic>
        <p:nvPicPr>
          <p:cNvPr id="10" name="Image 1" descr="/mnt/data/ppt_assets/event_lifecycle_actual.png">    </p:cNvPr>
          <p:cNvPicPr>
            <a:picLocks noChangeAspect="1"/>
          </p:cNvPicPr>
          <p:nvPr/>
        </p:nvPicPr>
        <p:blipFill>
          <a:blip r:embed="rId2"/>
          <a:stretch>
            <a:fillRect/>
          </a:stretch>
        </p:blipFill>
        <p:spPr>
          <a:xfrm>
            <a:off x="3669030" y="1673352"/>
            <a:ext cx="3360420" cy="1280160"/>
          </a:xfrm>
          <a:prstGeom prst="rect">
            <a:avLst/>
          </a:prstGeom>
        </p:spPr>
      </p:pic>
      <p:sp>
        <p:nvSpPr>
          <p:cNvPr id="11" name="Shape 7"/>
          <p:cNvSpPr/>
          <p:nvPr/>
        </p:nvSpPr>
        <p:spPr>
          <a:xfrm>
            <a:off x="1417320" y="3456432"/>
            <a:ext cx="7360920" cy="1426464"/>
          </a:xfrm>
          <a:prstGeom prst="roundRect">
            <a:avLst>
              <a:gd name="adj" fmla="val 5128"/>
            </a:avLst>
          </a:prstGeom>
          <a:solidFill>
            <a:srgbClr val="FFF9EE"/>
          </a:solidFill>
          <a:ln w="12700">
            <a:solidFill>
              <a:srgbClr val="E8D29A"/>
            </a:solidFill>
            <a:prstDash val="solid"/>
          </a:ln>
        </p:spPr>
      </p:sp>
      <p:sp>
        <p:nvSpPr>
          <p:cNvPr id="12" name="Text 8"/>
          <p:cNvSpPr/>
          <p:nvPr/>
        </p:nvSpPr>
        <p:spPr>
          <a:xfrm>
            <a:off x="1627632" y="3639312"/>
            <a:ext cx="1417320" cy="228600"/>
          </a:xfrm>
          <a:prstGeom prst="rect">
            <a:avLst/>
          </a:prstGeom>
          <a:noFill/>
          <a:ln/>
        </p:spPr>
        <p:txBody>
          <a:bodyPr wrap="square" lIns="508" tIns="508" rIns="508" bIns="508" rtlCol="0" anchor="ctr">
            <a:normAutofit/>
          </a:bodyPr>
          <a:lstStyle/>
          <a:p>
            <a:pPr algn="l" indent="0" marL="0">
              <a:buNone/>
            </a:pPr>
            <a:r>
              <a:rPr lang="en-US" sz="1100" b="1" dirty="0">
                <a:solidFill>
                  <a:srgbClr val="E9A21B"/>
                </a:solidFill>
                <a:latin typeface="Aptos" pitchFamily="34" charset="0"/>
                <a:ea typeface="Aptos" pitchFamily="34" charset="-122"/>
                <a:cs typeface="Aptos" pitchFamily="34" charset="-120"/>
              </a:rPr>
              <a:t>NOAA RECORD</a:t>
            </a:r>
            <a:endParaRPr lang="en-US" sz="1100" dirty="0"/>
          </a:p>
        </p:txBody>
      </p:sp>
      <p:sp>
        <p:nvSpPr>
          <p:cNvPr id="13" name="Shape 9"/>
          <p:cNvSpPr/>
          <p:nvPr/>
        </p:nvSpPr>
        <p:spPr>
          <a:xfrm>
            <a:off x="2743200" y="4233672"/>
            <a:ext cx="5074920" cy="0"/>
          </a:xfrm>
          <a:prstGeom prst="line">
            <a:avLst/>
          </a:prstGeom>
          <a:noFill/>
          <a:ln w="19050">
            <a:solidFill>
              <a:srgbClr val="CFA23A"/>
            </a:solidFill>
            <a:prstDash val="solid"/>
          </a:ln>
        </p:spPr>
      </p:sp>
      <p:sp>
        <p:nvSpPr>
          <p:cNvPr id="14" name="Shape 10"/>
          <p:cNvSpPr/>
          <p:nvPr/>
        </p:nvSpPr>
        <p:spPr>
          <a:xfrm>
            <a:off x="5129784" y="4114800"/>
            <a:ext cx="164592" cy="164592"/>
          </a:xfrm>
          <a:prstGeom prst="ellipse">
            <a:avLst/>
          </a:prstGeom>
          <a:solidFill>
            <a:srgbClr val="E9A21B"/>
          </a:solidFill>
          <a:ln w="12700">
            <a:solidFill>
              <a:srgbClr val="E9A21B"/>
            </a:solidFill>
            <a:prstDash val="solid"/>
          </a:ln>
        </p:spPr>
      </p:sp>
      <p:sp>
        <p:nvSpPr>
          <p:cNvPr id="15" name="Text 11"/>
          <p:cNvSpPr/>
          <p:nvPr/>
        </p:nvSpPr>
        <p:spPr>
          <a:xfrm>
            <a:off x="4745736" y="3822192"/>
            <a:ext cx="941832" cy="182880"/>
          </a:xfrm>
          <a:prstGeom prst="rect">
            <a:avLst/>
          </a:prstGeom>
          <a:noFill/>
          <a:ln/>
        </p:spPr>
        <p:txBody>
          <a:bodyPr wrap="square" lIns="508" tIns="508" rIns="508" bIns="508" rtlCol="0" anchor="ctr">
            <a:normAutofit/>
          </a:bodyPr>
          <a:lstStyle/>
          <a:p>
            <a:pPr algn="ctr" indent="0" marL="0">
              <a:buNone/>
            </a:pPr>
            <a:r>
              <a:rPr lang="en-US" sz="980" b="1" dirty="0">
                <a:solidFill>
                  <a:srgbClr val="E9A21B"/>
                </a:solidFill>
                <a:latin typeface="Aptos" pitchFamily="34" charset="0"/>
                <a:ea typeface="Aptos" pitchFamily="34" charset="-122"/>
                <a:cs typeface="Aptos" pitchFamily="34" charset="-120"/>
              </a:rPr>
              <a:t>official peak</a:t>
            </a:r>
            <a:endParaRPr lang="en-US" sz="980" dirty="0"/>
          </a:p>
        </p:txBody>
      </p:sp>
      <p:sp>
        <p:nvSpPr>
          <p:cNvPr id="16" name="Shape 12"/>
          <p:cNvSpPr/>
          <p:nvPr/>
        </p:nvSpPr>
        <p:spPr>
          <a:xfrm>
            <a:off x="5212080" y="2898648"/>
            <a:ext cx="0" cy="1234440"/>
          </a:xfrm>
          <a:prstGeom prst="line">
            <a:avLst/>
          </a:prstGeom>
          <a:noFill/>
          <a:ln w="13970">
            <a:solidFill>
              <a:srgbClr val="C73B3B"/>
            </a:solidFill>
            <a:prstDash val="solid"/>
          </a:ln>
        </p:spPr>
      </p:sp>
      <p:sp>
        <p:nvSpPr>
          <p:cNvPr id="17" name="Text 13"/>
          <p:cNvSpPr/>
          <p:nvPr/>
        </p:nvSpPr>
        <p:spPr>
          <a:xfrm>
            <a:off x="5532120" y="3172968"/>
            <a:ext cx="1691640" cy="274320"/>
          </a:xfrm>
          <a:prstGeom prst="rect">
            <a:avLst/>
          </a:prstGeom>
          <a:noFill/>
          <a:ln/>
        </p:spPr>
        <p:txBody>
          <a:bodyPr wrap="square" lIns="508" tIns="508" rIns="508" bIns="508" rtlCol="0" anchor="ctr">
            <a:normAutofit/>
          </a:bodyPr>
          <a:lstStyle/>
          <a:p>
            <a:pPr algn="l" indent="0" marL="0">
              <a:buNone/>
            </a:pPr>
            <a:r>
              <a:rPr lang="en-US" sz="1020" b="1" dirty="0">
                <a:solidFill>
                  <a:srgbClr val="C73B3B"/>
                </a:solidFill>
                <a:latin typeface="Aptos" pitchFamily="34" charset="0"/>
                <a:ea typeface="Aptos" pitchFamily="34" charset="-122"/>
                <a:cs typeface="Aptos" pitchFamily="34" charset="-120"/>
              </a:rPr>
              <a:t>absolute peak timing error</a:t>
            </a:r>
            <a:endParaRPr lang="en-US" sz="1020" dirty="0"/>
          </a:p>
        </p:txBody>
      </p:sp>
      <p:sp>
        <p:nvSpPr>
          <p:cNvPr id="18" name="Shape 14"/>
          <p:cNvSpPr/>
          <p:nvPr/>
        </p:nvSpPr>
        <p:spPr>
          <a:xfrm>
            <a:off x="9034272" y="1389888"/>
            <a:ext cx="2514600" cy="3493008"/>
          </a:xfrm>
          <a:prstGeom prst="roundRect">
            <a:avLst>
              <a:gd name="adj" fmla="val 2909"/>
            </a:avLst>
          </a:prstGeom>
          <a:solidFill>
            <a:srgbClr val="FFFFFF"/>
          </a:solidFill>
          <a:ln w="12700">
            <a:solidFill>
              <a:srgbClr val="BDD7EC"/>
            </a:solidFill>
            <a:prstDash val="solid"/>
          </a:ln>
        </p:spPr>
      </p:sp>
      <p:sp>
        <p:nvSpPr>
          <p:cNvPr id="19" name="Text 15"/>
          <p:cNvSpPr/>
          <p:nvPr/>
        </p:nvSpPr>
        <p:spPr>
          <a:xfrm>
            <a:off x="9281160" y="1627632"/>
            <a:ext cx="2029968" cy="274320"/>
          </a:xfrm>
          <a:prstGeom prst="rect">
            <a:avLst/>
          </a:prstGeom>
          <a:noFill/>
          <a:ln/>
        </p:spPr>
        <p:txBody>
          <a:bodyPr wrap="square" lIns="508" tIns="508" rIns="508" bIns="508" rtlCol="0" anchor="ctr">
            <a:normAutofit/>
          </a:bodyPr>
          <a:lstStyle/>
          <a:p>
            <a:pPr algn="ctr" indent="0" marL="0">
              <a:buNone/>
            </a:pPr>
            <a:r>
              <a:rPr lang="en-US" sz="1600" b="1" dirty="0">
                <a:solidFill>
                  <a:srgbClr val="0B1F5B"/>
                </a:solidFill>
                <a:latin typeface="Georgia" pitchFamily="34" charset="0"/>
                <a:ea typeface="Georgia" pitchFamily="34" charset="-122"/>
                <a:cs typeface="Georgia" pitchFamily="34" charset="-120"/>
              </a:rPr>
              <a:t>Stage 5 alignment</a:t>
            </a:r>
            <a:endParaRPr lang="en-US" sz="1600" dirty="0"/>
          </a:p>
        </p:txBody>
      </p:sp>
      <p:sp>
        <p:nvSpPr>
          <p:cNvPr id="20" name="Text 16"/>
          <p:cNvSpPr/>
          <p:nvPr/>
        </p:nvSpPr>
        <p:spPr>
          <a:xfrm>
            <a:off x="9281160" y="2048256"/>
            <a:ext cx="1298448" cy="164592"/>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NOAA records</a:t>
            </a:r>
            <a:endParaRPr lang="en-US" sz="920" dirty="0"/>
          </a:p>
        </p:txBody>
      </p:sp>
      <p:sp>
        <p:nvSpPr>
          <p:cNvPr id="21" name="Text 17"/>
          <p:cNvSpPr/>
          <p:nvPr/>
        </p:nvSpPr>
        <p:spPr>
          <a:xfrm>
            <a:off x="10579608" y="2039112"/>
            <a:ext cx="658368" cy="164592"/>
          </a:xfrm>
          <a:prstGeom prst="rect">
            <a:avLst/>
          </a:prstGeom>
          <a:noFill/>
          <a:ln/>
        </p:spPr>
        <p:txBody>
          <a:bodyPr wrap="square" lIns="508" tIns="508" rIns="508" bIns="508" rtlCol="0" anchor="ctr">
            <a:normAutofit/>
          </a:bodyPr>
          <a:lstStyle/>
          <a:p>
            <a:pPr algn="r" indent="0" marL="0">
              <a:buNone/>
            </a:pPr>
            <a:r>
              <a:rPr lang="en-US" sz="1040" b="1" dirty="0">
                <a:solidFill>
                  <a:srgbClr val="0B1F5B"/>
                </a:solidFill>
                <a:latin typeface="Aptos" pitchFamily="34" charset="0"/>
                <a:ea typeface="Aptos" pitchFamily="34" charset="-122"/>
                <a:cs typeface="Aptos" pitchFamily="34" charset="-120"/>
              </a:rPr>
              <a:t>35</a:t>
            </a:r>
            <a:endParaRPr lang="en-US" sz="1040" dirty="0"/>
          </a:p>
        </p:txBody>
      </p:sp>
      <p:sp>
        <p:nvSpPr>
          <p:cNvPr id="22" name="Text 18"/>
          <p:cNvSpPr/>
          <p:nvPr/>
        </p:nvSpPr>
        <p:spPr>
          <a:xfrm>
            <a:off x="9281160" y="2359152"/>
            <a:ext cx="1298448" cy="164592"/>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valid peaks</a:t>
            </a:r>
            <a:endParaRPr lang="en-US" sz="920" dirty="0"/>
          </a:p>
        </p:txBody>
      </p:sp>
      <p:sp>
        <p:nvSpPr>
          <p:cNvPr id="23" name="Text 19"/>
          <p:cNvSpPr/>
          <p:nvPr/>
        </p:nvSpPr>
        <p:spPr>
          <a:xfrm>
            <a:off x="10579608" y="2350008"/>
            <a:ext cx="658368" cy="164592"/>
          </a:xfrm>
          <a:prstGeom prst="rect">
            <a:avLst/>
          </a:prstGeom>
          <a:noFill/>
          <a:ln/>
        </p:spPr>
        <p:txBody>
          <a:bodyPr wrap="square" lIns="508" tIns="508" rIns="508" bIns="508" rtlCol="0" anchor="ctr">
            <a:normAutofit/>
          </a:bodyPr>
          <a:lstStyle/>
          <a:p>
            <a:pPr algn="r" indent="0" marL="0">
              <a:buNone/>
            </a:pPr>
            <a:r>
              <a:rPr lang="en-US" sz="1040" b="1" dirty="0">
                <a:solidFill>
                  <a:srgbClr val="0B1F5B"/>
                </a:solidFill>
                <a:latin typeface="Aptos" pitchFamily="34" charset="0"/>
                <a:ea typeface="Aptos" pitchFamily="34" charset="-122"/>
                <a:cs typeface="Aptos" pitchFamily="34" charset="-120"/>
              </a:rPr>
              <a:t>34</a:t>
            </a:r>
            <a:endParaRPr lang="en-US" sz="1040" dirty="0"/>
          </a:p>
        </p:txBody>
      </p:sp>
      <p:sp>
        <p:nvSpPr>
          <p:cNvPr id="24" name="Text 20"/>
          <p:cNvSpPr/>
          <p:nvPr/>
        </p:nvSpPr>
        <p:spPr>
          <a:xfrm>
            <a:off x="9281160" y="2670048"/>
            <a:ext cx="1298448" cy="164592"/>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detected events</a:t>
            </a:r>
            <a:endParaRPr lang="en-US" sz="920" dirty="0"/>
          </a:p>
        </p:txBody>
      </p:sp>
      <p:sp>
        <p:nvSpPr>
          <p:cNvPr id="25" name="Text 21"/>
          <p:cNvSpPr/>
          <p:nvPr/>
        </p:nvSpPr>
        <p:spPr>
          <a:xfrm>
            <a:off x="10579608" y="2660904"/>
            <a:ext cx="658368" cy="164592"/>
          </a:xfrm>
          <a:prstGeom prst="rect">
            <a:avLst/>
          </a:prstGeom>
          <a:noFill/>
          <a:ln/>
        </p:spPr>
        <p:txBody>
          <a:bodyPr wrap="square" lIns="508" tIns="508" rIns="508" bIns="508" rtlCol="0" anchor="ctr">
            <a:normAutofit/>
          </a:bodyPr>
          <a:lstStyle/>
          <a:p>
            <a:pPr algn="r" indent="0" marL="0">
              <a:buNone/>
            </a:pPr>
            <a:r>
              <a:rPr lang="en-US" sz="1040" b="1" dirty="0">
                <a:solidFill>
                  <a:srgbClr val="0B1F5B"/>
                </a:solidFill>
                <a:latin typeface="Aptos" pitchFamily="34" charset="0"/>
                <a:ea typeface="Aptos" pitchFamily="34" charset="-122"/>
                <a:cs typeface="Aptos" pitchFamily="34" charset="-120"/>
              </a:rPr>
              <a:t>115</a:t>
            </a:r>
            <a:endParaRPr lang="en-US" sz="1040" dirty="0"/>
          </a:p>
        </p:txBody>
      </p:sp>
      <p:sp>
        <p:nvSpPr>
          <p:cNvPr id="26" name="Text 22"/>
          <p:cNvSpPr/>
          <p:nvPr/>
        </p:nvSpPr>
        <p:spPr>
          <a:xfrm>
            <a:off x="9281160" y="2980944"/>
            <a:ext cx="1298448" cy="164592"/>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matches</a:t>
            </a:r>
            <a:endParaRPr lang="en-US" sz="920" dirty="0"/>
          </a:p>
        </p:txBody>
      </p:sp>
      <p:sp>
        <p:nvSpPr>
          <p:cNvPr id="27" name="Text 23"/>
          <p:cNvSpPr/>
          <p:nvPr/>
        </p:nvSpPr>
        <p:spPr>
          <a:xfrm>
            <a:off x="10579608" y="2971800"/>
            <a:ext cx="658368" cy="164592"/>
          </a:xfrm>
          <a:prstGeom prst="rect">
            <a:avLst/>
          </a:prstGeom>
          <a:noFill/>
          <a:ln/>
        </p:spPr>
        <p:txBody>
          <a:bodyPr wrap="square" lIns="508" tIns="508" rIns="508" bIns="508" rtlCol="0" anchor="ctr">
            <a:normAutofit/>
          </a:bodyPr>
          <a:lstStyle/>
          <a:p>
            <a:pPr algn="r" indent="0" marL="0">
              <a:buNone/>
            </a:pPr>
            <a:r>
              <a:rPr lang="en-US" sz="1040" b="1" dirty="0">
                <a:solidFill>
                  <a:srgbClr val="2E8B57"/>
                </a:solidFill>
                <a:latin typeface="Aptos" pitchFamily="34" charset="0"/>
                <a:ea typeface="Aptos" pitchFamily="34" charset="-122"/>
                <a:cs typeface="Aptos" pitchFamily="34" charset="-120"/>
              </a:rPr>
              <a:t>32</a:t>
            </a:r>
            <a:endParaRPr lang="en-US" sz="1040" dirty="0"/>
          </a:p>
        </p:txBody>
      </p:sp>
      <p:sp>
        <p:nvSpPr>
          <p:cNvPr id="28" name="Text 24"/>
          <p:cNvSpPr/>
          <p:nvPr/>
        </p:nvSpPr>
        <p:spPr>
          <a:xfrm>
            <a:off x="9281160" y="3291840"/>
            <a:ext cx="1298448" cy="164592"/>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unmatched detections</a:t>
            </a:r>
            <a:endParaRPr lang="en-US" sz="920" dirty="0"/>
          </a:p>
        </p:txBody>
      </p:sp>
      <p:sp>
        <p:nvSpPr>
          <p:cNvPr id="29" name="Text 25"/>
          <p:cNvSpPr/>
          <p:nvPr/>
        </p:nvSpPr>
        <p:spPr>
          <a:xfrm>
            <a:off x="10579608" y="3282696"/>
            <a:ext cx="658368" cy="164592"/>
          </a:xfrm>
          <a:prstGeom prst="rect">
            <a:avLst/>
          </a:prstGeom>
          <a:noFill/>
          <a:ln/>
        </p:spPr>
        <p:txBody>
          <a:bodyPr wrap="square" lIns="508" tIns="508" rIns="508" bIns="508" rtlCol="0" anchor="ctr">
            <a:normAutofit/>
          </a:bodyPr>
          <a:lstStyle/>
          <a:p>
            <a:pPr algn="r" indent="0" marL="0">
              <a:buNone/>
            </a:pPr>
            <a:r>
              <a:rPr lang="en-US" sz="1040" b="1" dirty="0">
                <a:solidFill>
                  <a:srgbClr val="E86F1C"/>
                </a:solidFill>
                <a:latin typeface="Aptos" pitchFamily="34" charset="0"/>
                <a:ea typeface="Aptos" pitchFamily="34" charset="-122"/>
                <a:cs typeface="Aptos" pitchFamily="34" charset="-120"/>
              </a:rPr>
              <a:t>80</a:t>
            </a:r>
            <a:endParaRPr lang="en-US" sz="1040" dirty="0"/>
          </a:p>
        </p:txBody>
      </p:sp>
      <p:sp>
        <p:nvSpPr>
          <p:cNvPr id="30" name="Text 26"/>
          <p:cNvSpPr/>
          <p:nvPr/>
        </p:nvSpPr>
        <p:spPr>
          <a:xfrm>
            <a:off x="9281160" y="3602736"/>
            <a:ext cx="1298448" cy="164592"/>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unmatched NOAA</a:t>
            </a:r>
            <a:endParaRPr lang="en-US" sz="920" dirty="0"/>
          </a:p>
        </p:txBody>
      </p:sp>
      <p:sp>
        <p:nvSpPr>
          <p:cNvPr id="31" name="Text 27"/>
          <p:cNvSpPr/>
          <p:nvPr/>
        </p:nvSpPr>
        <p:spPr>
          <a:xfrm>
            <a:off x="10579608" y="3593592"/>
            <a:ext cx="658368" cy="164592"/>
          </a:xfrm>
          <a:prstGeom prst="rect">
            <a:avLst/>
          </a:prstGeom>
          <a:noFill/>
          <a:ln/>
        </p:spPr>
        <p:txBody>
          <a:bodyPr wrap="square" lIns="508" tIns="508" rIns="508" bIns="508" rtlCol="0" anchor="ctr">
            <a:normAutofit/>
          </a:bodyPr>
          <a:lstStyle/>
          <a:p>
            <a:pPr algn="r" indent="0" marL="0">
              <a:buNone/>
            </a:pPr>
            <a:r>
              <a:rPr lang="en-US" sz="1040" b="1" dirty="0">
                <a:solidFill>
                  <a:srgbClr val="E86F1C"/>
                </a:solidFill>
                <a:latin typeface="Aptos" pitchFamily="34" charset="0"/>
                <a:ea typeface="Aptos" pitchFamily="34" charset="-122"/>
                <a:cs typeface="Aptos" pitchFamily="34" charset="-120"/>
              </a:rPr>
              <a:t>3</a:t>
            </a:r>
            <a:endParaRPr lang="en-US" sz="1040" dirty="0"/>
          </a:p>
        </p:txBody>
      </p:sp>
      <p:sp>
        <p:nvSpPr>
          <p:cNvPr id="32" name="Text 28"/>
          <p:cNvSpPr/>
          <p:nvPr/>
        </p:nvSpPr>
        <p:spPr>
          <a:xfrm>
            <a:off x="9281160" y="3913632"/>
            <a:ext cx="1298448" cy="164592"/>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mean peak error</a:t>
            </a:r>
            <a:endParaRPr lang="en-US" sz="920" dirty="0"/>
          </a:p>
        </p:txBody>
      </p:sp>
      <p:sp>
        <p:nvSpPr>
          <p:cNvPr id="33" name="Text 29"/>
          <p:cNvSpPr/>
          <p:nvPr/>
        </p:nvSpPr>
        <p:spPr>
          <a:xfrm>
            <a:off x="10579608" y="3904488"/>
            <a:ext cx="658368" cy="164592"/>
          </a:xfrm>
          <a:prstGeom prst="rect">
            <a:avLst/>
          </a:prstGeom>
          <a:noFill/>
          <a:ln/>
        </p:spPr>
        <p:txBody>
          <a:bodyPr wrap="square" lIns="508" tIns="508" rIns="508" bIns="508" rtlCol="0" anchor="ctr">
            <a:normAutofit/>
          </a:bodyPr>
          <a:lstStyle/>
          <a:p>
            <a:pPr algn="r" indent="0" marL="0">
              <a:buNone/>
            </a:pPr>
            <a:r>
              <a:rPr lang="en-US" sz="1040" b="1" dirty="0">
                <a:solidFill>
                  <a:srgbClr val="0B1F5B"/>
                </a:solidFill>
                <a:latin typeface="Aptos" pitchFamily="34" charset="0"/>
                <a:ea typeface="Aptos" pitchFamily="34" charset="-122"/>
                <a:cs typeface="Aptos" pitchFamily="34" charset="-120"/>
              </a:rPr>
              <a:t>1.76 min</a:t>
            </a:r>
            <a:endParaRPr lang="en-US" sz="1040" dirty="0"/>
          </a:p>
        </p:txBody>
      </p:sp>
      <p:sp>
        <p:nvSpPr>
          <p:cNvPr id="34" name="Text 30"/>
          <p:cNvSpPr/>
          <p:nvPr/>
        </p:nvSpPr>
        <p:spPr>
          <a:xfrm>
            <a:off x="9281160" y="4224528"/>
            <a:ext cx="1298448" cy="164592"/>
          </a:xfrm>
          <a:prstGeom prst="rect">
            <a:avLst/>
          </a:prstGeom>
          <a:noFill/>
          <a:ln/>
        </p:spPr>
        <p:txBody>
          <a:bodyPr wrap="square" lIns="508" tIns="508" rIns="508" bIns="508" rtlCol="0" anchor="ctr">
            <a:normAutofit/>
          </a:bodyPr>
          <a:lstStyle/>
          <a:p>
            <a:pPr algn="l" indent="0" marL="0">
              <a:buNone/>
            </a:pPr>
            <a:r>
              <a:rPr lang="en-US" sz="920" dirty="0">
                <a:solidFill>
                  <a:srgbClr val="637B93"/>
                </a:solidFill>
                <a:latin typeface="Aptos" pitchFamily="34" charset="0"/>
                <a:ea typeface="Aptos" pitchFamily="34" charset="-122"/>
                <a:cs typeface="Aptos" pitchFamily="34" charset="-120"/>
              </a:rPr>
              <a:t>median peak error</a:t>
            </a:r>
            <a:endParaRPr lang="en-US" sz="920" dirty="0"/>
          </a:p>
        </p:txBody>
      </p:sp>
      <p:sp>
        <p:nvSpPr>
          <p:cNvPr id="35" name="Text 31"/>
          <p:cNvSpPr/>
          <p:nvPr/>
        </p:nvSpPr>
        <p:spPr>
          <a:xfrm>
            <a:off x="10579608" y="4215384"/>
            <a:ext cx="658368" cy="164592"/>
          </a:xfrm>
          <a:prstGeom prst="rect">
            <a:avLst/>
          </a:prstGeom>
          <a:noFill/>
          <a:ln/>
        </p:spPr>
        <p:txBody>
          <a:bodyPr wrap="square" lIns="508" tIns="508" rIns="508" bIns="508" rtlCol="0" anchor="ctr">
            <a:normAutofit/>
          </a:bodyPr>
          <a:lstStyle/>
          <a:p>
            <a:pPr algn="r" indent="0" marL="0">
              <a:buNone/>
            </a:pPr>
            <a:r>
              <a:rPr lang="en-US" sz="1040" b="1" dirty="0">
                <a:solidFill>
                  <a:srgbClr val="0B1F5B"/>
                </a:solidFill>
                <a:latin typeface="Aptos" pitchFamily="34" charset="0"/>
                <a:ea typeface="Aptos" pitchFamily="34" charset="-122"/>
                <a:cs typeface="Aptos" pitchFamily="34" charset="-120"/>
              </a:rPr>
              <a:t>0.00 min</a:t>
            </a:r>
            <a:endParaRPr lang="en-US" sz="1040" dirty="0"/>
          </a:p>
        </p:txBody>
      </p:sp>
      <p:sp>
        <p:nvSpPr>
          <p:cNvPr id="36" name="Shape 32"/>
          <p:cNvSpPr/>
          <p:nvPr/>
        </p:nvSpPr>
        <p:spPr>
          <a:xfrm>
            <a:off x="1874520" y="5212080"/>
            <a:ext cx="9281160" cy="438912"/>
          </a:xfrm>
          <a:prstGeom prst="roundRect">
            <a:avLst>
              <a:gd name="adj" fmla="val 16667"/>
            </a:avLst>
          </a:prstGeom>
          <a:solidFill>
            <a:srgbClr val="FFF8EE"/>
          </a:solidFill>
          <a:ln w="12700">
            <a:solidFill>
              <a:srgbClr val="E86F1C"/>
            </a:solidFill>
            <a:prstDash val="solid"/>
          </a:ln>
        </p:spPr>
      </p:sp>
      <p:sp>
        <p:nvSpPr>
          <p:cNvPr id="37" name="Text 33"/>
          <p:cNvSpPr/>
          <p:nvPr/>
        </p:nvSpPr>
        <p:spPr>
          <a:xfrm>
            <a:off x="1984248" y="5285232"/>
            <a:ext cx="9061704" cy="292608"/>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Unmatched ≠ automatically “false flare”: it may be sub-B activity or noise.</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sp>
        <p:nvSpPr>
          <p:cNvPr id="4" name="Text 2"/>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What Did the Detection Stage Produce?</a:t>
            </a:r>
            <a:endParaRPr lang="en-US" sz="2500" dirty="0"/>
          </a:p>
        </p:txBody>
      </p:sp>
      <p:sp>
        <p:nvSpPr>
          <p:cNvPr id="5" name="Text 3"/>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High recall, modest precision and accurate peak timing in this proof-of-concept</a:t>
            </a:r>
            <a:endParaRPr lang="en-US" sz="1450" dirty="0"/>
          </a:p>
        </p:txBody>
      </p:sp>
      <p:sp>
        <p:nvSpPr>
          <p:cNvPr id="6" name="Shape 4"/>
          <p:cNvSpPr/>
          <p:nvPr/>
        </p:nvSpPr>
        <p:spPr>
          <a:xfrm>
            <a:off x="822960" y="1463040"/>
            <a:ext cx="1417320" cy="658368"/>
          </a:xfrm>
          <a:prstGeom prst="roundRect">
            <a:avLst>
              <a:gd name="adj" fmla="val 11111"/>
            </a:avLst>
          </a:prstGeom>
          <a:solidFill>
            <a:srgbClr val="FFFFFF"/>
          </a:solidFill>
          <a:ln w="12700">
            <a:solidFill>
              <a:srgbClr val="D3E4F3"/>
            </a:solidFill>
            <a:prstDash val="solid"/>
          </a:ln>
        </p:spPr>
      </p:sp>
      <p:sp>
        <p:nvSpPr>
          <p:cNvPr id="7" name="Text 5"/>
          <p:cNvSpPr/>
          <p:nvPr/>
        </p:nvSpPr>
        <p:spPr>
          <a:xfrm>
            <a:off x="868680" y="1527048"/>
            <a:ext cx="1325880" cy="256032"/>
          </a:xfrm>
          <a:prstGeom prst="rect">
            <a:avLst/>
          </a:prstGeom>
          <a:noFill/>
          <a:ln/>
        </p:spPr>
        <p:txBody>
          <a:bodyPr wrap="square" lIns="508" tIns="508" rIns="508" bIns="508" rtlCol="0" anchor="ctr">
            <a:normAutofit/>
          </a:bodyPr>
          <a:lstStyle/>
          <a:p>
            <a:pPr algn="ctr" indent="0" marL="0">
              <a:buNone/>
            </a:pPr>
            <a:r>
              <a:rPr lang="en-US" sz="1700" b="1" dirty="0">
                <a:solidFill>
                  <a:srgbClr val="1C67B5"/>
                </a:solidFill>
                <a:latin typeface="Aptos" pitchFamily="34" charset="0"/>
                <a:ea typeface="Aptos" pitchFamily="34" charset="-122"/>
                <a:cs typeface="Aptos" pitchFamily="34" charset="-120"/>
              </a:rPr>
              <a:t>115</a:t>
            </a:r>
            <a:endParaRPr lang="en-US" sz="1700" dirty="0"/>
          </a:p>
        </p:txBody>
      </p:sp>
      <p:sp>
        <p:nvSpPr>
          <p:cNvPr id="8" name="Text 6"/>
          <p:cNvSpPr/>
          <p:nvPr/>
        </p:nvSpPr>
        <p:spPr>
          <a:xfrm>
            <a:off x="886968" y="1810512"/>
            <a:ext cx="128930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detected events</a:t>
            </a:r>
            <a:endParaRPr lang="en-US" sz="880" dirty="0"/>
          </a:p>
        </p:txBody>
      </p:sp>
      <p:sp>
        <p:nvSpPr>
          <p:cNvPr id="9" name="Shape 7"/>
          <p:cNvSpPr/>
          <p:nvPr/>
        </p:nvSpPr>
        <p:spPr>
          <a:xfrm>
            <a:off x="2395728" y="1463040"/>
            <a:ext cx="1417320" cy="658368"/>
          </a:xfrm>
          <a:prstGeom prst="roundRect">
            <a:avLst>
              <a:gd name="adj" fmla="val 11111"/>
            </a:avLst>
          </a:prstGeom>
          <a:solidFill>
            <a:srgbClr val="FFFFFF"/>
          </a:solidFill>
          <a:ln w="12700">
            <a:solidFill>
              <a:srgbClr val="D3E4F3"/>
            </a:solidFill>
            <a:prstDash val="solid"/>
          </a:ln>
        </p:spPr>
      </p:sp>
      <p:sp>
        <p:nvSpPr>
          <p:cNvPr id="10" name="Text 8"/>
          <p:cNvSpPr/>
          <p:nvPr/>
        </p:nvSpPr>
        <p:spPr>
          <a:xfrm>
            <a:off x="2441448" y="1527048"/>
            <a:ext cx="1325880" cy="256032"/>
          </a:xfrm>
          <a:prstGeom prst="rect">
            <a:avLst/>
          </a:prstGeom>
          <a:noFill/>
          <a:ln/>
        </p:spPr>
        <p:txBody>
          <a:bodyPr wrap="square" lIns="508" tIns="508" rIns="508" bIns="508" rtlCol="0" anchor="ctr">
            <a:normAutofit/>
          </a:bodyPr>
          <a:lstStyle/>
          <a:p>
            <a:pPr algn="ctr" indent="0" marL="0">
              <a:buNone/>
            </a:pPr>
            <a:r>
              <a:rPr lang="en-US" sz="1700" b="1" dirty="0">
                <a:solidFill>
                  <a:srgbClr val="2E8B57"/>
                </a:solidFill>
                <a:latin typeface="Aptos" pitchFamily="34" charset="0"/>
                <a:ea typeface="Aptos" pitchFamily="34" charset="-122"/>
                <a:cs typeface="Aptos" pitchFamily="34" charset="-120"/>
              </a:rPr>
              <a:t>32</a:t>
            </a:r>
            <a:endParaRPr lang="en-US" sz="1700" dirty="0"/>
          </a:p>
        </p:txBody>
      </p:sp>
      <p:sp>
        <p:nvSpPr>
          <p:cNvPr id="11" name="Text 9"/>
          <p:cNvSpPr/>
          <p:nvPr/>
        </p:nvSpPr>
        <p:spPr>
          <a:xfrm>
            <a:off x="2459736" y="1810512"/>
            <a:ext cx="128930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matched detections</a:t>
            </a:r>
            <a:endParaRPr lang="en-US" sz="880" dirty="0"/>
          </a:p>
        </p:txBody>
      </p:sp>
      <p:sp>
        <p:nvSpPr>
          <p:cNvPr id="12" name="Shape 10"/>
          <p:cNvSpPr/>
          <p:nvPr/>
        </p:nvSpPr>
        <p:spPr>
          <a:xfrm>
            <a:off x="3968496" y="1463040"/>
            <a:ext cx="1417320" cy="658368"/>
          </a:xfrm>
          <a:prstGeom prst="roundRect">
            <a:avLst>
              <a:gd name="adj" fmla="val 11111"/>
            </a:avLst>
          </a:prstGeom>
          <a:solidFill>
            <a:srgbClr val="FFFFFF"/>
          </a:solidFill>
          <a:ln w="12700">
            <a:solidFill>
              <a:srgbClr val="D3E4F3"/>
            </a:solidFill>
            <a:prstDash val="solid"/>
          </a:ln>
        </p:spPr>
      </p:sp>
      <p:sp>
        <p:nvSpPr>
          <p:cNvPr id="13" name="Text 11"/>
          <p:cNvSpPr/>
          <p:nvPr/>
        </p:nvSpPr>
        <p:spPr>
          <a:xfrm>
            <a:off x="4014216" y="1527048"/>
            <a:ext cx="1325880" cy="256032"/>
          </a:xfrm>
          <a:prstGeom prst="rect">
            <a:avLst/>
          </a:prstGeom>
          <a:noFill/>
          <a:ln/>
        </p:spPr>
        <p:txBody>
          <a:bodyPr wrap="square" lIns="508" tIns="508" rIns="508" bIns="508" rtlCol="0" anchor="ctr">
            <a:normAutofit/>
          </a:bodyPr>
          <a:lstStyle/>
          <a:p>
            <a:pPr algn="ctr" indent="0" marL="0">
              <a:buNone/>
            </a:pPr>
            <a:r>
              <a:rPr lang="en-US" sz="1700" b="1" dirty="0">
                <a:solidFill>
                  <a:srgbClr val="E86F1C"/>
                </a:solidFill>
                <a:latin typeface="Aptos" pitchFamily="34" charset="0"/>
                <a:ea typeface="Aptos" pitchFamily="34" charset="-122"/>
                <a:cs typeface="Aptos" pitchFamily="34" charset="-120"/>
              </a:rPr>
              <a:t>80</a:t>
            </a:r>
            <a:endParaRPr lang="en-US" sz="1700" dirty="0"/>
          </a:p>
        </p:txBody>
      </p:sp>
      <p:sp>
        <p:nvSpPr>
          <p:cNvPr id="14" name="Text 12"/>
          <p:cNvSpPr/>
          <p:nvPr/>
        </p:nvSpPr>
        <p:spPr>
          <a:xfrm>
            <a:off x="4032504" y="1810512"/>
            <a:ext cx="128930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unmatched detections</a:t>
            </a:r>
            <a:endParaRPr lang="en-US" sz="880" dirty="0"/>
          </a:p>
        </p:txBody>
      </p:sp>
      <p:sp>
        <p:nvSpPr>
          <p:cNvPr id="15" name="Shape 13"/>
          <p:cNvSpPr/>
          <p:nvPr/>
        </p:nvSpPr>
        <p:spPr>
          <a:xfrm>
            <a:off x="5541264" y="1463040"/>
            <a:ext cx="1417320" cy="658368"/>
          </a:xfrm>
          <a:prstGeom prst="roundRect">
            <a:avLst>
              <a:gd name="adj" fmla="val 11111"/>
            </a:avLst>
          </a:prstGeom>
          <a:solidFill>
            <a:srgbClr val="FFFFFF"/>
          </a:solidFill>
          <a:ln w="12700">
            <a:solidFill>
              <a:srgbClr val="D3E4F3"/>
            </a:solidFill>
            <a:prstDash val="solid"/>
          </a:ln>
        </p:spPr>
      </p:sp>
      <p:sp>
        <p:nvSpPr>
          <p:cNvPr id="16" name="Text 14"/>
          <p:cNvSpPr/>
          <p:nvPr/>
        </p:nvSpPr>
        <p:spPr>
          <a:xfrm>
            <a:off x="5586984" y="1527048"/>
            <a:ext cx="1325880" cy="256032"/>
          </a:xfrm>
          <a:prstGeom prst="rect">
            <a:avLst/>
          </a:prstGeom>
          <a:noFill/>
          <a:ln/>
        </p:spPr>
        <p:txBody>
          <a:bodyPr wrap="square" lIns="508" tIns="508" rIns="508" bIns="508" rtlCol="0" anchor="ctr">
            <a:normAutofit/>
          </a:bodyPr>
          <a:lstStyle/>
          <a:p>
            <a:pPr algn="ctr" indent="0" marL="0">
              <a:buNone/>
            </a:pPr>
            <a:r>
              <a:rPr lang="en-US" sz="1700" b="1" dirty="0">
                <a:solidFill>
                  <a:srgbClr val="C73B3B"/>
                </a:solidFill>
                <a:latin typeface="Aptos" pitchFamily="34" charset="0"/>
                <a:ea typeface="Aptos" pitchFamily="34" charset="-122"/>
                <a:cs typeface="Aptos" pitchFamily="34" charset="-120"/>
              </a:rPr>
              <a:t>3</a:t>
            </a:r>
            <a:endParaRPr lang="en-US" sz="1700" dirty="0"/>
          </a:p>
        </p:txBody>
      </p:sp>
      <p:sp>
        <p:nvSpPr>
          <p:cNvPr id="17" name="Text 15"/>
          <p:cNvSpPr/>
          <p:nvPr/>
        </p:nvSpPr>
        <p:spPr>
          <a:xfrm>
            <a:off x="5605272" y="1810512"/>
            <a:ext cx="128930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unmatched NOAA</a:t>
            </a:r>
            <a:endParaRPr lang="en-US" sz="880" dirty="0"/>
          </a:p>
        </p:txBody>
      </p:sp>
      <p:sp>
        <p:nvSpPr>
          <p:cNvPr id="18" name="Shape 16"/>
          <p:cNvSpPr/>
          <p:nvPr/>
        </p:nvSpPr>
        <p:spPr>
          <a:xfrm>
            <a:off x="822960" y="2377440"/>
            <a:ext cx="6126480" cy="2971800"/>
          </a:xfrm>
          <a:prstGeom prst="roundRect">
            <a:avLst>
              <a:gd name="adj" fmla="val 2462"/>
            </a:avLst>
          </a:prstGeom>
          <a:solidFill>
            <a:srgbClr val="FFFFFF"/>
          </a:solidFill>
          <a:ln w="12700">
            <a:solidFill>
              <a:srgbClr val="BDD7EC"/>
            </a:solidFill>
            <a:prstDash val="solid"/>
          </a:ln>
        </p:spPr>
      </p:sp>
      <p:sp>
        <p:nvSpPr>
          <p:cNvPr id="19" name="Text 17"/>
          <p:cNvSpPr/>
          <p:nvPr/>
        </p:nvSpPr>
        <p:spPr>
          <a:xfrm>
            <a:off x="1097280" y="2633472"/>
            <a:ext cx="2743200"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Event-level detector summary</a:t>
            </a:r>
            <a:endParaRPr lang="en-US" sz="1700" dirty="0"/>
          </a:p>
        </p:txBody>
      </p:sp>
      <p:sp>
        <p:nvSpPr>
          <p:cNvPr id="20" name="Shape 18"/>
          <p:cNvSpPr/>
          <p:nvPr/>
        </p:nvSpPr>
        <p:spPr>
          <a:xfrm>
            <a:off x="1078992" y="3182112"/>
            <a:ext cx="5440680" cy="475488"/>
          </a:xfrm>
          <a:prstGeom prst="roundRect">
            <a:avLst>
              <a:gd name="adj" fmla="val 15385"/>
            </a:avLst>
          </a:prstGeom>
          <a:solidFill>
            <a:srgbClr val="F8FBFF"/>
          </a:solidFill>
          <a:ln w="12700">
            <a:solidFill>
              <a:srgbClr val="D7E6F2"/>
            </a:solidFill>
            <a:prstDash val="solid"/>
          </a:ln>
        </p:spPr>
      </p:sp>
      <p:sp>
        <p:nvSpPr>
          <p:cNvPr id="21" name="Text 19"/>
          <p:cNvSpPr/>
          <p:nvPr/>
        </p:nvSpPr>
        <p:spPr>
          <a:xfrm>
            <a:off x="1261872" y="3291840"/>
            <a:ext cx="960120" cy="182880"/>
          </a:xfrm>
          <a:prstGeom prst="rect">
            <a:avLst/>
          </a:prstGeom>
          <a:noFill/>
          <a:ln/>
        </p:spPr>
        <p:txBody>
          <a:bodyPr wrap="square" lIns="508" tIns="508" rIns="508" bIns="508" rtlCol="0" anchor="ctr">
            <a:normAutofit/>
          </a:bodyPr>
          <a:lstStyle/>
          <a:p>
            <a:pPr algn="l" indent="0" marL="0">
              <a:buNone/>
            </a:pPr>
            <a:r>
              <a:rPr lang="en-US" sz="1100" b="1" dirty="0">
                <a:solidFill>
                  <a:srgbClr val="0B1F5B"/>
                </a:solidFill>
                <a:latin typeface="Aptos" pitchFamily="34" charset="0"/>
                <a:ea typeface="Aptos" pitchFamily="34" charset="-122"/>
                <a:cs typeface="Aptos" pitchFamily="34" charset="-120"/>
              </a:rPr>
              <a:t>Precision</a:t>
            </a:r>
            <a:endParaRPr lang="en-US" sz="1100" dirty="0"/>
          </a:p>
        </p:txBody>
      </p:sp>
      <p:sp>
        <p:nvSpPr>
          <p:cNvPr id="22" name="Text 20"/>
          <p:cNvSpPr/>
          <p:nvPr/>
        </p:nvSpPr>
        <p:spPr>
          <a:xfrm>
            <a:off x="2331720" y="3273552"/>
            <a:ext cx="822960" cy="210312"/>
          </a:xfrm>
          <a:prstGeom prst="rect">
            <a:avLst/>
          </a:prstGeom>
          <a:noFill/>
          <a:ln/>
        </p:spPr>
        <p:txBody>
          <a:bodyPr wrap="square" lIns="508" tIns="508" rIns="508" bIns="508" rtlCol="0" anchor="ctr">
            <a:normAutofit/>
          </a:bodyPr>
          <a:lstStyle/>
          <a:p>
            <a:pPr algn="ctr" indent="0" marL="0">
              <a:buNone/>
            </a:pPr>
            <a:r>
              <a:rPr lang="en-US" sz="1500" b="1" dirty="0">
                <a:solidFill>
                  <a:srgbClr val="1C67B5"/>
                </a:solidFill>
                <a:latin typeface="Aptos" pitchFamily="34" charset="0"/>
                <a:ea typeface="Aptos" pitchFamily="34" charset="-122"/>
                <a:cs typeface="Aptos" pitchFamily="34" charset="-120"/>
              </a:rPr>
              <a:t>0.2857</a:t>
            </a:r>
            <a:endParaRPr lang="en-US" sz="1500" dirty="0"/>
          </a:p>
        </p:txBody>
      </p:sp>
      <p:sp>
        <p:nvSpPr>
          <p:cNvPr id="23" name="Text 21"/>
          <p:cNvSpPr/>
          <p:nvPr/>
        </p:nvSpPr>
        <p:spPr>
          <a:xfrm>
            <a:off x="3346704" y="3273552"/>
            <a:ext cx="2834640" cy="210312"/>
          </a:xfrm>
          <a:prstGeom prst="rect">
            <a:avLst/>
          </a:prstGeom>
          <a:noFill/>
          <a:ln/>
        </p:spPr>
        <p:txBody>
          <a:bodyPr wrap="square" lIns="508" tIns="508" rIns="508" bIns="508" rtlCol="0" anchor="ctr">
            <a:normAutofit/>
          </a:bodyPr>
          <a:lstStyle/>
          <a:p>
            <a:pPr algn="l" indent="0" marL="0">
              <a:buNone/>
            </a:pPr>
            <a:r>
              <a:rPr lang="en-US" sz="1020" dirty="0">
                <a:solidFill>
                  <a:srgbClr val="637B93"/>
                </a:solidFill>
                <a:latin typeface="Aptos" pitchFamily="34" charset="0"/>
                <a:ea typeface="Aptos" pitchFamily="34" charset="-122"/>
                <a:cs typeface="Aptos" pitchFamily="34" charset="-120"/>
              </a:rPr>
              <a:t>How many detections matched NOAA?</a:t>
            </a:r>
            <a:endParaRPr lang="en-US" sz="1020" dirty="0"/>
          </a:p>
        </p:txBody>
      </p:sp>
      <p:sp>
        <p:nvSpPr>
          <p:cNvPr id="24" name="Shape 22"/>
          <p:cNvSpPr/>
          <p:nvPr/>
        </p:nvSpPr>
        <p:spPr>
          <a:xfrm>
            <a:off x="1078992" y="3822192"/>
            <a:ext cx="5440680" cy="475488"/>
          </a:xfrm>
          <a:prstGeom prst="roundRect">
            <a:avLst>
              <a:gd name="adj" fmla="val 15385"/>
            </a:avLst>
          </a:prstGeom>
          <a:solidFill>
            <a:srgbClr val="EEF8F1"/>
          </a:solidFill>
          <a:ln w="12700">
            <a:solidFill>
              <a:srgbClr val="D7E6F2"/>
            </a:solidFill>
            <a:prstDash val="solid"/>
          </a:ln>
        </p:spPr>
      </p:sp>
      <p:sp>
        <p:nvSpPr>
          <p:cNvPr id="25" name="Text 23"/>
          <p:cNvSpPr/>
          <p:nvPr/>
        </p:nvSpPr>
        <p:spPr>
          <a:xfrm>
            <a:off x="1261872" y="3931920"/>
            <a:ext cx="960120" cy="182880"/>
          </a:xfrm>
          <a:prstGeom prst="rect">
            <a:avLst/>
          </a:prstGeom>
          <a:noFill/>
          <a:ln/>
        </p:spPr>
        <p:txBody>
          <a:bodyPr wrap="square" lIns="508" tIns="508" rIns="508" bIns="508" rtlCol="0" anchor="ctr">
            <a:normAutofit/>
          </a:bodyPr>
          <a:lstStyle/>
          <a:p>
            <a:pPr algn="l" indent="0" marL="0">
              <a:buNone/>
            </a:pPr>
            <a:r>
              <a:rPr lang="en-US" sz="1100" b="1" dirty="0">
                <a:solidFill>
                  <a:srgbClr val="0B1F5B"/>
                </a:solidFill>
                <a:latin typeface="Aptos" pitchFamily="34" charset="0"/>
                <a:ea typeface="Aptos" pitchFamily="34" charset="-122"/>
                <a:cs typeface="Aptos" pitchFamily="34" charset="-120"/>
              </a:rPr>
              <a:t>Recall</a:t>
            </a:r>
            <a:endParaRPr lang="en-US" sz="1100" dirty="0"/>
          </a:p>
        </p:txBody>
      </p:sp>
      <p:sp>
        <p:nvSpPr>
          <p:cNvPr id="26" name="Text 24"/>
          <p:cNvSpPr/>
          <p:nvPr/>
        </p:nvSpPr>
        <p:spPr>
          <a:xfrm>
            <a:off x="2331720" y="3913632"/>
            <a:ext cx="822960" cy="210312"/>
          </a:xfrm>
          <a:prstGeom prst="rect">
            <a:avLst/>
          </a:prstGeom>
          <a:noFill/>
          <a:ln/>
        </p:spPr>
        <p:txBody>
          <a:bodyPr wrap="square" lIns="508" tIns="508" rIns="508" bIns="508" rtlCol="0" anchor="ctr">
            <a:normAutofit/>
          </a:bodyPr>
          <a:lstStyle/>
          <a:p>
            <a:pPr algn="ctr" indent="0" marL="0">
              <a:buNone/>
            </a:pPr>
            <a:r>
              <a:rPr lang="en-US" sz="1500" b="1" dirty="0">
                <a:solidFill>
                  <a:srgbClr val="2E8B57"/>
                </a:solidFill>
                <a:latin typeface="Aptos" pitchFamily="34" charset="0"/>
                <a:ea typeface="Aptos" pitchFamily="34" charset="-122"/>
                <a:cs typeface="Aptos" pitchFamily="34" charset="-120"/>
              </a:rPr>
              <a:t>0.9143</a:t>
            </a:r>
            <a:endParaRPr lang="en-US" sz="1500" dirty="0"/>
          </a:p>
        </p:txBody>
      </p:sp>
      <p:sp>
        <p:nvSpPr>
          <p:cNvPr id="27" name="Text 25"/>
          <p:cNvSpPr/>
          <p:nvPr/>
        </p:nvSpPr>
        <p:spPr>
          <a:xfrm>
            <a:off x="3346704" y="3913632"/>
            <a:ext cx="2834640" cy="210312"/>
          </a:xfrm>
          <a:prstGeom prst="rect">
            <a:avLst/>
          </a:prstGeom>
          <a:noFill/>
          <a:ln/>
        </p:spPr>
        <p:txBody>
          <a:bodyPr wrap="square" lIns="508" tIns="508" rIns="508" bIns="508" rtlCol="0" anchor="ctr">
            <a:normAutofit/>
          </a:bodyPr>
          <a:lstStyle/>
          <a:p>
            <a:pPr algn="l" indent="0" marL="0">
              <a:buNone/>
            </a:pPr>
            <a:r>
              <a:rPr lang="en-US" sz="1020" dirty="0">
                <a:solidFill>
                  <a:srgbClr val="637B93"/>
                </a:solidFill>
                <a:latin typeface="Aptos" pitchFamily="34" charset="0"/>
                <a:ea typeface="Aptos" pitchFamily="34" charset="-122"/>
                <a:cs typeface="Aptos" pitchFamily="34" charset="-120"/>
              </a:rPr>
              <a:t>How many NOAA events were recovered?</a:t>
            </a:r>
            <a:endParaRPr lang="en-US" sz="1020" dirty="0"/>
          </a:p>
        </p:txBody>
      </p:sp>
      <p:sp>
        <p:nvSpPr>
          <p:cNvPr id="28" name="Shape 26"/>
          <p:cNvSpPr/>
          <p:nvPr/>
        </p:nvSpPr>
        <p:spPr>
          <a:xfrm>
            <a:off x="1078992" y="4462272"/>
            <a:ext cx="5440680" cy="475488"/>
          </a:xfrm>
          <a:prstGeom prst="roundRect">
            <a:avLst>
              <a:gd name="adj" fmla="val 15385"/>
            </a:avLst>
          </a:prstGeom>
          <a:solidFill>
            <a:srgbClr val="F8FBFF"/>
          </a:solidFill>
          <a:ln w="12700">
            <a:solidFill>
              <a:srgbClr val="D7E6F2"/>
            </a:solidFill>
            <a:prstDash val="solid"/>
          </a:ln>
        </p:spPr>
      </p:sp>
      <p:sp>
        <p:nvSpPr>
          <p:cNvPr id="29" name="Text 27"/>
          <p:cNvSpPr/>
          <p:nvPr/>
        </p:nvSpPr>
        <p:spPr>
          <a:xfrm>
            <a:off x="1261872" y="4572000"/>
            <a:ext cx="960120" cy="182880"/>
          </a:xfrm>
          <a:prstGeom prst="rect">
            <a:avLst/>
          </a:prstGeom>
          <a:noFill/>
          <a:ln/>
        </p:spPr>
        <p:txBody>
          <a:bodyPr wrap="square" lIns="508" tIns="508" rIns="508" bIns="508" rtlCol="0" anchor="ctr">
            <a:normAutofit/>
          </a:bodyPr>
          <a:lstStyle/>
          <a:p>
            <a:pPr algn="l" indent="0" marL="0">
              <a:buNone/>
            </a:pPr>
            <a:r>
              <a:rPr lang="en-US" sz="1100" b="1" dirty="0">
                <a:solidFill>
                  <a:srgbClr val="0B1F5B"/>
                </a:solidFill>
                <a:latin typeface="Aptos" pitchFamily="34" charset="0"/>
                <a:ea typeface="Aptos" pitchFamily="34" charset="-122"/>
                <a:cs typeface="Aptos" pitchFamily="34" charset="-120"/>
              </a:rPr>
              <a:t>F1</a:t>
            </a:r>
            <a:endParaRPr lang="en-US" sz="1100" dirty="0"/>
          </a:p>
        </p:txBody>
      </p:sp>
      <p:sp>
        <p:nvSpPr>
          <p:cNvPr id="30" name="Text 28"/>
          <p:cNvSpPr/>
          <p:nvPr/>
        </p:nvSpPr>
        <p:spPr>
          <a:xfrm>
            <a:off x="2331720" y="4553712"/>
            <a:ext cx="822960" cy="210312"/>
          </a:xfrm>
          <a:prstGeom prst="rect">
            <a:avLst/>
          </a:prstGeom>
          <a:noFill/>
          <a:ln/>
        </p:spPr>
        <p:txBody>
          <a:bodyPr wrap="square" lIns="508" tIns="508" rIns="508" bIns="508" rtlCol="0" anchor="ctr">
            <a:normAutofit/>
          </a:bodyPr>
          <a:lstStyle/>
          <a:p>
            <a:pPr algn="ctr" indent="0" marL="0">
              <a:buNone/>
            </a:pPr>
            <a:r>
              <a:rPr lang="en-US" sz="1500" b="1" dirty="0">
                <a:solidFill>
                  <a:srgbClr val="1C67B5"/>
                </a:solidFill>
                <a:latin typeface="Aptos" pitchFamily="34" charset="0"/>
                <a:ea typeface="Aptos" pitchFamily="34" charset="-122"/>
                <a:cs typeface="Aptos" pitchFamily="34" charset="-120"/>
              </a:rPr>
              <a:t>0.4354</a:t>
            </a:r>
            <a:endParaRPr lang="en-US" sz="1500" dirty="0"/>
          </a:p>
        </p:txBody>
      </p:sp>
      <p:sp>
        <p:nvSpPr>
          <p:cNvPr id="31" name="Text 29"/>
          <p:cNvSpPr/>
          <p:nvPr/>
        </p:nvSpPr>
        <p:spPr>
          <a:xfrm>
            <a:off x="3346704" y="4553712"/>
            <a:ext cx="2834640" cy="210312"/>
          </a:xfrm>
          <a:prstGeom prst="rect">
            <a:avLst/>
          </a:prstGeom>
          <a:noFill/>
          <a:ln/>
        </p:spPr>
        <p:txBody>
          <a:bodyPr wrap="square" lIns="508" tIns="508" rIns="508" bIns="508" rtlCol="0" anchor="ctr">
            <a:normAutofit/>
          </a:bodyPr>
          <a:lstStyle/>
          <a:p>
            <a:pPr algn="l" indent="0" marL="0">
              <a:buNone/>
            </a:pPr>
            <a:r>
              <a:rPr lang="en-US" sz="1020" dirty="0">
                <a:solidFill>
                  <a:srgbClr val="637B93"/>
                </a:solidFill>
                <a:latin typeface="Aptos" pitchFamily="34" charset="0"/>
                <a:ea typeface="Aptos" pitchFamily="34" charset="-122"/>
                <a:cs typeface="Aptos" pitchFamily="34" charset="-120"/>
              </a:rPr>
              <a:t>Balance of precision and recall</a:t>
            </a:r>
            <a:endParaRPr lang="en-US" sz="1020" dirty="0"/>
          </a:p>
        </p:txBody>
      </p:sp>
      <p:sp>
        <p:nvSpPr>
          <p:cNvPr id="32" name="Shape 30"/>
          <p:cNvSpPr/>
          <p:nvPr/>
        </p:nvSpPr>
        <p:spPr>
          <a:xfrm>
            <a:off x="7223760" y="1463040"/>
            <a:ext cx="4160520" cy="3886200"/>
          </a:xfrm>
          <a:prstGeom prst="roundRect">
            <a:avLst>
              <a:gd name="adj" fmla="val 1882"/>
            </a:avLst>
          </a:prstGeom>
          <a:solidFill>
            <a:srgbClr val="FFFFFF"/>
          </a:solidFill>
          <a:ln w="12700">
            <a:solidFill>
              <a:srgbClr val="BDD7EC"/>
            </a:solidFill>
            <a:prstDash val="solid"/>
          </a:ln>
        </p:spPr>
      </p:sp>
      <p:sp>
        <p:nvSpPr>
          <p:cNvPr id="33" name="Text 31"/>
          <p:cNvSpPr/>
          <p:nvPr/>
        </p:nvSpPr>
        <p:spPr>
          <a:xfrm>
            <a:off x="7498080" y="1755648"/>
            <a:ext cx="3584448"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How to interpret this honestly</a:t>
            </a:r>
            <a:endParaRPr lang="en-US" sz="1700" dirty="0"/>
          </a:p>
        </p:txBody>
      </p:sp>
      <p:sp>
        <p:nvSpPr>
          <p:cNvPr id="34" name="Text 32"/>
          <p:cNvSpPr/>
          <p:nvPr/>
        </p:nvSpPr>
        <p:spPr>
          <a:xfrm>
            <a:off x="7498080" y="2331720"/>
            <a:ext cx="3401568" cy="2148840"/>
          </a:xfrm>
          <a:prstGeom prst="rect">
            <a:avLst/>
          </a:prstGeom>
          <a:noFill/>
          <a:ln/>
        </p:spPr>
        <p:txBody>
          <a:bodyPr wrap="square" lIns="508" tIns="508" rIns="508" bIns="508" rtlCol="0" anchor="ctr">
            <a:normAutofit/>
          </a:bodyPr>
          <a:lstStyle/>
          <a:p>
            <a:pPr marL="177800" indent="-177800">
              <a:buSzPct val="100000"/>
              <a:buChar char="•"/>
            </a:pPr>
            <a:r>
              <a:rPr lang="en-US" sz="1220" dirty="0">
                <a:solidFill>
                  <a:srgbClr val="18334F"/>
                </a:solidFill>
                <a:latin typeface="Aptos" pitchFamily="34" charset="0"/>
                <a:ea typeface="Aptos" pitchFamily="34" charset="-122"/>
                <a:cs typeface="Aptos" pitchFamily="34" charset="-120"/>
              </a:rPr>
              <a:t>The detector recovered most valid NOAA events (high recall).</a:t>
            </a:r>
            <a:endParaRPr lang="en-US" sz="1220" dirty="0"/>
          </a:p>
          <a:p>
            <a:pPr marL="177800" indent="-177800">
              <a:buSzPct val="100000"/>
              <a:buChar char="•"/>
            </a:pPr>
            <a:r>
              <a:rPr lang="en-US" sz="1220" dirty="0">
                <a:solidFill>
                  <a:srgbClr val="18334F"/>
                </a:solidFill>
                <a:latin typeface="Aptos" pitchFamily="34" charset="0"/>
                <a:ea typeface="Aptos" pitchFamily="34" charset="-122"/>
                <a:cs typeface="Aptos" pitchFamily="34" charset="-120"/>
              </a:rPr>
              <a:t>Many statistical detections had no NOAA match (low precision).</a:t>
            </a:r>
            <a:endParaRPr lang="en-US" sz="1220" dirty="0"/>
          </a:p>
          <a:p>
            <a:pPr marL="177800" indent="-177800">
              <a:buSzPct val="100000"/>
              <a:buChar char="•"/>
            </a:pPr>
            <a:r>
              <a:rPr lang="en-US" sz="1220" dirty="0">
                <a:solidFill>
                  <a:srgbClr val="18334F"/>
                </a:solidFill>
                <a:latin typeface="Aptos" pitchFamily="34" charset="0"/>
                <a:ea typeface="Aptos" pitchFamily="34" charset="-122"/>
                <a:cs typeface="Aptos" pitchFamily="34" charset="-120"/>
              </a:rPr>
              <a:t>Peak timing was close when matches occurred.</a:t>
            </a:r>
            <a:endParaRPr lang="en-US" sz="1220" dirty="0"/>
          </a:p>
          <a:p>
            <a:pPr marL="177800" indent="-177800">
              <a:buSzPct val="100000"/>
              <a:buChar char="•"/>
            </a:pPr>
            <a:r>
              <a:rPr lang="en-US" sz="1220" dirty="0">
                <a:solidFill>
                  <a:srgbClr val="18334F"/>
                </a:solidFill>
                <a:latin typeface="Aptos" pitchFamily="34" charset="0"/>
                <a:ea typeface="Aptos" pitchFamily="34" charset="-122"/>
                <a:cs typeface="Aptos" pitchFamily="34" charset="-120"/>
              </a:rPr>
              <a:t>Detector selection influences which events reach later supervised stages.</a:t>
            </a:r>
            <a:endParaRPr lang="en-US" sz="1220" dirty="0"/>
          </a:p>
        </p:txBody>
      </p:sp>
      <p:sp>
        <p:nvSpPr>
          <p:cNvPr id="35" name="Shape 33"/>
          <p:cNvSpPr/>
          <p:nvPr/>
        </p:nvSpPr>
        <p:spPr>
          <a:xfrm>
            <a:off x="7589520" y="4718304"/>
            <a:ext cx="1325880" cy="658368"/>
          </a:xfrm>
          <a:prstGeom prst="roundRect">
            <a:avLst>
              <a:gd name="adj" fmla="val 11111"/>
            </a:avLst>
          </a:prstGeom>
          <a:solidFill>
            <a:srgbClr val="FFFFFF"/>
          </a:solidFill>
          <a:ln w="12700">
            <a:solidFill>
              <a:srgbClr val="D3E4F3"/>
            </a:solidFill>
            <a:prstDash val="solid"/>
          </a:ln>
        </p:spPr>
      </p:sp>
      <p:sp>
        <p:nvSpPr>
          <p:cNvPr id="36" name="Text 34"/>
          <p:cNvSpPr/>
          <p:nvPr/>
        </p:nvSpPr>
        <p:spPr>
          <a:xfrm>
            <a:off x="7635240" y="4782312"/>
            <a:ext cx="1234440" cy="256032"/>
          </a:xfrm>
          <a:prstGeom prst="rect">
            <a:avLst/>
          </a:prstGeom>
          <a:noFill/>
          <a:ln/>
        </p:spPr>
        <p:txBody>
          <a:bodyPr wrap="square" lIns="508" tIns="508" rIns="508" bIns="508" rtlCol="0" anchor="ctr">
            <a:normAutofit/>
          </a:bodyPr>
          <a:lstStyle/>
          <a:p>
            <a:pPr algn="ctr" indent="0" marL="0">
              <a:buNone/>
            </a:pPr>
            <a:r>
              <a:rPr lang="en-US" sz="1700" b="1" dirty="0">
                <a:solidFill>
                  <a:srgbClr val="E9A21B"/>
                </a:solidFill>
                <a:latin typeface="Aptos" pitchFamily="34" charset="0"/>
                <a:ea typeface="Aptos" pitchFamily="34" charset="-122"/>
                <a:cs typeface="Aptos" pitchFamily="34" charset="-120"/>
              </a:rPr>
              <a:t>1.76 min</a:t>
            </a:r>
            <a:endParaRPr lang="en-US" sz="1700" dirty="0"/>
          </a:p>
        </p:txBody>
      </p:sp>
      <p:sp>
        <p:nvSpPr>
          <p:cNvPr id="37" name="Text 35"/>
          <p:cNvSpPr/>
          <p:nvPr/>
        </p:nvSpPr>
        <p:spPr>
          <a:xfrm>
            <a:off x="7653528" y="5065776"/>
            <a:ext cx="119786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mean peak error</a:t>
            </a:r>
            <a:endParaRPr lang="en-US" sz="880" dirty="0"/>
          </a:p>
        </p:txBody>
      </p:sp>
      <p:sp>
        <p:nvSpPr>
          <p:cNvPr id="38" name="Shape 36"/>
          <p:cNvSpPr/>
          <p:nvPr/>
        </p:nvSpPr>
        <p:spPr>
          <a:xfrm>
            <a:off x="9098280" y="4718304"/>
            <a:ext cx="1325880" cy="658368"/>
          </a:xfrm>
          <a:prstGeom prst="roundRect">
            <a:avLst>
              <a:gd name="adj" fmla="val 11111"/>
            </a:avLst>
          </a:prstGeom>
          <a:solidFill>
            <a:srgbClr val="FFFFFF"/>
          </a:solidFill>
          <a:ln w="12700">
            <a:solidFill>
              <a:srgbClr val="D3E4F3"/>
            </a:solidFill>
            <a:prstDash val="solid"/>
          </a:ln>
        </p:spPr>
      </p:sp>
      <p:sp>
        <p:nvSpPr>
          <p:cNvPr id="39" name="Text 37"/>
          <p:cNvSpPr/>
          <p:nvPr/>
        </p:nvSpPr>
        <p:spPr>
          <a:xfrm>
            <a:off x="9144000" y="4782312"/>
            <a:ext cx="1234440" cy="256032"/>
          </a:xfrm>
          <a:prstGeom prst="rect">
            <a:avLst/>
          </a:prstGeom>
          <a:noFill/>
          <a:ln/>
        </p:spPr>
        <p:txBody>
          <a:bodyPr wrap="square" lIns="508" tIns="508" rIns="508" bIns="508" rtlCol="0" anchor="ctr">
            <a:normAutofit/>
          </a:bodyPr>
          <a:lstStyle/>
          <a:p>
            <a:pPr algn="ctr" indent="0" marL="0">
              <a:buNone/>
            </a:pPr>
            <a:r>
              <a:rPr lang="en-US" sz="1700" b="1" dirty="0">
                <a:solidFill>
                  <a:srgbClr val="E9A21B"/>
                </a:solidFill>
                <a:latin typeface="Aptos" pitchFamily="34" charset="0"/>
                <a:ea typeface="Aptos" pitchFamily="34" charset="-122"/>
                <a:cs typeface="Aptos" pitchFamily="34" charset="-120"/>
              </a:rPr>
              <a:t>0.00 min</a:t>
            </a:r>
            <a:endParaRPr lang="en-US" sz="1700" dirty="0"/>
          </a:p>
        </p:txBody>
      </p:sp>
      <p:sp>
        <p:nvSpPr>
          <p:cNvPr id="40" name="Text 38"/>
          <p:cNvSpPr/>
          <p:nvPr/>
        </p:nvSpPr>
        <p:spPr>
          <a:xfrm>
            <a:off x="9162288" y="5065776"/>
            <a:ext cx="119786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median peak error</a:t>
            </a:r>
            <a:endParaRPr lang="en-US" sz="880" dirty="0"/>
          </a:p>
        </p:txBody>
      </p:sp>
      <p:sp>
        <p:nvSpPr>
          <p:cNvPr id="41" name="Shape 39"/>
          <p:cNvSpPr/>
          <p:nvPr/>
        </p:nvSpPr>
        <p:spPr>
          <a:xfrm>
            <a:off x="2834640" y="5687568"/>
            <a:ext cx="6537960" cy="384048"/>
          </a:xfrm>
          <a:prstGeom prst="roundRect">
            <a:avLst>
              <a:gd name="adj" fmla="val 19048"/>
            </a:avLst>
          </a:prstGeom>
          <a:solidFill>
            <a:srgbClr val="FFF8EE"/>
          </a:solidFill>
          <a:ln w="12700">
            <a:solidFill>
              <a:srgbClr val="E86F1C"/>
            </a:solidFill>
            <a:prstDash val="solid"/>
          </a:ln>
        </p:spPr>
      </p:sp>
      <p:sp>
        <p:nvSpPr>
          <p:cNvPr id="42" name="Text 40"/>
          <p:cNvSpPr/>
          <p:nvPr/>
        </p:nvSpPr>
        <p:spPr>
          <a:xfrm>
            <a:off x="2944368" y="5760720"/>
            <a:ext cx="6318504" cy="23774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Detector performance is part of the scientific limitation chain — not something to hide.</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sp>
        <p:nvSpPr>
          <p:cNvPr id="4" name="Text 2"/>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Why Event Shape Matters</a:t>
            </a:r>
            <a:endParaRPr lang="en-US" sz="2500" dirty="0"/>
          </a:p>
        </p:txBody>
      </p:sp>
      <p:sp>
        <p:nvSpPr>
          <p:cNvPr id="5" name="Text 3"/>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Feature engineering turns a flare curve into measurable numbers</a:t>
            </a:r>
            <a:endParaRPr lang="en-US" sz="1450" dirty="0"/>
          </a:p>
        </p:txBody>
      </p:sp>
      <p:sp>
        <p:nvSpPr>
          <p:cNvPr id="6" name="Shape 4"/>
          <p:cNvSpPr/>
          <p:nvPr/>
        </p:nvSpPr>
        <p:spPr>
          <a:xfrm>
            <a:off x="731520" y="1353312"/>
            <a:ext cx="5257800" cy="4480560"/>
          </a:xfrm>
          <a:prstGeom prst="roundRect">
            <a:avLst>
              <a:gd name="adj" fmla="val 1633"/>
            </a:avLst>
          </a:prstGeom>
          <a:solidFill>
            <a:srgbClr val="FFFFFF"/>
          </a:solidFill>
          <a:ln w="12700">
            <a:solidFill>
              <a:srgbClr val="BDD7EC"/>
            </a:solidFill>
            <a:prstDash val="solid"/>
          </a:ln>
        </p:spPr>
      </p:sp>
      <p:pic>
        <p:nvPicPr>
          <p:cNvPr id="7" name="Image 0" descr="/mnt/data/ppt_assets/event_lifecycle_actual.png">    </p:cNvPr>
          <p:cNvPicPr>
            <a:picLocks noChangeAspect="1"/>
          </p:cNvPicPr>
          <p:nvPr/>
        </p:nvPicPr>
        <p:blipFill>
          <a:blip r:embed="rId1"/>
          <a:stretch>
            <a:fillRect/>
          </a:stretch>
        </p:blipFill>
        <p:spPr>
          <a:xfrm>
            <a:off x="987552" y="2056965"/>
            <a:ext cx="4754880" cy="1811383"/>
          </a:xfrm>
          <a:prstGeom prst="rect">
            <a:avLst/>
          </a:prstGeom>
        </p:spPr>
      </p:pic>
      <p:sp>
        <p:nvSpPr>
          <p:cNvPr id="8" name="Text 5"/>
          <p:cNvSpPr/>
          <p:nvPr/>
        </p:nvSpPr>
        <p:spPr>
          <a:xfrm>
            <a:off x="1097280" y="4425696"/>
            <a:ext cx="4526280" cy="365760"/>
          </a:xfrm>
          <a:prstGeom prst="rect">
            <a:avLst/>
          </a:prstGeom>
          <a:noFill/>
          <a:ln/>
        </p:spPr>
        <p:txBody>
          <a:bodyPr wrap="square" lIns="508" tIns="508" rIns="508" bIns="508" rtlCol="0" anchor="ctr">
            <a:normAutofit/>
          </a:bodyPr>
          <a:lstStyle/>
          <a:p>
            <a:pPr algn="ctr" indent="0" marL="0">
              <a:buNone/>
            </a:pPr>
            <a:r>
              <a:rPr lang="en-US" sz="1300" b="1" dirty="0">
                <a:solidFill>
                  <a:srgbClr val="0B1F5B"/>
                </a:solidFill>
                <a:latin typeface="Aptos" pitchFamily="34" charset="0"/>
                <a:ea typeface="Aptos" pitchFamily="34" charset="-122"/>
                <a:cs typeface="Aptos" pitchFamily="34" charset="-120"/>
              </a:rPr>
              <a:t>The classifier does not receive the plotted curve as a picture.</a:t>
            </a:r>
            <a:endParaRPr lang="en-US" sz="1300" dirty="0"/>
          </a:p>
        </p:txBody>
      </p:sp>
      <p:sp>
        <p:nvSpPr>
          <p:cNvPr id="9" name="Shape 6"/>
          <p:cNvSpPr/>
          <p:nvPr/>
        </p:nvSpPr>
        <p:spPr>
          <a:xfrm>
            <a:off x="1078992" y="4956048"/>
            <a:ext cx="4553712" cy="493776"/>
          </a:xfrm>
          <a:prstGeom prst="roundRect">
            <a:avLst>
              <a:gd name="adj" fmla="val 14815"/>
            </a:avLst>
          </a:prstGeom>
          <a:solidFill>
            <a:srgbClr val="EEF6FD"/>
          </a:solidFill>
          <a:ln w="12700">
            <a:solidFill>
              <a:srgbClr val="1C67B5"/>
            </a:solidFill>
            <a:prstDash val="solid"/>
          </a:ln>
        </p:spPr>
      </p:sp>
      <p:sp>
        <p:nvSpPr>
          <p:cNvPr id="10" name="Text 7"/>
          <p:cNvSpPr/>
          <p:nvPr/>
        </p:nvSpPr>
        <p:spPr>
          <a:xfrm>
            <a:off x="1188720" y="5029200"/>
            <a:ext cx="4334256" cy="347472"/>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We summarize physically meaningful rise-phase behavior into event-level measurements.</a:t>
            </a:r>
            <a:endParaRPr lang="en-US" sz="1150" dirty="0"/>
          </a:p>
        </p:txBody>
      </p:sp>
      <p:sp>
        <p:nvSpPr>
          <p:cNvPr id="11" name="Shape 8"/>
          <p:cNvSpPr/>
          <p:nvPr/>
        </p:nvSpPr>
        <p:spPr>
          <a:xfrm>
            <a:off x="6236208" y="1353312"/>
            <a:ext cx="5257800" cy="4480560"/>
          </a:xfrm>
          <a:prstGeom prst="roundRect">
            <a:avLst>
              <a:gd name="adj" fmla="val 1633"/>
            </a:avLst>
          </a:prstGeom>
          <a:solidFill>
            <a:srgbClr val="EEF6FD"/>
          </a:solidFill>
          <a:ln w="12700">
            <a:solidFill>
              <a:srgbClr val="BDD7EC"/>
            </a:solidFill>
            <a:prstDash val="solid"/>
          </a:ln>
        </p:spPr>
      </p:sp>
      <p:sp>
        <p:nvSpPr>
          <p:cNvPr id="12" name="Text 9"/>
          <p:cNvSpPr/>
          <p:nvPr/>
        </p:nvSpPr>
        <p:spPr>
          <a:xfrm>
            <a:off x="6556248" y="1645920"/>
            <a:ext cx="4617720" cy="292608"/>
          </a:xfrm>
          <a:prstGeom prst="rect">
            <a:avLst/>
          </a:prstGeom>
          <a:noFill/>
          <a:ln/>
        </p:spPr>
        <p:txBody>
          <a:bodyPr wrap="square" lIns="508" tIns="508" rIns="508" bIns="508" rtlCol="0" anchor="ctr">
            <a:normAutofit/>
          </a:bodyPr>
          <a:lstStyle/>
          <a:p>
            <a:pPr algn="ctr" indent="0" marL="0">
              <a:buNone/>
            </a:pPr>
            <a:r>
              <a:rPr lang="en-US" sz="1700" b="1" dirty="0">
                <a:solidFill>
                  <a:srgbClr val="0B1F5B"/>
                </a:solidFill>
                <a:latin typeface="Georgia" pitchFamily="34" charset="0"/>
                <a:ea typeface="Georgia" pitchFamily="34" charset="-122"/>
                <a:cs typeface="Georgia" pitchFamily="34" charset="-120"/>
              </a:rPr>
              <a:t>From shape → measurements</a:t>
            </a:r>
            <a:endParaRPr lang="en-US" sz="1700" dirty="0"/>
          </a:p>
        </p:txBody>
      </p:sp>
      <p:sp>
        <p:nvSpPr>
          <p:cNvPr id="13" name="Shape 10"/>
          <p:cNvSpPr/>
          <p:nvPr/>
        </p:nvSpPr>
        <p:spPr>
          <a:xfrm>
            <a:off x="6601968" y="2157984"/>
            <a:ext cx="4526280" cy="438912"/>
          </a:xfrm>
          <a:prstGeom prst="roundRect">
            <a:avLst>
              <a:gd name="adj" fmla="val 16667"/>
            </a:avLst>
          </a:prstGeom>
          <a:solidFill>
            <a:srgbClr val="FFFFFF"/>
          </a:solidFill>
          <a:ln w="12700">
            <a:solidFill>
              <a:srgbClr val="D2E2EF"/>
            </a:solidFill>
            <a:prstDash val="solid"/>
          </a:ln>
        </p:spPr>
      </p:sp>
      <p:sp>
        <p:nvSpPr>
          <p:cNvPr id="14" name="Text 11"/>
          <p:cNvSpPr/>
          <p:nvPr/>
        </p:nvSpPr>
        <p:spPr>
          <a:xfrm>
            <a:off x="6784848" y="2258568"/>
            <a:ext cx="2029968" cy="182880"/>
          </a:xfrm>
          <a:prstGeom prst="rect">
            <a:avLst/>
          </a:prstGeom>
          <a:noFill/>
          <a:ln/>
        </p:spPr>
        <p:txBody>
          <a:bodyPr wrap="square" lIns="508" tIns="508" rIns="508" bIns="508" rtlCol="0" anchor="ctr">
            <a:normAutofit/>
          </a:bodyPr>
          <a:lstStyle/>
          <a:p>
            <a:pPr algn="l" indent="0" marL="0">
              <a:buNone/>
            </a:pPr>
            <a:r>
              <a:rPr lang="en-US" sz="1050" dirty="0">
                <a:solidFill>
                  <a:srgbClr val="637B93"/>
                </a:solidFill>
                <a:latin typeface="Aptos" pitchFamily="34" charset="0"/>
                <a:ea typeface="Aptos" pitchFamily="34" charset="-122"/>
                <a:cs typeface="Aptos" pitchFamily="34" charset="-120"/>
              </a:rPr>
              <a:t>steepness</a:t>
            </a:r>
            <a:endParaRPr lang="en-US" sz="1050" dirty="0"/>
          </a:p>
        </p:txBody>
      </p:sp>
      <p:sp>
        <p:nvSpPr>
          <p:cNvPr id="15" name="Shape 12"/>
          <p:cNvSpPr/>
          <p:nvPr/>
        </p:nvSpPr>
        <p:spPr>
          <a:xfrm>
            <a:off x="8759952" y="2258568"/>
            <a:ext cx="201168" cy="256032"/>
          </a:xfrm>
          <a:prstGeom prst="chevron">
            <a:avLst/>
          </a:prstGeom>
          <a:solidFill>
            <a:srgbClr val="1C67B5"/>
          </a:solidFill>
          <a:ln w="12700">
            <a:solidFill>
              <a:srgbClr val="1C67B5">
                <a:alpha val="0"/>
              </a:srgbClr>
            </a:solidFill>
            <a:prstDash val="solid"/>
          </a:ln>
        </p:spPr>
      </p:sp>
      <p:sp>
        <p:nvSpPr>
          <p:cNvPr id="16" name="Text 13"/>
          <p:cNvSpPr/>
          <p:nvPr/>
        </p:nvSpPr>
        <p:spPr>
          <a:xfrm>
            <a:off x="9098280" y="2258568"/>
            <a:ext cx="1737360" cy="182880"/>
          </a:xfrm>
          <a:prstGeom prst="rect">
            <a:avLst/>
          </a:prstGeom>
          <a:noFill/>
          <a:ln/>
        </p:spPr>
        <p:txBody>
          <a:bodyPr wrap="square" lIns="508" tIns="508" rIns="508" bIns="508" rtlCol="0" anchor="ctr">
            <a:normAutofit/>
          </a:bodyPr>
          <a:lstStyle/>
          <a:p>
            <a:pPr algn="l" indent="0" marL="0">
              <a:buNone/>
            </a:pPr>
            <a:r>
              <a:rPr lang="en-US" sz="1120" b="1" dirty="0">
                <a:solidFill>
                  <a:srgbClr val="0B1F5B"/>
                </a:solidFill>
                <a:latin typeface="Aptos" pitchFamily="34" charset="0"/>
                <a:ea typeface="Aptos" pitchFamily="34" charset="-122"/>
                <a:cs typeface="Aptos" pitchFamily="34" charset="-120"/>
              </a:rPr>
              <a:t>rise slope</a:t>
            </a:r>
            <a:endParaRPr lang="en-US" sz="1120" dirty="0"/>
          </a:p>
        </p:txBody>
      </p:sp>
      <p:sp>
        <p:nvSpPr>
          <p:cNvPr id="17" name="Shape 14"/>
          <p:cNvSpPr/>
          <p:nvPr/>
        </p:nvSpPr>
        <p:spPr>
          <a:xfrm>
            <a:off x="6601968" y="2761488"/>
            <a:ext cx="4526280" cy="438912"/>
          </a:xfrm>
          <a:prstGeom prst="roundRect">
            <a:avLst>
              <a:gd name="adj" fmla="val 16667"/>
            </a:avLst>
          </a:prstGeom>
          <a:solidFill>
            <a:srgbClr val="FFFFFF"/>
          </a:solidFill>
          <a:ln w="12700">
            <a:solidFill>
              <a:srgbClr val="D2E2EF"/>
            </a:solidFill>
            <a:prstDash val="solid"/>
          </a:ln>
        </p:spPr>
      </p:sp>
      <p:sp>
        <p:nvSpPr>
          <p:cNvPr id="18" name="Text 15"/>
          <p:cNvSpPr/>
          <p:nvPr/>
        </p:nvSpPr>
        <p:spPr>
          <a:xfrm>
            <a:off x="6784848" y="2862072"/>
            <a:ext cx="2029968" cy="182880"/>
          </a:xfrm>
          <a:prstGeom prst="rect">
            <a:avLst/>
          </a:prstGeom>
          <a:noFill/>
          <a:ln/>
        </p:spPr>
        <p:txBody>
          <a:bodyPr wrap="square" lIns="508" tIns="508" rIns="508" bIns="508" rtlCol="0" anchor="ctr">
            <a:normAutofit/>
          </a:bodyPr>
          <a:lstStyle/>
          <a:p>
            <a:pPr algn="l" indent="0" marL="0">
              <a:buNone/>
            </a:pPr>
            <a:r>
              <a:rPr lang="en-US" sz="1050" dirty="0">
                <a:solidFill>
                  <a:srgbClr val="637B93"/>
                </a:solidFill>
                <a:latin typeface="Aptos" pitchFamily="34" charset="0"/>
                <a:ea typeface="Aptos" pitchFamily="34" charset="-122"/>
                <a:cs typeface="Aptos" pitchFamily="34" charset="-120"/>
              </a:rPr>
              <a:t>fastest change</a:t>
            </a:r>
            <a:endParaRPr lang="en-US" sz="1050" dirty="0"/>
          </a:p>
        </p:txBody>
      </p:sp>
      <p:sp>
        <p:nvSpPr>
          <p:cNvPr id="19" name="Shape 16"/>
          <p:cNvSpPr/>
          <p:nvPr/>
        </p:nvSpPr>
        <p:spPr>
          <a:xfrm>
            <a:off x="8759952" y="2862072"/>
            <a:ext cx="201168" cy="256032"/>
          </a:xfrm>
          <a:prstGeom prst="chevron">
            <a:avLst/>
          </a:prstGeom>
          <a:solidFill>
            <a:srgbClr val="1C67B5"/>
          </a:solidFill>
          <a:ln w="12700">
            <a:solidFill>
              <a:srgbClr val="1C67B5">
                <a:alpha val="0"/>
              </a:srgbClr>
            </a:solidFill>
            <a:prstDash val="solid"/>
          </a:ln>
        </p:spPr>
      </p:sp>
      <p:sp>
        <p:nvSpPr>
          <p:cNvPr id="20" name="Text 17"/>
          <p:cNvSpPr/>
          <p:nvPr/>
        </p:nvSpPr>
        <p:spPr>
          <a:xfrm>
            <a:off x="9098280" y="2862072"/>
            <a:ext cx="1737360" cy="182880"/>
          </a:xfrm>
          <a:prstGeom prst="rect">
            <a:avLst/>
          </a:prstGeom>
          <a:noFill/>
          <a:ln/>
        </p:spPr>
        <p:txBody>
          <a:bodyPr wrap="square" lIns="508" tIns="508" rIns="508" bIns="508" rtlCol="0" anchor="ctr">
            <a:normAutofit/>
          </a:bodyPr>
          <a:lstStyle/>
          <a:p>
            <a:pPr algn="l" indent="0" marL="0">
              <a:buNone/>
            </a:pPr>
            <a:r>
              <a:rPr lang="en-US" sz="1120" b="1" dirty="0">
                <a:solidFill>
                  <a:srgbClr val="0B1F5B"/>
                </a:solidFill>
                <a:latin typeface="Aptos" pitchFamily="34" charset="0"/>
                <a:ea typeface="Aptos" pitchFamily="34" charset="-122"/>
                <a:cs typeface="Aptos" pitchFamily="34" charset="-120"/>
              </a:rPr>
              <a:t>max ROC</a:t>
            </a:r>
            <a:endParaRPr lang="en-US" sz="1120" dirty="0"/>
          </a:p>
        </p:txBody>
      </p:sp>
      <p:sp>
        <p:nvSpPr>
          <p:cNvPr id="21" name="Shape 18"/>
          <p:cNvSpPr/>
          <p:nvPr/>
        </p:nvSpPr>
        <p:spPr>
          <a:xfrm>
            <a:off x="6601968" y="3364992"/>
            <a:ext cx="4526280" cy="438912"/>
          </a:xfrm>
          <a:prstGeom prst="roundRect">
            <a:avLst>
              <a:gd name="adj" fmla="val 16667"/>
            </a:avLst>
          </a:prstGeom>
          <a:solidFill>
            <a:srgbClr val="FFFFFF"/>
          </a:solidFill>
          <a:ln w="12700">
            <a:solidFill>
              <a:srgbClr val="D2E2EF"/>
            </a:solidFill>
            <a:prstDash val="solid"/>
          </a:ln>
        </p:spPr>
      </p:sp>
      <p:sp>
        <p:nvSpPr>
          <p:cNvPr id="22" name="Text 19"/>
          <p:cNvSpPr/>
          <p:nvPr/>
        </p:nvSpPr>
        <p:spPr>
          <a:xfrm>
            <a:off x="6784848" y="3465576"/>
            <a:ext cx="2029968" cy="182880"/>
          </a:xfrm>
          <a:prstGeom prst="rect">
            <a:avLst/>
          </a:prstGeom>
          <a:noFill/>
          <a:ln/>
        </p:spPr>
        <p:txBody>
          <a:bodyPr wrap="square" lIns="508" tIns="508" rIns="508" bIns="508" rtlCol="0" anchor="ctr">
            <a:normAutofit/>
          </a:bodyPr>
          <a:lstStyle/>
          <a:p>
            <a:pPr algn="l" indent="0" marL="0">
              <a:buNone/>
            </a:pPr>
            <a:r>
              <a:rPr lang="en-US" sz="1050" dirty="0">
                <a:solidFill>
                  <a:srgbClr val="637B93"/>
                </a:solidFill>
                <a:latin typeface="Aptos" pitchFamily="34" charset="0"/>
                <a:ea typeface="Aptos" pitchFamily="34" charset="-122"/>
                <a:cs typeface="Aptos" pitchFamily="34" charset="-120"/>
              </a:rPr>
              <a:t>average positive change</a:t>
            </a:r>
            <a:endParaRPr lang="en-US" sz="1050" dirty="0"/>
          </a:p>
        </p:txBody>
      </p:sp>
      <p:sp>
        <p:nvSpPr>
          <p:cNvPr id="23" name="Shape 20"/>
          <p:cNvSpPr/>
          <p:nvPr/>
        </p:nvSpPr>
        <p:spPr>
          <a:xfrm>
            <a:off x="8759952" y="3465576"/>
            <a:ext cx="201168" cy="256032"/>
          </a:xfrm>
          <a:prstGeom prst="chevron">
            <a:avLst/>
          </a:prstGeom>
          <a:solidFill>
            <a:srgbClr val="1C67B5"/>
          </a:solidFill>
          <a:ln w="12700">
            <a:solidFill>
              <a:srgbClr val="1C67B5">
                <a:alpha val="0"/>
              </a:srgbClr>
            </a:solidFill>
            <a:prstDash val="solid"/>
          </a:ln>
        </p:spPr>
      </p:sp>
      <p:sp>
        <p:nvSpPr>
          <p:cNvPr id="24" name="Text 21"/>
          <p:cNvSpPr/>
          <p:nvPr/>
        </p:nvSpPr>
        <p:spPr>
          <a:xfrm>
            <a:off x="9098280" y="3465576"/>
            <a:ext cx="1737360" cy="182880"/>
          </a:xfrm>
          <a:prstGeom prst="rect">
            <a:avLst/>
          </a:prstGeom>
          <a:noFill/>
          <a:ln/>
        </p:spPr>
        <p:txBody>
          <a:bodyPr wrap="square" lIns="508" tIns="508" rIns="508" bIns="508" rtlCol="0" anchor="ctr">
            <a:normAutofit/>
          </a:bodyPr>
          <a:lstStyle/>
          <a:p>
            <a:pPr algn="l" indent="0" marL="0">
              <a:buNone/>
            </a:pPr>
            <a:r>
              <a:rPr lang="en-US" sz="1120" b="1" dirty="0">
                <a:solidFill>
                  <a:srgbClr val="0B1F5B"/>
                </a:solidFill>
                <a:latin typeface="Aptos" pitchFamily="34" charset="0"/>
                <a:ea typeface="Aptos" pitchFamily="34" charset="-122"/>
                <a:cs typeface="Aptos" pitchFamily="34" charset="-120"/>
              </a:rPr>
              <a:t>mean +ROC</a:t>
            </a:r>
            <a:endParaRPr lang="en-US" sz="1120" dirty="0"/>
          </a:p>
        </p:txBody>
      </p:sp>
      <p:sp>
        <p:nvSpPr>
          <p:cNvPr id="25" name="Shape 22"/>
          <p:cNvSpPr/>
          <p:nvPr/>
        </p:nvSpPr>
        <p:spPr>
          <a:xfrm>
            <a:off x="6601968" y="3968496"/>
            <a:ext cx="4526280" cy="438912"/>
          </a:xfrm>
          <a:prstGeom prst="roundRect">
            <a:avLst>
              <a:gd name="adj" fmla="val 16667"/>
            </a:avLst>
          </a:prstGeom>
          <a:solidFill>
            <a:srgbClr val="FFFFFF"/>
          </a:solidFill>
          <a:ln w="12700">
            <a:solidFill>
              <a:srgbClr val="D2E2EF"/>
            </a:solidFill>
            <a:prstDash val="solid"/>
          </a:ln>
        </p:spPr>
      </p:sp>
      <p:sp>
        <p:nvSpPr>
          <p:cNvPr id="26" name="Text 23"/>
          <p:cNvSpPr/>
          <p:nvPr/>
        </p:nvSpPr>
        <p:spPr>
          <a:xfrm>
            <a:off x="6784848" y="4069080"/>
            <a:ext cx="2029968" cy="182880"/>
          </a:xfrm>
          <a:prstGeom prst="rect">
            <a:avLst/>
          </a:prstGeom>
          <a:noFill/>
          <a:ln/>
        </p:spPr>
        <p:txBody>
          <a:bodyPr wrap="square" lIns="508" tIns="508" rIns="508" bIns="508" rtlCol="0" anchor="ctr">
            <a:normAutofit/>
          </a:bodyPr>
          <a:lstStyle/>
          <a:p>
            <a:pPr algn="l" indent="0" marL="0">
              <a:buNone/>
            </a:pPr>
            <a:r>
              <a:rPr lang="en-US" sz="1050" dirty="0">
                <a:solidFill>
                  <a:srgbClr val="637B93"/>
                </a:solidFill>
                <a:latin typeface="Aptos" pitchFamily="34" charset="0"/>
                <a:ea typeface="Aptos" pitchFamily="34" charset="-122"/>
                <a:cs typeface="Aptos" pitchFamily="34" charset="-120"/>
              </a:rPr>
              <a:t>time to peak</a:t>
            </a:r>
            <a:endParaRPr lang="en-US" sz="1050" dirty="0"/>
          </a:p>
        </p:txBody>
      </p:sp>
      <p:sp>
        <p:nvSpPr>
          <p:cNvPr id="27" name="Shape 24"/>
          <p:cNvSpPr/>
          <p:nvPr/>
        </p:nvSpPr>
        <p:spPr>
          <a:xfrm>
            <a:off x="8759952" y="4069080"/>
            <a:ext cx="201168" cy="256032"/>
          </a:xfrm>
          <a:prstGeom prst="chevron">
            <a:avLst/>
          </a:prstGeom>
          <a:solidFill>
            <a:srgbClr val="1C67B5"/>
          </a:solidFill>
          <a:ln w="12700">
            <a:solidFill>
              <a:srgbClr val="1C67B5">
                <a:alpha val="0"/>
              </a:srgbClr>
            </a:solidFill>
            <a:prstDash val="solid"/>
          </a:ln>
        </p:spPr>
      </p:sp>
      <p:sp>
        <p:nvSpPr>
          <p:cNvPr id="28" name="Text 25"/>
          <p:cNvSpPr/>
          <p:nvPr/>
        </p:nvSpPr>
        <p:spPr>
          <a:xfrm>
            <a:off x="9098280" y="4069080"/>
            <a:ext cx="1737360" cy="182880"/>
          </a:xfrm>
          <a:prstGeom prst="rect">
            <a:avLst/>
          </a:prstGeom>
          <a:noFill/>
          <a:ln/>
        </p:spPr>
        <p:txBody>
          <a:bodyPr wrap="square" lIns="508" tIns="508" rIns="508" bIns="508" rtlCol="0" anchor="ctr">
            <a:normAutofit/>
          </a:bodyPr>
          <a:lstStyle/>
          <a:p>
            <a:pPr algn="l" indent="0" marL="0">
              <a:buNone/>
            </a:pPr>
            <a:r>
              <a:rPr lang="en-US" sz="1120" b="1" dirty="0">
                <a:solidFill>
                  <a:srgbClr val="0B1F5B"/>
                </a:solidFill>
                <a:latin typeface="Aptos" pitchFamily="34" charset="0"/>
                <a:ea typeface="Aptos" pitchFamily="34" charset="-122"/>
                <a:cs typeface="Aptos" pitchFamily="34" charset="-120"/>
              </a:rPr>
              <a:t>rise duration</a:t>
            </a:r>
            <a:endParaRPr lang="en-US" sz="1120" dirty="0"/>
          </a:p>
        </p:txBody>
      </p:sp>
      <p:sp>
        <p:nvSpPr>
          <p:cNvPr id="29" name="Shape 26"/>
          <p:cNvSpPr/>
          <p:nvPr/>
        </p:nvSpPr>
        <p:spPr>
          <a:xfrm>
            <a:off x="6601968" y="4572000"/>
            <a:ext cx="4526280" cy="438912"/>
          </a:xfrm>
          <a:prstGeom prst="roundRect">
            <a:avLst>
              <a:gd name="adj" fmla="val 16667"/>
            </a:avLst>
          </a:prstGeom>
          <a:solidFill>
            <a:srgbClr val="FFFFFF"/>
          </a:solidFill>
          <a:ln w="12700">
            <a:solidFill>
              <a:srgbClr val="D2E2EF"/>
            </a:solidFill>
            <a:prstDash val="solid"/>
          </a:ln>
        </p:spPr>
      </p:sp>
      <p:sp>
        <p:nvSpPr>
          <p:cNvPr id="30" name="Text 27"/>
          <p:cNvSpPr/>
          <p:nvPr/>
        </p:nvSpPr>
        <p:spPr>
          <a:xfrm>
            <a:off x="6784848" y="4672584"/>
            <a:ext cx="2029968" cy="182880"/>
          </a:xfrm>
          <a:prstGeom prst="rect">
            <a:avLst/>
          </a:prstGeom>
          <a:noFill/>
          <a:ln/>
        </p:spPr>
        <p:txBody>
          <a:bodyPr wrap="square" lIns="508" tIns="508" rIns="508" bIns="508" rtlCol="0" anchor="ctr">
            <a:normAutofit/>
          </a:bodyPr>
          <a:lstStyle/>
          <a:p>
            <a:pPr algn="l" indent="0" marL="0">
              <a:buNone/>
            </a:pPr>
            <a:r>
              <a:rPr lang="en-US" sz="1050" dirty="0">
                <a:solidFill>
                  <a:srgbClr val="637B93"/>
                </a:solidFill>
                <a:latin typeface="Aptos" pitchFamily="34" charset="0"/>
                <a:ea typeface="Aptos" pitchFamily="34" charset="-122"/>
                <a:cs typeface="Aptos" pitchFamily="34" charset="-120"/>
              </a:rPr>
              <a:t>starting context</a:t>
            </a:r>
            <a:endParaRPr lang="en-US" sz="1050" dirty="0"/>
          </a:p>
        </p:txBody>
      </p:sp>
      <p:sp>
        <p:nvSpPr>
          <p:cNvPr id="31" name="Shape 28"/>
          <p:cNvSpPr/>
          <p:nvPr/>
        </p:nvSpPr>
        <p:spPr>
          <a:xfrm>
            <a:off x="8759952" y="4672584"/>
            <a:ext cx="201168" cy="256032"/>
          </a:xfrm>
          <a:prstGeom prst="chevron">
            <a:avLst/>
          </a:prstGeom>
          <a:solidFill>
            <a:srgbClr val="1C67B5"/>
          </a:solidFill>
          <a:ln w="12700">
            <a:solidFill>
              <a:srgbClr val="1C67B5">
                <a:alpha val="0"/>
              </a:srgbClr>
            </a:solidFill>
            <a:prstDash val="solid"/>
          </a:ln>
        </p:spPr>
      </p:sp>
      <p:sp>
        <p:nvSpPr>
          <p:cNvPr id="32" name="Text 29"/>
          <p:cNvSpPr/>
          <p:nvPr/>
        </p:nvSpPr>
        <p:spPr>
          <a:xfrm>
            <a:off x="9098280" y="4672584"/>
            <a:ext cx="1737360" cy="182880"/>
          </a:xfrm>
          <a:prstGeom prst="rect">
            <a:avLst/>
          </a:prstGeom>
          <a:noFill/>
          <a:ln/>
        </p:spPr>
        <p:txBody>
          <a:bodyPr wrap="square" lIns="508" tIns="508" rIns="508" bIns="508" rtlCol="0" anchor="ctr">
            <a:normAutofit/>
          </a:bodyPr>
          <a:lstStyle/>
          <a:p>
            <a:pPr algn="l" indent="0" marL="0">
              <a:buNone/>
            </a:pPr>
            <a:r>
              <a:rPr lang="en-US" sz="1120" b="1" dirty="0">
                <a:solidFill>
                  <a:srgbClr val="0B1F5B"/>
                </a:solidFill>
                <a:latin typeface="Aptos" pitchFamily="34" charset="0"/>
                <a:ea typeface="Aptos" pitchFamily="34" charset="-122"/>
                <a:cs typeface="Aptos" pitchFamily="34" charset="-120"/>
              </a:rPr>
              <a:t>background flux</a:t>
            </a:r>
            <a:endParaRPr lang="en-US" sz="1120" dirty="0"/>
          </a:p>
        </p:txBody>
      </p:sp>
      <p:sp>
        <p:nvSpPr>
          <p:cNvPr id="33" name="Shape 30"/>
          <p:cNvSpPr/>
          <p:nvPr/>
        </p:nvSpPr>
        <p:spPr>
          <a:xfrm>
            <a:off x="6656832" y="5413248"/>
            <a:ext cx="4434840" cy="320040"/>
          </a:xfrm>
          <a:prstGeom prst="roundRect">
            <a:avLst>
              <a:gd name="adj" fmla="val 22857"/>
            </a:avLst>
          </a:prstGeom>
          <a:solidFill>
            <a:srgbClr val="FFF8E6"/>
          </a:solidFill>
          <a:ln w="12700">
            <a:solidFill>
              <a:srgbClr val="E9A21B"/>
            </a:solidFill>
            <a:prstDash val="solid"/>
          </a:ln>
        </p:spPr>
      </p:sp>
      <p:sp>
        <p:nvSpPr>
          <p:cNvPr id="34" name="Text 31"/>
          <p:cNvSpPr/>
          <p:nvPr/>
        </p:nvSpPr>
        <p:spPr>
          <a:xfrm>
            <a:off x="6766560" y="5486400"/>
            <a:ext cx="4215384" cy="173736"/>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One row per independent physical event.</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The Five Primary Predictors</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All represent information available through the observed peak</a:t>
            </a:r>
            <a:endParaRPr lang="en-US" sz="1450" dirty="0"/>
          </a:p>
        </p:txBody>
      </p:sp>
      <p:sp>
        <p:nvSpPr>
          <p:cNvPr id="8" name="Shape 5"/>
          <p:cNvSpPr/>
          <p:nvPr/>
        </p:nvSpPr>
        <p:spPr>
          <a:xfrm>
            <a:off x="658368" y="1481328"/>
            <a:ext cx="2084832" cy="1965960"/>
          </a:xfrm>
          <a:prstGeom prst="roundRect">
            <a:avLst>
              <a:gd name="adj" fmla="val 3721"/>
            </a:avLst>
          </a:prstGeom>
          <a:solidFill>
            <a:srgbClr val="FFFFFF"/>
          </a:solidFill>
          <a:ln w="12700">
            <a:solidFill>
              <a:srgbClr val="1C67B5"/>
            </a:solidFill>
            <a:prstDash val="solid"/>
          </a:ln>
        </p:spPr>
      </p:sp>
      <p:sp>
        <p:nvSpPr>
          <p:cNvPr id="9" name="Shape 6"/>
          <p:cNvSpPr/>
          <p:nvPr/>
        </p:nvSpPr>
        <p:spPr>
          <a:xfrm>
            <a:off x="804672" y="1664208"/>
            <a:ext cx="329184" cy="256032"/>
          </a:xfrm>
          <a:prstGeom prst="roundRect">
            <a:avLst>
              <a:gd name="adj" fmla="val 21429"/>
            </a:avLst>
          </a:prstGeom>
          <a:solidFill>
            <a:srgbClr val="1C67B5"/>
          </a:solidFill>
          <a:ln w="12700">
            <a:solidFill>
              <a:srgbClr val="1C67B5">
                <a:alpha val="0"/>
              </a:srgbClr>
            </a:solidFill>
            <a:prstDash val="solid"/>
          </a:ln>
        </p:spPr>
      </p:sp>
      <p:sp>
        <p:nvSpPr>
          <p:cNvPr id="10" name="Text 7"/>
          <p:cNvSpPr/>
          <p:nvPr/>
        </p:nvSpPr>
        <p:spPr>
          <a:xfrm>
            <a:off x="850392" y="1673352"/>
            <a:ext cx="237744"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1" name="Text 8"/>
          <p:cNvSpPr/>
          <p:nvPr/>
        </p:nvSpPr>
        <p:spPr>
          <a:xfrm>
            <a:off x="804672" y="2048256"/>
            <a:ext cx="1792224" cy="256032"/>
          </a:xfrm>
          <a:prstGeom prst="rect">
            <a:avLst/>
          </a:prstGeom>
          <a:noFill/>
          <a:ln/>
        </p:spPr>
        <p:txBody>
          <a:bodyPr wrap="square" lIns="508" tIns="508" rIns="508" bIns="508" rtlCol="0" anchor="ctr">
            <a:normAutofit/>
          </a:bodyPr>
          <a:lstStyle/>
          <a:p>
            <a:pPr algn="ctr" indent="0" marL="0">
              <a:buNone/>
            </a:pPr>
            <a:r>
              <a:rPr lang="en-US" sz="1230" b="1" dirty="0">
                <a:solidFill>
                  <a:srgbClr val="1C67B5"/>
                </a:solidFill>
                <a:latin typeface="Consolas" pitchFamily="34" charset="0"/>
                <a:ea typeface="Consolas" pitchFamily="34" charset="-122"/>
                <a:cs typeface="Consolas" pitchFamily="34" charset="-120"/>
              </a:rPr>
              <a:t>rise_slope</a:t>
            </a:r>
            <a:endParaRPr lang="en-US" sz="1230" dirty="0"/>
          </a:p>
        </p:txBody>
      </p:sp>
      <p:sp>
        <p:nvSpPr>
          <p:cNvPr id="12" name="Text 9"/>
          <p:cNvSpPr/>
          <p:nvPr/>
        </p:nvSpPr>
        <p:spPr>
          <a:xfrm>
            <a:off x="859536" y="2615184"/>
            <a:ext cx="1682496" cy="530352"/>
          </a:xfrm>
          <a:prstGeom prst="rect">
            <a:avLst/>
          </a:prstGeom>
          <a:noFill/>
          <a:ln/>
        </p:spPr>
        <p:txBody>
          <a:bodyPr wrap="square" lIns="508" tIns="508" rIns="508" bIns="508" rtlCol="0" anchor="ctr">
            <a:normAutofit/>
          </a:bodyPr>
          <a:lstStyle/>
          <a:p>
            <a:pPr algn="ctr" indent="0" marL="0">
              <a:buNone/>
            </a:pPr>
            <a:r>
              <a:rPr lang="en-US" sz="1120" b="1" dirty="0">
                <a:solidFill>
                  <a:srgbClr val="0B1F5B"/>
                </a:solidFill>
                <a:latin typeface="Aptos" pitchFamily="34" charset="0"/>
                <a:ea typeface="Aptos" pitchFamily="34" charset="-122"/>
                <a:cs typeface="Aptos" pitchFamily="34" charset="-120"/>
              </a:rPr>
              <a:t>How steeply is the event rising?</a:t>
            </a:r>
            <a:endParaRPr lang="en-US" sz="1120" dirty="0"/>
          </a:p>
        </p:txBody>
      </p:sp>
      <p:sp>
        <p:nvSpPr>
          <p:cNvPr id="13" name="Shape 10"/>
          <p:cNvSpPr/>
          <p:nvPr/>
        </p:nvSpPr>
        <p:spPr>
          <a:xfrm>
            <a:off x="2962656" y="1481328"/>
            <a:ext cx="2084832" cy="1965960"/>
          </a:xfrm>
          <a:prstGeom prst="roundRect">
            <a:avLst>
              <a:gd name="adj" fmla="val 3721"/>
            </a:avLst>
          </a:prstGeom>
          <a:solidFill>
            <a:srgbClr val="FFFFFF"/>
          </a:solidFill>
          <a:ln w="12700">
            <a:solidFill>
              <a:srgbClr val="25A7D9"/>
            </a:solidFill>
            <a:prstDash val="solid"/>
          </a:ln>
        </p:spPr>
      </p:sp>
      <p:sp>
        <p:nvSpPr>
          <p:cNvPr id="14" name="Shape 11"/>
          <p:cNvSpPr/>
          <p:nvPr/>
        </p:nvSpPr>
        <p:spPr>
          <a:xfrm>
            <a:off x="3108960" y="1664208"/>
            <a:ext cx="329184" cy="256032"/>
          </a:xfrm>
          <a:prstGeom prst="roundRect">
            <a:avLst>
              <a:gd name="adj" fmla="val 21429"/>
            </a:avLst>
          </a:prstGeom>
          <a:solidFill>
            <a:srgbClr val="25A7D9"/>
          </a:solidFill>
          <a:ln w="12700">
            <a:solidFill>
              <a:srgbClr val="25A7D9">
                <a:alpha val="0"/>
              </a:srgbClr>
            </a:solidFill>
            <a:prstDash val="solid"/>
          </a:ln>
        </p:spPr>
      </p:sp>
      <p:sp>
        <p:nvSpPr>
          <p:cNvPr id="15" name="Text 12"/>
          <p:cNvSpPr/>
          <p:nvPr/>
        </p:nvSpPr>
        <p:spPr>
          <a:xfrm>
            <a:off x="3154680" y="1673352"/>
            <a:ext cx="237744"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6" name="Text 13"/>
          <p:cNvSpPr/>
          <p:nvPr/>
        </p:nvSpPr>
        <p:spPr>
          <a:xfrm>
            <a:off x="3108960" y="2048256"/>
            <a:ext cx="1792224" cy="256032"/>
          </a:xfrm>
          <a:prstGeom prst="rect">
            <a:avLst/>
          </a:prstGeom>
          <a:noFill/>
          <a:ln/>
        </p:spPr>
        <p:txBody>
          <a:bodyPr wrap="square" lIns="508" tIns="508" rIns="508" bIns="508" rtlCol="0" anchor="ctr">
            <a:normAutofit/>
          </a:bodyPr>
          <a:lstStyle/>
          <a:p>
            <a:pPr algn="ctr" indent="0" marL="0">
              <a:buNone/>
            </a:pPr>
            <a:r>
              <a:rPr lang="en-US" sz="1230" b="1" dirty="0">
                <a:solidFill>
                  <a:srgbClr val="25A7D9"/>
                </a:solidFill>
                <a:latin typeface="Consolas" pitchFamily="34" charset="0"/>
                <a:ea typeface="Consolas" pitchFamily="34" charset="-122"/>
                <a:cs typeface="Consolas" pitchFamily="34" charset="-120"/>
              </a:rPr>
              <a:t>max_roc</a:t>
            </a:r>
            <a:endParaRPr lang="en-US" sz="1230" dirty="0"/>
          </a:p>
        </p:txBody>
      </p:sp>
      <p:sp>
        <p:nvSpPr>
          <p:cNvPr id="17" name="Text 14"/>
          <p:cNvSpPr/>
          <p:nvPr/>
        </p:nvSpPr>
        <p:spPr>
          <a:xfrm>
            <a:off x="3163824" y="2615184"/>
            <a:ext cx="1682496" cy="530352"/>
          </a:xfrm>
          <a:prstGeom prst="rect">
            <a:avLst/>
          </a:prstGeom>
          <a:noFill/>
          <a:ln/>
        </p:spPr>
        <p:txBody>
          <a:bodyPr wrap="square" lIns="508" tIns="508" rIns="508" bIns="508" rtlCol="0" anchor="ctr">
            <a:normAutofit/>
          </a:bodyPr>
          <a:lstStyle/>
          <a:p>
            <a:pPr algn="ctr" indent="0" marL="0">
              <a:buNone/>
            </a:pPr>
            <a:r>
              <a:rPr lang="en-US" sz="1120" b="1" dirty="0">
                <a:solidFill>
                  <a:srgbClr val="0B1F5B"/>
                </a:solidFill>
                <a:latin typeface="Aptos" pitchFamily="34" charset="0"/>
                <a:ea typeface="Aptos" pitchFamily="34" charset="-122"/>
                <a:cs typeface="Aptos" pitchFamily="34" charset="-120"/>
              </a:rPr>
              <a:t>What is the fastest observed rise?</a:t>
            </a:r>
            <a:endParaRPr lang="en-US" sz="1120" dirty="0"/>
          </a:p>
        </p:txBody>
      </p:sp>
      <p:sp>
        <p:nvSpPr>
          <p:cNvPr id="18" name="Shape 15"/>
          <p:cNvSpPr/>
          <p:nvPr/>
        </p:nvSpPr>
        <p:spPr>
          <a:xfrm>
            <a:off x="5266944" y="1481328"/>
            <a:ext cx="2084832" cy="1965960"/>
          </a:xfrm>
          <a:prstGeom prst="roundRect">
            <a:avLst>
              <a:gd name="adj" fmla="val 3721"/>
            </a:avLst>
          </a:prstGeom>
          <a:solidFill>
            <a:srgbClr val="FFFFFF"/>
          </a:solidFill>
          <a:ln w="12700">
            <a:solidFill>
              <a:srgbClr val="7454C7"/>
            </a:solidFill>
            <a:prstDash val="solid"/>
          </a:ln>
        </p:spPr>
      </p:sp>
      <p:sp>
        <p:nvSpPr>
          <p:cNvPr id="19" name="Shape 16"/>
          <p:cNvSpPr/>
          <p:nvPr/>
        </p:nvSpPr>
        <p:spPr>
          <a:xfrm>
            <a:off x="5413248" y="1664208"/>
            <a:ext cx="329184" cy="256032"/>
          </a:xfrm>
          <a:prstGeom prst="roundRect">
            <a:avLst>
              <a:gd name="adj" fmla="val 21429"/>
            </a:avLst>
          </a:prstGeom>
          <a:solidFill>
            <a:srgbClr val="7454C7"/>
          </a:solidFill>
          <a:ln w="12700">
            <a:solidFill>
              <a:srgbClr val="7454C7">
                <a:alpha val="0"/>
              </a:srgbClr>
            </a:solidFill>
            <a:prstDash val="solid"/>
          </a:ln>
        </p:spPr>
      </p:sp>
      <p:sp>
        <p:nvSpPr>
          <p:cNvPr id="20" name="Text 17"/>
          <p:cNvSpPr/>
          <p:nvPr/>
        </p:nvSpPr>
        <p:spPr>
          <a:xfrm>
            <a:off x="5458968" y="1673352"/>
            <a:ext cx="237744"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1" name="Text 18"/>
          <p:cNvSpPr/>
          <p:nvPr/>
        </p:nvSpPr>
        <p:spPr>
          <a:xfrm>
            <a:off x="5413248" y="2048256"/>
            <a:ext cx="1792224" cy="256032"/>
          </a:xfrm>
          <a:prstGeom prst="rect">
            <a:avLst/>
          </a:prstGeom>
          <a:noFill/>
          <a:ln/>
        </p:spPr>
        <p:txBody>
          <a:bodyPr wrap="square" lIns="508" tIns="508" rIns="508" bIns="508" rtlCol="0" anchor="ctr">
            <a:normAutofit/>
          </a:bodyPr>
          <a:lstStyle/>
          <a:p>
            <a:pPr algn="ctr" indent="0" marL="0">
              <a:buNone/>
            </a:pPr>
            <a:r>
              <a:rPr lang="en-US" sz="1230" b="1" dirty="0">
                <a:solidFill>
                  <a:srgbClr val="7454C7"/>
                </a:solidFill>
                <a:latin typeface="Consolas" pitchFamily="34" charset="0"/>
                <a:ea typeface="Consolas" pitchFamily="34" charset="-122"/>
                <a:cs typeface="Consolas" pitchFamily="34" charset="-120"/>
              </a:rPr>
              <a:t>mean_pos_roc</a:t>
            </a:r>
            <a:endParaRPr lang="en-US" sz="1230" dirty="0"/>
          </a:p>
        </p:txBody>
      </p:sp>
      <p:sp>
        <p:nvSpPr>
          <p:cNvPr id="22" name="Text 19"/>
          <p:cNvSpPr/>
          <p:nvPr/>
        </p:nvSpPr>
        <p:spPr>
          <a:xfrm>
            <a:off x="5468112" y="2615184"/>
            <a:ext cx="1682496" cy="530352"/>
          </a:xfrm>
          <a:prstGeom prst="rect">
            <a:avLst/>
          </a:prstGeom>
          <a:noFill/>
          <a:ln/>
        </p:spPr>
        <p:txBody>
          <a:bodyPr wrap="square" lIns="508" tIns="508" rIns="508" bIns="508" rtlCol="0" anchor="ctr">
            <a:normAutofit/>
          </a:bodyPr>
          <a:lstStyle/>
          <a:p>
            <a:pPr algn="ctr" indent="0" marL="0">
              <a:buNone/>
            </a:pPr>
            <a:r>
              <a:rPr lang="en-US" sz="1120" b="1" dirty="0">
                <a:solidFill>
                  <a:srgbClr val="0B1F5B"/>
                </a:solidFill>
                <a:latin typeface="Aptos" pitchFamily="34" charset="0"/>
                <a:ea typeface="Aptos" pitchFamily="34" charset="-122"/>
                <a:cs typeface="Aptos" pitchFamily="34" charset="-120"/>
              </a:rPr>
              <a:t>How strongly does it rise on average?</a:t>
            </a:r>
            <a:endParaRPr lang="en-US" sz="1120" dirty="0"/>
          </a:p>
        </p:txBody>
      </p:sp>
      <p:sp>
        <p:nvSpPr>
          <p:cNvPr id="23" name="Shape 20"/>
          <p:cNvSpPr/>
          <p:nvPr/>
        </p:nvSpPr>
        <p:spPr>
          <a:xfrm>
            <a:off x="7571232" y="1481328"/>
            <a:ext cx="2084832" cy="1965960"/>
          </a:xfrm>
          <a:prstGeom prst="roundRect">
            <a:avLst>
              <a:gd name="adj" fmla="val 3721"/>
            </a:avLst>
          </a:prstGeom>
          <a:solidFill>
            <a:srgbClr val="FFFFFF"/>
          </a:solidFill>
          <a:ln w="12700">
            <a:solidFill>
              <a:srgbClr val="E9A21B"/>
            </a:solidFill>
            <a:prstDash val="solid"/>
          </a:ln>
        </p:spPr>
      </p:sp>
      <p:sp>
        <p:nvSpPr>
          <p:cNvPr id="24" name="Shape 21"/>
          <p:cNvSpPr/>
          <p:nvPr/>
        </p:nvSpPr>
        <p:spPr>
          <a:xfrm>
            <a:off x="7717536" y="1664208"/>
            <a:ext cx="329184" cy="256032"/>
          </a:xfrm>
          <a:prstGeom prst="roundRect">
            <a:avLst>
              <a:gd name="adj" fmla="val 21429"/>
            </a:avLst>
          </a:prstGeom>
          <a:solidFill>
            <a:srgbClr val="E9A21B"/>
          </a:solidFill>
          <a:ln w="12700">
            <a:solidFill>
              <a:srgbClr val="E9A21B">
                <a:alpha val="0"/>
              </a:srgbClr>
            </a:solidFill>
            <a:prstDash val="solid"/>
          </a:ln>
        </p:spPr>
      </p:sp>
      <p:sp>
        <p:nvSpPr>
          <p:cNvPr id="25" name="Text 22"/>
          <p:cNvSpPr/>
          <p:nvPr/>
        </p:nvSpPr>
        <p:spPr>
          <a:xfrm>
            <a:off x="7763256" y="1673352"/>
            <a:ext cx="237744"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26" name="Text 23"/>
          <p:cNvSpPr/>
          <p:nvPr/>
        </p:nvSpPr>
        <p:spPr>
          <a:xfrm>
            <a:off x="7717536" y="2048256"/>
            <a:ext cx="1792224" cy="256032"/>
          </a:xfrm>
          <a:prstGeom prst="rect">
            <a:avLst/>
          </a:prstGeom>
          <a:noFill/>
          <a:ln/>
        </p:spPr>
        <p:txBody>
          <a:bodyPr wrap="square" lIns="508" tIns="508" rIns="508" bIns="508" rtlCol="0" anchor="ctr">
            <a:normAutofit/>
          </a:bodyPr>
          <a:lstStyle/>
          <a:p>
            <a:pPr algn="ctr" indent="0" marL="0">
              <a:buNone/>
            </a:pPr>
            <a:r>
              <a:rPr lang="en-US" sz="1230" b="1" dirty="0">
                <a:solidFill>
                  <a:srgbClr val="E9A21B"/>
                </a:solidFill>
                <a:latin typeface="Consolas" pitchFamily="34" charset="0"/>
                <a:ea typeface="Consolas" pitchFamily="34" charset="-122"/>
                <a:cs typeface="Consolas" pitchFamily="34" charset="-120"/>
              </a:rPr>
              <a:t>rise_duration_min</a:t>
            </a:r>
            <a:endParaRPr lang="en-US" sz="1230" dirty="0"/>
          </a:p>
        </p:txBody>
      </p:sp>
      <p:sp>
        <p:nvSpPr>
          <p:cNvPr id="27" name="Text 24"/>
          <p:cNvSpPr/>
          <p:nvPr/>
        </p:nvSpPr>
        <p:spPr>
          <a:xfrm>
            <a:off x="7772400" y="2615184"/>
            <a:ext cx="1682496" cy="530352"/>
          </a:xfrm>
          <a:prstGeom prst="rect">
            <a:avLst/>
          </a:prstGeom>
          <a:noFill/>
          <a:ln/>
        </p:spPr>
        <p:txBody>
          <a:bodyPr wrap="square" lIns="508" tIns="508" rIns="508" bIns="508" rtlCol="0" anchor="ctr">
            <a:normAutofit/>
          </a:bodyPr>
          <a:lstStyle/>
          <a:p>
            <a:pPr algn="ctr" indent="0" marL="0">
              <a:buNone/>
            </a:pPr>
            <a:r>
              <a:rPr lang="en-US" sz="1120" b="1" dirty="0">
                <a:solidFill>
                  <a:srgbClr val="0B1F5B"/>
                </a:solidFill>
                <a:latin typeface="Aptos" pitchFamily="34" charset="0"/>
                <a:ea typeface="Aptos" pitchFamily="34" charset="-122"/>
                <a:cs typeface="Aptos" pitchFamily="34" charset="-120"/>
              </a:rPr>
              <a:t>How long does the rise take?</a:t>
            </a:r>
            <a:endParaRPr lang="en-US" sz="1120" dirty="0"/>
          </a:p>
        </p:txBody>
      </p:sp>
      <p:sp>
        <p:nvSpPr>
          <p:cNvPr id="28" name="Shape 25"/>
          <p:cNvSpPr/>
          <p:nvPr/>
        </p:nvSpPr>
        <p:spPr>
          <a:xfrm>
            <a:off x="9875520" y="1481328"/>
            <a:ext cx="2084832" cy="1965960"/>
          </a:xfrm>
          <a:prstGeom prst="roundRect">
            <a:avLst>
              <a:gd name="adj" fmla="val 3721"/>
            </a:avLst>
          </a:prstGeom>
          <a:solidFill>
            <a:srgbClr val="FFFFFF"/>
          </a:solidFill>
          <a:ln w="12700">
            <a:solidFill>
              <a:srgbClr val="2E8B57"/>
            </a:solidFill>
            <a:prstDash val="solid"/>
          </a:ln>
        </p:spPr>
      </p:sp>
      <p:sp>
        <p:nvSpPr>
          <p:cNvPr id="29" name="Shape 26"/>
          <p:cNvSpPr/>
          <p:nvPr/>
        </p:nvSpPr>
        <p:spPr>
          <a:xfrm>
            <a:off x="10021824" y="1664208"/>
            <a:ext cx="329184" cy="256032"/>
          </a:xfrm>
          <a:prstGeom prst="roundRect">
            <a:avLst>
              <a:gd name="adj" fmla="val 21429"/>
            </a:avLst>
          </a:prstGeom>
          <a:solidFill>
            <a:srgbClr val="2E8B57"/>
          </a:solidFill>
          <a:ln w="12700">
            <a:solidFill>
              <a:srgbClr val="2E8B57">
                <a:alpha val="0"/>
              </a:srgbClr>
            </a:solidFill>
            <a:prstDash val="solid"/>
          </a:ln>
        </p:spPr>
      </p:sp>
      <p:sp>
        <p:nvSpPr>
          <p:cNvPr id="30" name="Text 27"/>
          <p:cNvSpPr/>
          <p:nvPr/>
        </p:nvSpPr>
        <p:spPr>
          <a:xfrm>
            <a:off x="10067544" y="1673352"/>
            <a:ext cx="237744" cy="210312"/>
          </a:xfrm>
          <a:prstGeom prst="rect">
            <a:avLst/>
          </a:prstGeom>
          <a:noFill/>
          <a:ln/>
        </p:spPr>
        <p:txBody>
          <a:bodyPr wrap="square" lIns="508" tIns="508" rIns="508" bIns="508"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5</a:t>
            </a:r>
            <a:endParaRPr lang="en-US" sz="900" dirty="0"/>
          </a:p>
        </p:txBody>
      </p:sp>
      <p:sp>
        <p:nvSpPr>
          <p:cNvPr id="31" name="Text 28"/>
          <p:cNvSpPr/>
          <p:nvPr/>
        </p:nvSpPr>
        <p:spPr>
          <a:xfrm>
            <a:off x="10021824" y="2048256"/>
            <a:ext cx="1792224" cy="256032"/>
          </a:xfrm>
          <a:prstGeom prst="rect">
            <a:avLst/>
          </a:prstGeom>
          <a:noFill/>
          <a:ln/>
        </p:spPr>
        <p:txBody>
          <a:bodyPr wrap="square" lIns="508" tIns="508" rIns="508" bIns="508" rtlCol="0" anchor="ctr">
            <a:normAutofit/>
          </a:bodyPr>
          <a:lstStyle/>
          <a:p>
            <a:pPr algn="ctr" indent="0" marL="0">
              <a:buNone/>
            </a:pPr>
            <a:r>
              <a:rPr lang="en-US" sz="1230" b="1" dirty="0">
                <a:solidFill>
                  <a:srgbClr val="2E8B57"/>
                </a:solidFill>
                <a:latin typeface="Consolas" pitchFamily="34" charset="0"/>
                <a:ea typeface="Consolas" pitchFamily="34" charset="-122"/>
                <a:cs typeface="Consolas" pitchFamily="34" charset="-120"/>
              </a:rPr>
              <a:t>bg_flux</a:t>
            </a:r>
            <a:endParaRPr lang="en-US" sz="1230" dirty="0"/>
          </a:p>
        </p:txBody>
      </p:sp>
      <p:sp>
        <p:nvSpPr>
          <p:cNvPr id="32" name="Text 29"/>
          <p:cNvSpPr/>
          <p:nvPr/>
        </p:nvSpPr>
        <p:spPr>
          <a:xfrm>
            <a:off x="10076688" y="2615184"/>
            <a:ext cx="1682496" cy="530352"/>
          </a:xfrm>
          <a:prstGeom prst="rect">
            <a:avLst/>
          </a:prstGeom>
          <a:noFill/>
          <a:ln/>
        </p:spPr>
        <p:txBody>
          <a:bodyPr wrap="square" lIns="508" tIns="508" rIns="508" bIns="508" rtlCol="0" anchor="ctr">
            <a:normAutofit/>
          </a:bodyPr>
          <a:lstStyle/>
          <a:p>
            <a:pPr algn="ctr" indent="0" marL="0">
              <a:buNone/>
            </a:pPr>
            <a:r>
              <a:rPr lang="en-US" sz="1120" b="1" dirty="0">
                <a:solidFill>
                  <a:srgbClr val="0B1F5B"/>
                </a:solidFill>
                <a:latin typeface="Aptos" pitchFamily="34" charset="0"/>
                <a:ea typeface="Aptos" pitchFamily="34" charset="-122"/>
                <a:cs typeface="Aptos" pitchFamily="34" charset="-120"/>
              </a:rPr>
              <a:t>What was the background level?</a:t>
            </a:r>
            <a:endParaRPr lang="en-US" sz="1120" dirty="0"/>
          </a:p>
        </p:txBody>
      </p:sp>
      <p:sp>
        <p:nvSpPr>
          <p:cNvPr id="33" name="Shape 30"/>
          <p:cNvSpPr/>
          <p:nvPr/>
        </p:nvSpPr>
        <p:spPr>
          <a:xfrm>
            <a:off x="658368" y="3767328"/>
            <a:ext cx="10972800" cy="1874520"/>
          </a:xfrm>
          <a:prstGeom prst="roundRect">
            <a:avLst>
              <a:gd name="adj" fmla="val 3902"/>
            </a:avLst>
          </a:prstGeom>
          <a:solidFill>
            <a:srgbClr val="FFFFFF"/>
          </a:solidFill>
          <a:ln w="12700">
            <a:solidFill>
              <a:srgbClr val="BDD7EC"/>
            </a:solidFill>
            <a:prstDash val="solid"/>
          </a:ln>
        </p:spPr>
      </p:sp>
      <p:sp>
        <p:nvSpPr>
          <p:cNvPr id="34" name="Text 31"/>
          <p:cNvSpPr/>
          <p:nvPr/>
        </p:nvSpPr>
        <p:spPr>
          <a:xfrm>
            <a:off x="932688" y="4005072"/>
            <a:ext cx="5166360" cy="292608"/>
          </a:xfrm>
          <a:prstGeom prst="rect">
            <a:avLst/>
          </a:prstGeom>
          <a:noFill/>
          <a:ln/>
        </p:spPr>
        <p:txBody>
          <a:bodyPr wrap="square" lIns="508" tIns="508" rIns="508" bIns="508" rtlCol="0" anchor="ctr">
            <a:normAutofit/>
          </a:bodyPr>
          <a:lstStyle/>
          <a:p>
            <a:pPr algn="l" indent="0" marL="0">
              <a:buNone/>
            </a:pPr>
            <a:r>
              <a:rPr lang="en-US" sz="1600" b="1" dirty="0">
                <a:solidFill>
                  <a:srgbClr val="0B1F5B"/>
                </a:solidFill>
                <a:latin typeface="Georgia" pitchFamily="34" charset="0"/>
                <a:ea typeface="Georgia" pitchFamily="34" charset="-122"/>
                <a:cs typeface="Georgia" pitchFamily="34" charset="-120"/>
              </a:rPr>
              <a:t>Observed B vs C+ morphology in the current 31-event dataset</a:t>
            </a:r>
            <a:endParaRPr lang="en-US" sz="1600" dirty="0"/>
          </a:p>
        </p:txBody>
      </p:sp>
      <p:pic>
        <p:nvPicPr>
          <p:cNvPr id="35" name="Image 1" descr="/mnt/data/ppt_assets/features_actual.png">    </p:cNvPr>
          <p:cNvPicPr>
            <a:picLocks noChangeAspect="1"/>
          </p:cNvPicPr>
          <p:nvPr/>
        </p:nvPicPr>
        <p:blipFill>
          <a:blip r:embed="rId2"/>
          <a:stretch>
            <a:fillRect/>
          </a:stretch>
        </p:blipFill>
        <p:spPr>
          <a:xfrm>
            <a:off x="1841944" y="4389120"/>
            <a:ext cx="4600575" cy="1051560"/>
          </a:xfrm>
          <a:prstGeom prst="rect">
            <a:avLst/>
          </a:prstGeom>
        </p:spPr>
      </p:pic>
      <p:sp>
        <p:nvSpPr>
          <p:cNvPr id="36" name="Shape 32"/>
          <p:cNvSpPr/>
          <p:nvPr/>
        </p:nvSpPr>
        <p:spPr>
          <a:xfrm>
            <a:off x="7662672" y="4160520"/>
            <a:ext cx="3703320" cy="1188720"/>
          </a:xfrm>
          <a:prstGeom prst="roundRect">
            <a:avLst>
              <a:gd name="adj" fmla="val 6154"/>
            </a:avLst>
          </a:prstGeom>
          <a:solidFill>
            <a:srgbClr val="FFF8E6"/>
          </a:solidFill>
          <a:ln w="12700">
            <a:solidFill>
              <a:srgbClr val="E9A21B"/>
            </a:solidFill>
            <a:prstDash val="solid"/>
          </a:ln>
        </p:spPr>
      </p:sp>
      <p:sp>
        <p:nvSpPr>
          <p:cNvPr id="37" name="Text 33"/>
          <p:cNvSpPr/>
          <p:nvPr/>
        </p:nvSpPr>
        <p:spPr>
          <a:xfrm>
            <a:off x="7882128" y="4315968"/>
            <a:ext cx="3273552" cy="219456"/>
          </a:xfrm>
          <a:prstGeom prst="rect">
            <a:avLst/>
          </a:prstGeom>
          <a:noFill/>
          <a:ln/>
        </p:spPr>
        <p:txBody>
          <a:bodyPr wrap="square" lIns="508" tIns="508" rIns="508" bIns="508" rtlCol="0" anchor="ctr">
            <a:normAutofit/>
          </a:bodyPr>
          <a:lstStyle/>
          <a:p>
            <a:pPr algn="ctr" indent="0" marL="0">
              <a:buNone/>
            </a:pPr>
            <a:r>
              <a:rPr lang="en-US" sz="1150" b="1" dirty="0">
                <a:solidFill>
                  <a:srgbClr val="E9A21B"/>
                </a:solidFill>
                <a:latin typeface="Aptos" pitchFamily="34" charset="0"/>
                <a:ea typeface="Aptos" pitchFamily="34" charset="-122"/>
                <a:cs typeface="Aptos" pitchFamily="34" charset="-120"/>
              </a:rPr>
              <a:t>Important overlap</a:t>
            </a:r>
            <a:endParaRPr lang="en-US" sz="1150" dirty="0"/>
          </a:p>
        </p:txBody>
      </p:sp>
      <p:sp>
        <p:nvSpPr>
          <p:cNvPr id="38" name="Text 34"/>
          <p:cNvSpPr/>
          <p:nvPr/>
        </p:nvSpPr>
        <p:spPr>
          <a:xfrm>
            <a:off x="7882128" y="4645152"/>
            <a:ext cx="3273552" cy="457200"/>
          </a:xfrm>
          <a:prstGeom prst="rect">
            <a:avLst/>
          </a:prstGeom>
          <a:noFill/>
          <a:ln/>
        </p:spPr>
        <p:txBody>
          <a:bodyPr wrap="square" lIns="508" tIns="508" rIns="508" bIns="508" rtlCol="0" anchor="ctr">
            <a:normAutofit/>
          </a:bodyPr>
          <a:lstStyle/>
          <a:p>
            <a:pPr algn="ctr" indent="0" marL="0">
              <a:buNone/>
            </a:pPr>
            <a:r>
              <a:rPr lang="en-US" sz="1120" dirty="0">
                <a:solidFill>
                  <a:srgbClr val="0B1F5B"/>
                </a:solidFill>
                <a:latin typeface="Aptos" pitchFamily="34" charset="0"/>
                <a:ea typeface="Aptos" pitchFamily="34" charset="-122"/>
                <a:cs typeface="Aptos" pitchFamily="34" charset="-120"/>
              </a:rPr>
              <a:t>rise_slope, max_roc and mean_pos_roc are strongly correlated.</a:t>
            </a:r>
            <a:endParaRPr lang="en-US" sz="1120" dirty="0"/>
          </a:p>
        </p:txBody>
      </p:sp>
      <p:sp>
        <p:nvSpPr>
          <p:cNvPr id="39" name="Shape 35"/>
          <p:cNvSpPr/>
          <p:nvPr/>
        </p:nvSpPr>
        <p:spPr>
          <a:xfrm>
            <a:off x="2697480" y="5806440"/>
            <a:ext cx="6675120" cy="365760"/>
          </a:xfrm>
          <a:prstGeom prst="roundRect">
            <a:avLst>
              <a:gd name="adj" fmla="val 20000"/>
            </a:avLst>
          </a:prstGeom>
          <a:solidFill>
            <a:srgbClr val="FFF4F4"/>
          </a:solidFill>
          <a:ln w="12700">
            <a:solidFill>
              <a:srgbClr val="C73B3B"/>
            </a:solidFill>
            <a:prstDash val="solid"/>
          </a:ln>
        </p:spPr>
      </p:sp>
      <p:sp>
        <p:nvSpPr>
          <p:cNvPr id="40" name="Text 36"/>
          <p:cNvSpPr/>
          <p:nvPr/>
        </p:nvSpPr>
        <p:spPr>
          <a:xfrm>
            <a:off x="2807208" y="5879592"/>
            <a:ext cx="6455664" cy="219456"/>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Primary predictor count = 5. peak_flux is intentionally excluded.</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What Is the Model Allowed to Know?</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Prediction-time integrity and target-leakage prevention</a:t>
            </a:r>
            <a:endParaRPr lang="en-US" sz="1450" dirty="0"/>
          </a:p>
        </p:txBody>
      </p:sp>
      <p:sp>
        <p:nvSpPr>
          <p:cNvPr id="8" name="Shape 5"/>
          <p:cNvSpPr/>
          <p:nvPr/>
        </p:nvSpPr>
        <p:spPr>
          <a:xfrm>
            <a:off x="658368" y="1307592"/>
            <a:ext cx="10972800" cy="2971800"/>
          </a:xfrm>
          <a:prstGeom prst="roundRect">
            <a:avLst>
              <a:gd name="adj" fmla="val 2462"/>
            </a:avLst>
          </a:prstGeom>
          <a:solidFill>
            <a:srgbClr val="FFFFFF"/>
          </a:solidFill>
          <a:ln w="12700">
            <a:solidFill>
              <a:srgbClr val="BDD7EC"/>
            </a:solidFill>
            <a:prstDash val="solid"/>
          </a:ln>
        </p:spPr>
      </p:sp>
      <p:sp>
        <p:nvSpPr>
          <p:cNvPr id="9" name="Shape 6"/>
          <p:cNvSpPr/>
          <p:nvPr/>
        </p:nvSpPr>
        <p:spPr>
          <a:xfrm>
            <a:off x="1024128" y="3429000"/>
            <a:ext cx="250317" cy="-25420"/>
          </a:xfrm>
          <a:prstGeom prst="line">
            <a:avLst/>
          </a:prstGeom>
          <a:noFill/>
          <a:ln w="22860">
            <a:solidFill>
              <a:srgbClr val="1C67B5"/>
            </a:solidFill>
            <a:prstDash val="solid"/>
          </a:ln>
        </p:spPr>
      </p:sp>
      <p:sp>
        <p:nvSpPr>
          <p:cNvPr id="10" name="Shape 7"/>
          <p:cNvSpPr/>
          <p:nvPr/>
        </p:nvSpPr>
        <p:spPr>
          <a:xfrm>
            <a:off x="1274445" y="3403580"/>
            <a:ext cx="250317" cy="-30541"/>
          </a:xfrm>
          <a:prstGeom prst="line">
            <a:avLst/>
          </a:prstGeom>
          <a:noFill/>
          <a:ln w="22860">
            <a:solidFill>
              <a:srgbClr val="1C67B5"/>
            </a:solidFill>
            <a:prstDash val="solid"/>
          </a:ln>
        </p:spPr>
      </p:sp>
      <p:sp>
        <p:nvSpPr>
          <p:cNvPr id="11" name="Shape 8"/>
          <p:cNvSpPr/>
          <p:nvPr/>
        </p:nvSpPr>
        <p:spPr>
          <a:xfrm>
            <a:off x="1524762" y="3373039"/>
            <a:ext cx="250317" cy="-35662"/>
          </a:xfrm>
          <a:prstGeom prst="line">
            <a:avLst/>
          </a:prstGeom>
          <a:noFill/>
          <a:ln w="22860">
            <a:solidFill>
              <a:srgbClr val="1C67B5"/>
            </a:solidFill>
            <a:prstDash val="solid"/>
          </a:ln>
        </p:spPr>
      </p:sp>
      <p:sp>
        <p:nvSpPr>
          <p:cNvPr id="12" name="Shape 9"/>
          <p:cNvSpPr/>
          <p:nvPr/>
        </p:nvSpPr>
        <p:spPr>
          <a:xfrm>
            <a:off x="1775079" y="3337377"/>
            <a:ext cx="250317" cy="-40782"/>
          </a:xfrm>
          <a:prstGeom prst="line">
            <a:avLst/>
          </a:prstGeom>
          <a:noFill/>
          <a:ln w="22860">
            <a:solidFill>
              <a:srgbClr val="1C67B5"/>
            </a:solidFill>
            <a:prstDash val="solid"/>
          </a:ln>
        </p:spPr>
      </p:sp>
      <p:sp>
        <p:nvSpPr>
          <p:cNvPr id="13" name="Shape 10"/>
          <p:cNvSpPr/>
          <p:nvPr/>
        </p:nvSpPr>
        <p:spPr>
          <a:xfrm>
            <a:off x="2025396" y="3296595"/>
            <a:ext cx="250317" cy="-45903"/>
          </a:xfrm>
          <a:prstGeom prst="line">
            <a:avLst/>
          </a:prstGeom>
          <a:noFill/>
          <a:ln w="22860">
            <a:solidFill>
              <a:srgbClr val="1C67B5"/>
            </a:solidFill>
            <a:prstDash val="solid"/>
          </a:ln>
        </p:spPr>
      </p:sp>
      <p:sp>
        <p:nvSpPr>
          <p:cNvPr id="14" name="Shape 11"/>
          <p:cNvSpPr/>
          <p:nvPr/>
        </p:nvSpPr>
        <p:spPr>
          <a:xfrm>
            <a:off x="2275713" y="3250692"/>
            <a:ext cx="250317" cy="-51024"/>
          </a:xfrm>
          <a:prstGeom prst="line">
            <a:avLst/>
          </a:prstGeom>
          <a:noFill/>
          <a:ln w="22860">
            <a:solidFill>
              <a:srgbClr val="1C67B5"/>
            </a:solidFill>
            <a:prstDash val="solid"/>
          </a:ln>
        </p:spPr>
      </p:sp>
      <p:sp>
        <p:nvSpPr>
          <p:cNvPr id="15" name="Shape 12"/>
          <p:cNvSpPr/>
          <p:nvPr/>
        </p:nvSpPr>
        <p:spPr>
          <a:xfrm>
            <a:off x="2526030" y="3199668"/>
            <a:ext cx="250317" cy="-56144"/>
          </a:xfrm>
          <a:prstGeom prst="line">
            <a:avLst/>
          </a:prstGeom>
          <a:noFill/>
          <a:ln w="22860">
            <a:solidFill>
              <a:srgbClr val="1C67B5"/>
            </a:solidFill>
            <a:prstDash val="solid"/>
          </a:ln>
        </p:spPr>
      </p:sp>
      <p:sp>
        <p:nvSpPr>
          <p:cNvPr id="16" name="Shape 13"/>
          <p:cNvSpPr/>
          <p:nvPr/>
        </p:nvSpPr>
        <p:spPr>
          <a:xfrm>
            <a:off x="2776347" y="3143524"/>
            <a:ext cx="250317" cy="-61265"/>
          </a:xfrm>
          <a:prstGeom prst="line">
            <a:avLst/>
          </a:prstGeom>
          <a:noFill/>
          <a:ln w="22860">
            <a:solidFill>
              <a:srgbClr val="1C67B5"/>
            </a:solidFill>
            <a:prstDash val="solid"/>
          </a:ln>
        </p:spPr>
      </p:sp>
      <p:sp>
        <p:nvSpPr>
          <p:cNvPr id="17" name="Shape 14"/>
          <p:cNvSpPr/>
          <p:nvPr/>
        </p:nvSpPr>
        <p:spPr>
          <a:xfrm>
            <a:off x="3026664" y="3082260"/>
            <a:ext cx="250317" cy="-66385"/>
          </a:xfrm>
          <a:prstGeom prst="line">
            <a:avLst/>
          </a:prstGeom>
          <a:noFill/>
          <a:ln w="22860">
            <a:solidFill>
              <a:srgbClr val="1C67B5"/>
            </a:solidFill>
            <a:prstDash val="solid"/>
          </a:ln>
        </p:spPr>
      </p:sp>
      <p:sp>
        <p:nvSpPr>
          <p:cNvPr id="18" name="Shape 15"/>
          <p:cNvSpPr/>
          <p:nvPr/>
        </p:nvSpPr>
        <p:spPr>
          <a:xfrm>
            <a:off x="3276981" y="3015874"/>
            <a:ext cx="250317" cy="-71506"/>
          </a:xfrm>
          <a:prstGeom prst="line">
            <a:avLst/>
          </a:prstGeom>
          <a:noFill/>
          <a:ln w="22860">
            <a:solidFill>
              <a:srgbClr val="1C67B5"/>
            </a:solidFill>
            <a:prstDash val="solid"/>
          </a:ln>
        </p:spPr>
      </p:sp>
      <p:sp>
        <p:nvSpPr>
          <p:cNvPr id="19" name="Shape 16"/>
          <p:cNvSpPr/>
          <p:nvPr/>
        </p:nvSpPr>
        <p:spPr>
          <a:xfrm>
            <a:off x="3527298" y="2944368"/>
            <a:ext cx="250317" cy="-76627"/>
          </a:xfrm>
          <a:prstGeom prst="line">
            <a:avLst/>
          </a:prstGeom>
          <a:noFill/>
          <a:ln w="22860">
            <a:solidFill>
              <a:srgbClr val="1C67B5"/>
            </a:solidFill>
            <a:prstDash val="solid"/>
          </a:ln>
        </p:spPr>
      </p:sp>
      <p:sp>
        <p:nvSpPr>
          <p:cNvPr id="20" name="Shape 17"/>
          <p:cNvSpPr/>
          <p:nvPr/>
        </p:nvSpPr>
        <p:spPr>
          <a:xfrm>
            <a:off x="3777615" y="2867741"/>
            <a:ext cx="250317" cy="-81747"/>
          </a:xfrm>
          <a:prstGeom prst="line">
            <a:avLst/>
          </a:prstGeom>
          <a:noFill/>
          <a:ln w="22860">
            <a:solidFill>
              <a:srgbClr val="1C67B5"/>
            </a:solidFill>
            <a:prstDash val="solid"/>
          </a:ln>
        </p:spPr>
      </p:sp>
      <p:sp>
        <p:nvSpPr>
          <p:cNvPr id="21" name="Shape 18"/>
          <p:cNvSpPr/>
          <p:nvPr/>
        </p:nvSpPr>
        <p:spPr>
          <a:xfrm>
            <a:off x="4027932" y="2785994"/>
            <a:ext cx="250317" cy="-86868"/>
          </a:xfrm>
          <a:prstGeom prst="line">
            <a:avLst/>
          </a:prstGeom>
          <a:noFill/>
          <a:ln w="22860">
            <a:solidFill>
              <a:srgbClr val="1C67B5"/>
            </a:solidFill>
            <a:prstDash val="solid"/>
          </a:ln>
        </p:spPr>
      </p:sp>
      <p:sp>
        <p:nvSpPr>
          <p:cNvPr id="22" name="Shape 19"/>
          <p:cNvSpPr/>
          <p:nvPr/>
        </p:nvSpPr>
        <p:spPr>
          <a:xfrm>
            <a:off x="4278249" y="2699126"/>
            <a:ext cx="250317" cy="-91989"/>
          </a:xfrm>
          <a:prstGeom prst="line">
            <a:avLst/>
          </a:prstGeom>
          <a:noFill/>
          <a:ln w="22860">
            <a:solidFill>
              <a:srgbClr val="1C67B5"/>
            </a:solidFill>
            <a:prstDash val="solid"/>
          </a:ln>
        </p:spPr>
      </p:sp>
      <p:sp>
        <p:nvSpPr>
          <p:cNvPr id="23" name="Shape 20"/>
          <p:cNvSpPr/>
          <p:nvPr/>
        </p:nvSpPr>
        <p:spPr>
          <a:xfrm>
            <a:off x="4528566" y="2607137"/>
            <a:ext cx="250317" cy="-97109"/>
          </a:xfrm>
          <a:prstGeom prst="line">
            <a:avLst/>
          </a:prstGeom>
          <a:noFill/>
          <a:ln w="22860">
            <a:solidFill>
              <a:srgbClr val="1C67B5"/>
            </a:solidFill>
            <a:prstDash val="solid"/>
          </a:ln>
        </p:spPr>
      </p:sp>
      <p:sp>
        <p:nvSpPr>
          <p:cNvPr id="24" name="Shape 21"/>
          <p:cNvSpPr/>
          <p:nvPr/>
        </p:nvSpPr>
        <p:spPr>
          <a:xfrm>
            <a:off x="4778883" y="2510028"/>
            <a:ext cx="250317" cy="-102230"/>
          </a:xfrm>
          <a:prstGeom prst="line">
            <a:avLst/>
          </a:prstGeom>
          <a:noFill/>
          <a:ln w="22860">
            <a:solidFill>
              <a:srgbClr val="1C67B5"/>
            </a:solidFill>
            <a:prstDash val="solid"/>
          </a:ln>
        </p:spPr>
      </p:sp>
      <p:sp>
        <p:nvSpPr>
          <p:cNvPr id="25" name="Shape 22"/>
          <p:cNvSpPr/>
          <p:nvPr/>
        </p:nvSpPr>
        <p:spPr>
          <a:xfrm>
            <a:off x="5029200" y="2407798"/>
            <a:ext cx="250317" cy="-107351"/>
          </a:xfrm>
          <a:prstGeom prst="line">
            <a:avLst/>
          </a:prstGeom>
          <a:noFill/>
          <a:ln w="22860">
            <a:solidFill>
              <a:srgbClr val="1C67B5"/>
            </a:solidFill>
            <a:prstDash val="solid"/>
          </a:ln>
        </p:spPr>
      </p:sp>
      <p:sp>
        <p:nvSpPr>
          <p:cNvPr id="26" name="Shape 23"/>
          <p:cNvSpPr/>
          <p:nvPr/>
        </p:nvSpPr>
        <p:spPr>
          <a:xfrm>
            <a:off x="5279517" y="2300448"/>
            <a:ext cx="250317" cy="-112471"/>
          </a:xfrm>
          <a:prstGeom prst="line">
            <a:avLst/>
          </a:prstGeom>
          <a:noFill/>
          <a:ln w="22860">
            <a:solidFill>
              <a:srgbClr val="1C67B5"/>
            </a:solidFill>
            <a:prstDash val="solid"/>
          </a:ln>
        </p:spPr>
      </p:sp>
      <p:sp>
        <p:nvSpPr>
          <p:cNvPr id="27" name="Shape 24"/>
          <p:cNvSpPr/>
          <p:nvPr/>
        </p:nvSpPr>
        <p:spPr>
          <a:xfrm>
            <a:off x="5529834" y="2187976"/>
            <a:ext cx="250317" cy="-117592"/>
          </a:xfrm>
          <a:prstGeom prst="line">
            <a:avLst/>
          </a:prstGeom>
          <a:noFill/>
          <a:ln w="22860">
            <a:solidFill>
              <a:srgbClr val="1C67B5"/>
            </a:solidFill>
            <a:prstDash val="solid"/>
          </a:ln>
        </p:spPr>
      </p:sp>
      <p:sp>
        <p:nvSpPr>
          <p:cNvPr id="28" name="Shape 25"/>
          <p:cNvSpPr/>
          <p:nvPr/>
        </p:nvSpPr>
        <p:spPr>
          <a:xfrm>
            <a:off x="5780151" y="2070384"/>
            <a:ext cx="250317" cy="-122712"/>
          </a:xfrm>
          <a:prstGeom prst="line">
            <a:avLst/>
          </a:prstGeom>
          <a:noFill/>
          <a:ln w="22860">
            <a:solidFill>
              <a:srgbClr val="1C67B5"/>
            </a:solidFill>
            <a:prstDash val="solid"/>
          </a:ln>
        </p:spPr>
      </p:sp>
      <p:sp>
        <p:nvSpPr>
          <p:cNvPr id="29" name="Shape 26"/>
          <p:cNvSpPr/>
          <p:nvPr/>
        </p:nvSpPr>
        <p:spPr>
          <a:xfrm>
            <a:off x="6030468" y="1947672"/>
            <a:ext cx="250317" cy="411480"/>
          </a:xfrm>
          <a:prstGeom prst="line">
            <a:avLst/>
          </a:prstGeom>
          <a:noFill/>
          <a:ln w="22860">
            <a:solidFill>
              <a:srgbClr val="1C67B5"/>
            </a:solidFill>
            <a:prstDash val="solid"/>
          </a:ln>
        </p:spPr>
      </p:sp>
      <p:sp>
        <p:nvSpPr>
          <p:cNvPr id="30" name="Shape 27"/>
          <p:cNvSpPr/>
          <p:nvPr/>
        </p:nvSpPr>
        <p:spPr>
          <a:xfrm>
            <a:off x="6280785" y="2359152"/>
            <a:ext cx="250317" cy="41148"/>
          </a:xfrm>
          <a:prstGeom prst="line">
            <a:avLst/>
          </a:prstGeom>
          <a:noFill/>
          <a:ln w="22860">
            <a:solidFill>
              <a:srgbClr val="1C67B5"/>
            </a:solidFill>
            <a:prstDash val="solid"/>
          </a:ln>
        </p:spPr>
      </p:sp>
      <p:sp>
        <p:nvSpPr>
          <p:cNvPr id="31" name="Shape 28"/>
          <p:cNvSpPr/>
          <p:nvPr/>
        </p:nvSpPr>
        <p:spPr>
          <a:xfrm>
            <a:off x="6531102" y="2400300"/>
            <a:ext cx="250317" cy="41148"/>
          </a:xfrm>
          <a:prstGeom prst="line">
            <a:avLst/>
          </a:prstGeom>
          <a:noFill/>
          <a:ln w="22860">
            <a:solidFill>
              <a:srgbClr val="1C67B5"/>
            </a:solidFill>
            <a:prstDash val="solid"/>
          </a:ln>
        </p:spPr>
      </p:sp>
      <p:sp>
        <p:nvSpPr>
          <p:cNvPr id="32" name="Shape 29"/>
          <p:cNvSpPr/>
          <p:nvPr/>
        </p:nvSpPr>
        <p:spPr>
          <a:xfrm>
            <a:off x="6781419" y="2441448"/>
            <a:ext cx="250317" cy="41148"/>
          </a:xfrm>
          <a:prstGeom prst="line">
            <a:avLst/>
          </a:prstGeom>
          <a:noFill/>
          <a:ln w="22860">
            <a:solidFill>
              <a:srgbClr val="1C67B5"/>
            </a:solidFill>
            <a:prstDash val="solid"/>
          </a:ln>
        </p:spPr>
      </p:sp>
      <p:sp>
        <p:nvSpPr>
          <p:cNvPr id="33" name="Shape 30"/>
          <p:cNvSpPr/>
          <p:nvPr/>
        </p:nvSpPr>
        <p:spPr>
          <a:xfrm>
            <a:off x="7031736" y="2482596"/>
            <a:ext cx="250317" cy="41148"/>
          </a:xfrm>
          <a:prstGeom prst="line">
            <a:avLst/>
          </a:prstGeom>
          <a:noFill/>
          <a:ln w="22860">
            <a:solidFill>
              <a:srgbClr val="1C67B5"/>
            </a:solidFill>
            <a:prstDash val="solid"/>
          </a:ln>
        </p:spPr>
      </p:sp>
      <p:sp>
        <p:nvSpPr>
          <p:cNvPr id="34" name="Shape 31"/>
          <p:cNvSpPr/>
          <p:nvPr/>
        </p:nvSpPr>
        <p:spPr>
          <a:xfrm>
            <a:off x="7282053" y="2523744"/>
            <a:ext cx="250317" cy="41148"/>
          </a:xfrm>
          <a:prstGeom prst="line">
            <a:avLst/>
          </a:prstGeom>
          <a:noFill/>
          <a:ln w="22860">
            <a:solidFill>
              <a:srgbClr val="1C67B5"/>
            </a:solidFill>
            <a:prstDash val="solid"/>
          </a:ln>
        </p:spPr>
      </p:sp>
      <p:sp>
        <p:nvSpPr>
          <p:cNvPr id="35" name="Shape 32"/>
          <p:cNvSpPr/>
          <p:nvPr/>
        </p:nvSpPr>
        <p:spPr>
          <a:xfrm>
            <a:off x="7532370" y="2564892"/>
            <a:ext cx="250317" cy="41148"/>
          </a:xfrm>
          <a:prstGeom prst="line">
            <a:avLst/>
          </a:prstGeom>
          <a:noFill/>
          <a:ln w="22860">
            <a:solidFill>
              <a:srgbClr val="1C67B5"/>
            </a:solidFill>
            <a:prstDash val="solid"/>
          </a:ln>
        </p:spPr>
      </p:sp>
      <p:sp>
        <p:nvSpPr>
          <p:cNvPr id="36" name="Shape 33"/>
          <p:cNvSpPr/>
          <p:nvPr/>
        </p:nvSpPr>
        <p:spPr>
          <a:xfrm>
            <a:off x="7782687" y="2606040"/>
            <a:ext cx="250317" cy="41148"/>
          </a:xfrm>
          <a:prstGeom prst="line">
            <a:avLst/>
          </a:prstGeom>
          <a:noFill/>
          <a:ln w="22860">
            <a:solidFill>
              <a:srgbClr val="1C67B5"/>
            </a:solidFill>
            <a:prstDash val="solid"/>
          </a:ln>
        </p:spPr>
      </p:sp>
      <p:sp>
        <p:nvSpPr>
          <p:cNvPr id="37" name="Shape 34"/>
          <p:cNvSpPr/>
          <p:nvPr/>
        </p:nvSpPr>
        <p:spPr>
          <a:xfrm>
            <a:off x="8033004" y="2647188"/>
            <a:ext cx="250317" cy="41148"/>
          </a:xfrm>
          <a:prstGeom prst="line">
            <a:avLst/>
          </a:prstGeom>
          <a:noFill/>
          <a:ln w="22860">
            <a:solidFill>
              <a:srgbClr val="1C67B5"/>
            </a:solidFill>
            <a:prstDash val="solid"/>
          </a:ln>
        </p:spPr>
      </p:sp>
      <p:sp>
        <p:nvSpPr>
          <p:cNvPr id="38" name="Shape 35"/>
          <p:cNvSpPr/>
          <p:nvPr/>
        </p:nvSpPr>
        <p:spPr>
          <a:xfrm>
            <a:off x="8283321" y="2688336"/>
            <a:ext cx="250317" cy="41148"/>
          </a:xfrm>
          <a:prstGeom prst="line">
            <a:avLst/>
          </a:prstGeom>
          <a:noFill/>
          <a:ln w="22860">
            <a:solidFill>
              <a:srgbClr val="1C67B5"/>
            </a:solidFill>
            <a:prstDash val="solid"/>
          </a:ln>
        </p:spPr>
      </p:sp>
      <p:sp>
        <p:nvSpPr>
          <p:cNvPr id="39" name="Shape 36"/>
          <p:cNvSpPr/>
          <p:nvPr/>
        </p:nvSpPr>
        <p:spPr>
          <a:xfrm>
            <a:off x="8533638" y="2729484"/>
            <a:ext cx="250317" cy="41148"/>
          </a:xfrm>
          <a:prstGeom prst="line">
            <a:avLst/>
          </a:prstGeom>
          <a:noFill/>
          <a:ln w="22860">
            <a:solidFill>
              <a:srgbClr val="1C67B5"/>
            </a:solidFill>
            <a:prstDash val="solid"/>
          </a:ln>
        </p:spPr>
      </p:sp>
      <p:sp>
        <p:nvSpPr>
          <p:cNvPr id="40" name="Shape 37"/>
          <p:cNvSpPr/>
          <p:nvPr/>
        </p:nvSpPr>
        <p:spPr>
          <a:xfrm>
            <a:off x="8783955" y="2770632"/>
            <a:ext cx="250317" cy="41148"/>
          </a:xfrm>
          <a:prstGeom prst="line">
            <a:avLst/>
          </a:prstGeom>
          <a:noFill/>
          <a:ln w="22860">
            <a:solidFill>
              <a:srgbClr val="1C67B5"/>
            </a:solidFill>
            <a:prstDash val="solid"/>
          </a:ln>
        </p:spPr>
      </p:sp>
      <p:sp>
        <p:nvSpPr>
          <p:cNvPr id="41" name="Shape 38"/>
          <p:cNvSpPr/>
          <p:nvPr/>
        </p:nvSpPr>
        <p:spPr>
          <a:xfrm>
            <a:off x="9034272" y="2811780"/>
            <a:ext cx="250317" cy="41148"/>
          </a:xfrm>
          <a:prstGeom prst="line">
            <a:avLst/>
          </a:prstGeom>
          <a:noFill/>
          <a:ln w="22860">
            <a:solidFill>
              <a:srgbClr val="1C67B5"/>
            </a:solidFill>
            <a:prstDash val="solid"/>
          </a:ln>
        </p:spPr>
      </p:sp>
      <p:sp>
        <p:nvSpPr>
          <p:cNvPr id="42" name="Shape 39"/>
          <p:cNvSpPr/>
          <p:nvPr/>
        </p:nvSpPr>
        <p:spPr>
          <a:xfrm>
            <a:off x="9284589" y="2852928"/>
            <a:ext cx="250317" cy="41148"/>
          </a:xfrm>
          <a:prstGeom prst="line">
            <a:avLst/>
          </a:prstGeom>
          <a:noFill/>
          <a:ln w="22860">
            <a:solidFill>
              <a:srgbClr val="1C67B5"/>
            </a:solidFill>
            <a:prstDash val="solid"/>
          </a:ln>
        </p:spPr>
      </p:sp>
      <p:sp>
        <p:nvSpPr>
          <p:cNvPr id="43" name="Shape 40"/>
          <p:cNvSpPr/>
          <p:nvPr/>
        </p:nvSpPr>
        <p:spPr>
          <a:xfrm>
            <a:off x="9534906" y="2894076"/>
            <a:ext cx="250317" cy="41148"/>
          </a:xfrm>
          <a:prstGeom prst="line">
            <a:avLst/>
          </a:prstGeom>
          <a:noFill/>
          <a:ln w="22860">
            <a:solidFill>
              <a:srgbClr val="1C67B5"/>
            </a:solidFill>
            <a:prstDash val="solid"/>
          </a:ln>
        </p:spPr>
      </p:sp>
      <p:sp>
        <p:nvSpPr>
          <p:cNvPr id="44" name="Shape 41"/>
          <p:cNvSpPr/>
          <p:nvPr/>
        </p:nvSpPr>
        <p:spPr>
          <a:xfrm>
            <a:off x="9785223" y="2935224"/>
            <a:ext cx="250317" cy="41148"/>
          </a:xfrm>
          <a:prstGeom prst="line">
            <a:avLst/>
          </a:prstGeom>
          <a:noFill/>
          <a:ln w="22860">
            <a:solidFill>
              <a:srgbClr val="1C67B5"/>
            </a:solidFill>
            <a:prstDash val="solid"/>
          </a:ln>
        </p:spPr>
      </p:sp>
      <p:sp>
        <p:nvSpPr>
          <p:cNvPr id="45" name="Shape 42"/>
          <p:cNvSpPr/>
          <p:nvPr/>
        </p:nvSpPr>
        <p:spPr>
          <a:xfrm>
            <a:off x="10035540" y="2976372"/>
            <a:ext cx="250317" cy="41148"/>
          </a:xfrm>
          <a:prstGeom prst="line">
            <a:avLst/>
          </a:prstGeom>
          <a:noFill/>
          <a:ln w="22860">
            <a:solidFill>
              <a:srgbClr val="1C67B5"/>
            </a:solidFill>
            <a:prstDash val="solid"/>
          </a:ln>
        </p:spPr>
      </p:sp>
      <p:sp>
        <p:nvSpPr>
          <p:cNvPr id="46" name="Shape 43"/>
          <p:cNvSpPr/>
          <p:nvPr/>
        </p:nvSpPr>
        <p:spPr>
          <a:xfrm>
            <a:off x="10285857" y="3017520"/>
            <a:ext cx="250317" cy="41148"/>
          </a:xfrm>
          <a:prstGeom prst="line">
            <a:avLst/>
          </a:prstGeom>
          <a:noFill/>
          <a:ln w="22860">
            <a:solidFill>
              <a:srgbClr val="1C67B5"/>
            </a:solidFill>
            <a:prstDash val="solid"/>
          </a:ln>
        </p:spPr>
      </p:sp>
      <p:sp>
        <p:nvSpPr>
          <p:cNvPr id="47" name="Shape 44"/>
          <p:cNvSpPr/>
          <p:nvPr/>
        </p:nvSpPr>
        <p:spPr>
          <a:xfrm>
            <a:off x="10536174" y="3058668"/>
            <a:ext cx="250317" cy="41148"/>
          </a:xfrm>
          <a:prstGeom prst="line">
            <a:avLst/>
          </a:prstGeom>
          <a:noFill/>
          <a:ln w="22860">
            <a:solidFill>
              <a:srgbClr val="1C67B5"/>
            </a:solidFill>
            <a:prstDash val="solid"/>
          </a:ln>
        </p:spPr>
      </p:sp>
      <p:sp>
        <p:nvSpPr>
          <p:cNvPr id="48" name="Shape 45"/>
          <p:cNvSpPr/>
          <p:nvPr/>
        </p:nvSpPr>
        <p:spPr>
          <a:xfrm>
            <a:off x="10786491" y="3099816"/>
            <a:ext cx="250317" cy="41148"/>
          </a:xfrm>
          <a:prstGeom prst="line">
            <a:avLst/>
          </a:prstGeom>
          <a:noFill/>
          <a:ln w="22860">
            <a:solidFill>
              <a:srgbClr val="1C67B5"/>
            </a:solidFill>
            <a:prstDash val="solid"/>
          </a:ln>
        </p:spPr>
      </p:sp>
      <p:sp>
        <p:nvSpPr>
          <p:cNvPr id="49" name="Shape 46"/>
          <p:cNvSpPr/>
          <p:nvPr/>
        </p:nvSpPr>
        <p:spPr>
          <a:xfrm>
            <a:off x="6280785" y="1609344"/>
            <a:ext cx="0" cy="2331720"/>
          </a:xfrm>
          <a:prstGeom prst="line">
            <a:avLst/>
          </a:prstGeom>
          <a:noFill/>
          <a:ln w="16510">
            <a:solidFill>
              <a:srgbClr val="C73B3B"/>
            </a:solidFill>
            <a:prstDash val="solid"/>
          </a:ln>
        </p:spPr>
      </p:sp>
      <p:sp>
        <p:nvSpPr>
          <p:cNvPr id="50" name="Text 47"/>
          <p:cNvSpPr/>
          <p:nvPr/>
        </p:nvSpPr>
        <p:spPr>
          <a:xfrm>
            <a:off x="5594985" y="1435608"/>
            <a:ext cx="1371600" cy="219456"/>
          </a:xfrm>
          <a:prstGeom prst="rect">
            <a:avLst/>
          </a:prstGeom>
          <a:noFill/>
          <a:ln/>
        </p:spPr>
        <p:txBody>
          <a:bodyPr wrap="square" lIns="508" tIns="508" rIns="508" bIns="508" rtlCol="0" anchor="ctr">
            <a:normAutofit/>
          </a:bodyPr>
          <a:lstStyle/>
          <a:p>
            <a:pPr algn="ctr" indent="0" marL="0">
              <a:buNone/>
            </a:pPr>
            <a:r>
              <a:rPr lang="en-US" sz="1300" b="1" dirty="0">
                <a:solidFill>
                  <a:srgbClr val="0B1F5B"/>
                </a:solidFill>
                <a:latin typeface="Cambria Math" pitchFamily="34" charset="0"/>
                <a:ea typeface="Cambria Math" pitchFamily="34" charset="-122"/>
                <a:cs typeface="Cambria Math" pitchFamily="34" charset="-120"/>
              </a:rPr>
              <a:t>t_pred = t_peak</a:t>
            </a:r>
            <a:endParaRPr lang="en-US" sz="1300" dirty="0"/>
          </a:p>
        </p:txBody>
      </p:sp>
      <p:sp>
        <p:nvSpPr>
          <p:cNvPr id="51" name="Shape 48"/>
          <p:cNvSpPr/>
          <p:nvPr/>
        </p:nvSpPr>
        <p:spPr>
          <a:xfrm>
            <a:off x="932688" y="1828800"/>
            <a:ext cx="5348097" cy="1965960"/>
          </a:xfrm>
          <a:prstGeom prst="rect">
            <a:avLst/>
          </a:prstGeom>
          <a:solidFill>
            <a:srgbClr val="DFF5EB">
              <a:alpha val="55000"/>
            </a:srgbClr>
          </a:solidFill>
          <a:ln w="12700">
            <a:solidFill>
              <a:srgbClr val="DFF5EB">
                <a:alpha val="0"/>
              </a:srgbClr>
            </a:solidFill>
            <a:prstDash val="solid"/>
          </a:ln>
        </p:spPr>
      </p:sp>
      <p:sp>
        <p:nvSpPr>
          <p:cNvPr id="52" name="Shape 49"/>
          <p:cNvSpPr/>
          <p:nvPr/>
        </p:nvSpPr>
        <p:spPr>
          <a:xfrm>
            <a:off x="6280785" y="1828800"/>
            <a:ext cx="4920615" cy="1965960"/>
          </a:xfrm>
          <a:prstGeom prst="rect">
            <a:avLst/>
          </a:prstGeom>
          <a:solidFill>
            <a:srgbClr val="F9E5E5">
              <a:alpha val="55000"/>
            </a:srgbClr>
          </a:solidFill>
          <a:ln w="12700">
            <a:solidFill>
              <a:srgbClr val="F9E5E5">
                <a:alpha val="0"/>
              </a:srgbClr>
            </a:solidFill>
            <a:prstDash val="solid"/>
          </a:ln>
        </p:spPr>
      </p:sp>
      <p:sp>
        <p:nvSpPr>
          <p:cNvPr id="53" name="Text 50"/>
          <p:cNvSpPr/>
          <p:nvPr/>
        </p:nvSpPr>
        <p:spPr>
          <a:xfrm>
            <a:off x="1417320" y="1719072"/>
            <a:ext cx="3246120" cy="256032"/>
          </a:xfrm>
          <a:prstGeom prst="rect">
            <a:avLst/>
          </a:prstGeom>
          <a:noFill/>
          <a:ln/>
        </p:spPr>
        <p:txBody>
          <a:bodyPr wrap="square" lIns="508" tIns="508" rIns="508" bIns="508" rtlCol="0" anchor="ctr">
            <a:normAutofit/>
          </a:bodyPr>
          <a:lstStyle/>
          <a:p>
            <a:pPr algn="ctr" indent="0" marL="0">
              <a:buNone/>
            </a:pPr>
            <a:r>
              <a:rPr lang="en-US" sz="1300" b="1" dirty="0">
                <a:solidFill>
                  <a:srgbClr val="2E8B57"/>
                </a:solidFill>
                <a:latin typeface="Aptos" pitchFamily="34" charset="0"/>
                <a:ea typeface="Aptos" pitchFamily="34" charset="-122"/>
                <a:cs typeface="Aptos" pitchFamily="34" charset="-120"/>
              </a:rPr>
              <a:t>AVAILABLE TO THE NOWCAST</a:t>
            </a:r>
            <a:endParaRPr lang="en-US" sz="1300" dirty="0"/>
          </a:p>
        </p:txBody>
      </p:sp>
      <p:sp>
        <p:nvSpPr>
          <p:cNvPr id="54" name="Text 51"/>
          <p:cNvSpPr/>
          <p:nvPr/>
        </p:nvSpPr>
        <p:spPr>
          <a:xfrm>
            <a:off x="8549640" y="1719072"/>
            <a:ext cx="2148840" cy="256032"/>
          </a:xfrm>
          <a:prstGeom prst="rect">
            <a:avLst/>
          </a:prstGeom>
          <a:noFill/>
          <a:ln/>
        </p:spPr>
        <p:txBody>
          <a:bodyPr wrap="square" lIns="508" tIns="508" rIns="508" bIns="508" rtlCol="0" anchor="ctr">
            <a:normAutofit/>
          </a:bodyPr>
          <a:lstStyle/>
          <a:p>
            <a:pPr algn="ctr" indent="0" marL="0">
              <a:buNone/>
            </a:pPr>
            <a:r>
              <a:rPr lang="en-US" sz="1300" b="1" dirty="0">
                <a:solidFill>
                  <a:srgbClr val="C73B3B"/>
                </a:solidFill>
                <a:latin typeface="Aptos" pitchFamily="34" charset="0"/>
                <a:ea typeface="Aptos" pitchFamily="34" charset="-122"/>
                <a:cs typeface="Aptos" pitchFamily="34" charset="-120"/>
              </a:rPr>
              <a:t>NOT AVAILABLE</a:t>
            </a:r>
            <a:endParaRPr lang="en-US" sz="1300" dirty="0"/>
          </a:p>
        </p:txBody>
      </p:sp>
      <p:sp>
        <p:nvSpPr>
          <p:cNvPr id="55" name="Text 52"/>
          <p:cNvSpPr/>
          <p:nvPr/>
        </p:nvSpPr>
        <p:spPr>
          <a:xfrm>
            <a:off x="1143000" y="3547872"/>
            <a:ext cx="685800" cy="182880"/>
          </a:xfrm>
          <a:prstGeom prst="rect">
            <a:avLst/>
          </a:prstGeom>
          <a:noFill/>
          <a:ln/>
        </p:spPr>
        <p:txBody>
          <a:bodyPr wrap="square" lIns="508" tIns="508" rIns="508" bIns="508" rtlCol="0" anchor="ctr">
            <a:normAutofit/>
          </a:bodyPr>
          <a:lstStyle/>
          <a:p>
            <a:pPr algn="l" indent="0" marL="0">
              <a:buNone/>
            </a:pPr>
            <a:r>
              <a:rPr lang="en-US" sz="1000" b="1" dirty="0">
                <a:solidFill>
                  <a:srgbClr val="2E8B57"/>
                </a:solidFill>
                <a:latin typeface="Aptos" pitchFamily="34" charset="0"/>
                <a:ea typeface="Aptos" pitchFamily="34" charset="-122"/>
                <a:cs typeface="Aptos" pitchFamily="34" charset="-120"/>
              </a:rPr>
              <a:t>START</a:t>
            </a:r>
            <a:endParaRPr lang="en-US" sz="1000" dirty="0"/>
          </a:p>
        </p:txBody>
      </p:sp>
      <p:sp>
        <p:nvSpPr>
          <p:cNvPr id="56" name="Text 53"/>
          <p:cNvSpPr/>
          <p:nvPr/>
        </p:nvSpPr>
        <p:spPr>
          <a:xfrm>
            <a:off x="3977640" y="2953512"/>
            <a:ext cx="685800" cy="182880"/>
          </a:xfrm>
          <a:prstGeom prst="rect">
            <a:avLst/>
          </a:prstGeom>
          <a:noFill/>
          <a:ln/>
        </p:spPr>
        <p:txBody>
          <a:bodyPr wrap="square" lIns="508" tIns="508" rIns="508" bIns="508" rtlCol="0" anchor="ctr">
            <a:normAutofit/>
          </a:bodyPr>
          <a:lstStyle/>
          <a:p>
            <a:pPr algn="l" indent="0" marL="0">
              <a:buNone/>
            </a:pPr>
            <a:r>
              <a:rPr lang="en-US" sz="1000" b="1" dirty="0">
                <a:solidFill>
                  <a:srgbClr val="2E8B57"/>
                </a:solidFill>
                <a:latin typeface="Aptos" pitchFamily="34" charset="0"/>
                <a:ea typeface="Aptos" pitchFamily="34" charset="-122"/>
                <a:cs typeface="Aptos" pitchFamily="34" charset="-120"/>
              </a:rPr>
              <a:t>RISE</a:t>
            </a:r>
            <a:endParaRPr lang="en-US" sz="1000" dirty="0"/>
          </a:p>
        </p:txBody>
      </p:sp>
      <p:sp>
        <p:nvSpPr>
          <p:cNvPr id="57" name="Text 54"/>
          <p:cNvSpPr/>
          <p:nvPr/>
        </p:nvSpPr>
        <p:spPr>
          <a:xfrm>
            <a:off x="6024753" y="2176272"/>
            <a:ext cx="640080" cy="182880"/>
          </a:xfrm>
          <a:prstGeom prst="rect">
            <a:avLst/>
          </a:prstGeom>
          <a:noFill/>
          <a:ln/>
        </p:spPr>
        <p:txBody>
          <a:bodyPr wrap="square" lIns="508" tIns="508" rIns="508" bIns="508" rtlCol="0" anchor="ctr">
            <a:normAutofit/>
          </a:bodyPr>
          <a:lstStyle/>
          <a:p>
            <a:pPr algn="l" indent="0" marL="0">
              <a:buNone/>
            </a:pPr>
            <a:r>
              <a:rPr lang="en-US" sz="1000" b="1" dirty="0">
                <a:solidFill>
                  <a:srgbClr val="E9A21B"/>
                </a:solidFill>
                <a:latin typeface="Aptos" pitchFamily="34" charset="0"/>
                <a:ea typeface="Aptos" pitchFamily="34" charset="-122"/>
                <a:cs typeface="Aptos" pitchFamily="34" charset="-120"/>
              </a:rPr>
              <a:t>PEAK</a:t>
            </a:r>
            <a:endParaRPr lang="en-US" sz="1000" dirty="0"/>
          </a:p>
        </p:txBody>
      </p:sp>
      <p:sp>
        <p:nvSpPr>
          <p:cNvPr id="58" name="Text 55"/>
          <p:cNvSpPr/>
          <p:nvPr/>
        </p:nvSpPr>
        <p:spPr>
          <a:xfrm>
            <a:off x="8183880" y="2971800"/>
            <a:ext cx="731520" cy="182880"/>
          </a:xfrm>
          <a:prstGeom prst="rect">
            <a:avLst/>
          </a:prstGeom>
          <a:noFill/>
          <a:ln/>
        </p:spPr>
        <p:txBody>
          <a:bodyPr wrap="square" lIns="508" tIns="508" rIns="508" bIns="508" rtlCol="0" anchor="ctr">
            <a:normAutofit/>
          </a:bodyPr>
          <a:lstStyle/>
          <a:p>
            <a:pPr algn="l" indent="0" marL="0">
              <a:buNone/>
            </a:pPr>
            <a:r>
              <a:rPr lang="en-US" sz="1000" b="1" dirty="0">
                <a:solidFill>
                  <a:srgbClr val="C73B3B"/>
                </a:solidFill>
                <a:latin typeface="Aptos" pitchFamily="34" charset="0"/>
                <a:ea typeface="Aptos" pitchFamily="34" charset="-122"/>
                <a:cs typeface="Aptos" pitchFamily="34" charset="-120"/>
              </a:rPr>
              <a:t>DECAY</a:t>
            </a:r>
            <a:endParaRPr lang="en-US" sz="1000" dirty="0"/>
          </a:p>
        </p:txBody>
      </p:sp>
      <p:sp>
        <p:nvSpPr>
          <p:cNvPr id="59" name="Text 56"/>
          <p:cNvSpPr/>
          <p:nvPr/>
        </p:nvSpPr>
        <p:spPr>
          <a:xfrm>
            <a:off x="10378440" y="3529584"/>
            <a:ext cx="640080" cy="182880"/>
          </a:xfrm>
          <a:prstGeom prst="rect">
            <a:avLst/>
          </a:prstGeom>
          <a:noFill/>
          <a:ln/>
        </p:spPr>
        <p:txBody>
          <a:bodyPr wrap="square" lIns="508" tIns="508" rIns="508" bIns="508" rtlCol="0" anchor="ctr">
            <a:normAutofit/>
          </a:bodyPr>
          <a:lstStyle/>
          <a:p>
            <a:pPr algn="l" indent="0" marL="0">
              <a:buNone/>
            </a:pPr>
            <a:r>
              <a:rPr lang="en-US" sz="1000" b="1" dirty="0">
                <a:solidFill>
                  <a:srgbClr val="C73B3B"/>
                </a:solidFill>
                <a:latin typeface="Aptos" pitchFamily="34" charset="0"/>
                <a:ea typeface="Aptos" pitchFamily="34" charset="-122"/>
                <a:cs typeface="Aptos" pitchFamily="34" charset="-120"/>
              </a:rPr>
              <a:t>END</a:t>
            </a:r>
            <a:endParaRPr lang="en-US" sz="1000" dirty="0"/>
          </a:p>
        </p:txBody>
      </p:sp>
      <p:sp>
        <p:nvSpPr>
          <p:cNvPr id="60" name="Shape 57"/>
          <p:cNvSpPr/>
          <p:nvPr/>
        </p:nvSpPr>
        <p:spPr>
          <a:xfrm>
            <a:off x="658368" y="4498848"/>
            <a:ext cx="6720840" cy="1627632"/>
          </a:xfrm>
          <a:prstGeom prst="roundRect">
            <a:avLst>
              <a:gd name="adj" fmla="val 4494"/>
            </a:avLst>
          </a:prstGeom>
          <a:solidFill>
            <a:srgbClr val="EEF8F1"/>
          </a:solidFill>
          <a:ln w="12700">
            <a:solidFill>
              <a:srgbClr val="B9DEC7"/>
            </a:solidFill>
            <a:prstDash val="solid"/>
          </a:ln>
        </p:spPr>
      </p:sp>
      <p:sp>
        <p:nvSpPr>
          <p:cNvPr id="61" name="Text 58"/>
          <p:cNvSpPr/>
          <p:nvPr/>
        </p:nvSpPr>
        <p:spPr>
          <a:xfrm>
            <a:off x="932688" y="4681728"/>
            <a:ext cx="3246120" cy="228600"/>
          </a:xfrm>
          <a:prstGeom prst="rect">
            <a:avLst/>
          </a:prstGeom>
          <a:noFill/>
          <a:ln/>
        </p:spPr>
        <p:txBody>
          <a:bodyPr wrap="square" lIns="508" tIns="508" rIns="508" bIns="508" rtlCol="0" anchor="ctr">
            <a:normAutofit/>
          </a:bodyPr>
          <a:lstStyle/>
          <a:p>
            <a:pPr algn="l" indent="0" marL="0">
              <a:buNone/>
            </a:pPr>
            <a:r>
              <a:rPr lang="en-US" sz="1250" b="1" dirty="0">
                <a:solidFill>
                  <a:srgbClr val="2E8B57"/>
                </a:solidFill>
                <a:latin typeface="Aptos" pitchFamily="34" charset="0"/>
                <a:ea typeface="Aptos" pitchFamily="34" charset="-122"/>
                <a:cs typeface="Aptos" pitchFamily="34" charset="-120"/>
              </a:rPr>
              <a:t>Allowed primary inputs (START → PEAK)</a:t>
            </a:r>
            <a:endParaRPr lang="en-US" sz="1250" dirty="0"/>
          </a:p>
        </p:txBody>
      </p:sp>
      <p:sp>
        <p:nvSpPr>
          <p:cNvPr id="62" name="Shape 59"/>
          <p:cNvSpPr/>
          <p:nvPr/>
        </p:nvSpPr>
        <p:spPr>
          <a:xfrm>
            <a:off x="932688" y="5074920"/>
            <a:ext cx="1005840" cy="548640"/>
          </a:xfrm>
          <a:prstGeom prst="roundRect">
            <a:avLst>
              <a:gd name="adj" fmla="val 13333"/>
            </a:avLst>
          </a:prstGeom>
          <a:solidFill>
            <a:srgbClr val="FFFFFF"/>
          </a:solidFill>
          <a:ln w="12700">
            <a:solidFill>
              <a:srgbClr val="C5DDD0"/>
            </a:solidFill>
            <a:prstDash val="solid"/>
          </a:ln>
        </p:spPr>
      </p:sp>
      <p:sp>
        <p:nvSpPr>
          <p:cNvPr id="63" name="Text 60"/>
          <p:cNvSpPr/>
          <p:nvPr/>
        </p:nvSpPr>
        <p:spPr>
          <a:xfrm>
            <a:off x="969264" y="5175504"/>
            <a:ext cx="932688" cy="256032"/>
          </a:xfrm>
          <a:prstGeom prst="rect">
            <a:avLst/>
          </a:prstGeom>
          <a:noFill/>
          <a:ln/>
        </p:spPr>
        <p:txBody>
          <a:bodyPr wrap="square" lIns="508" tIns="508" rIns="508" bIns="508" rtlCol="0" anchor="ctr">
            <a:normAutofit/>
          </a:bodyPr>
          <a:lstStyle/>
          <a:p>
            <a:pPr algn="ctr" indent="0" marL="0">
              <a:buNone/>
            </a:pPr>
            <a:r>
              <a:rPr lang="en-US" sz="930" b="1" dirty="0">
                <a:solidFill>
                  <a:srgbClr val="0B1F5B"/>
                </a:solidFill>
                <a:latin typeface="Consolas" pitchFamily="34" charset="0"/>
                <a:ea typeface="Consolas" pitchFamily="34" charset="-122"/>
                <a:cs typeface="Consolas" pitchFamily="34" charset="-120"/>
              </a:rPr>
              <a:t>rise_slope</a:t>
            </a:r>
            <a:endParaRPr lang="en-US" sz="930" dirty="0"/>
          </a:p>
        </p:txBody>
      </p:sp>
      <p:sp>
        <p:nvSpPr>
          <p:cNvPr id="64" name="Shape 61"/>
          <p:cNvSpPr/>
          <p:nvPr/>
        </p:nvSpPr>
        <p:spPr>
          <a:xfrm>
            <a:off x="2103120" y="5074920"/>
            <a:ext cx="1005840" cy="548640"/>
          </a:xfrm>
          <a:prstGeom prst="roundRect">
            <a:avLst>
              <a:gd name="adj" fmla="val 13333"/>
            </a:avLst>
          </a:prstGeom>
          <a:solidFill>
            <a:srgbClr val="FFFFFF"/>
          </a:solidFill>
          <a:ln w="12700">
            <a:solidFill>
              <a:srgbClr val="C5DDD0"/>
            </a:solidFill>
            <a:prstDash val="solid"/>
          </a:ln>
        </p:spPr>
      </p:sp>
      <p:sp>
        <p:nvSpPr>
          <p:cNvPr id="65" name="Text 62"/>
          <p:cNvSpPr/>
          <p:nvPr/>
        </p:nvSpPr>
        <p:spPr>
          <a:xfrm>
            <a:off x="2139696" y="5175504"/>
            <a:ext cx="932688" cy="256032"/>
          </a:xfrm>
          <a:prstGeom prst="rect">
            <a:avLst/>
          </a:prstGeom>
          <a:noFill/>
          <a:ln/>
        </p:spPr>
        <p:txBody>
          <a:bodyPr wrap="square" lIns="508" tIns="508" rIns="508" bIns="508" rtlCol="0" anchor="ctr">
            <a:normAutofit/>
          </a:bodyPr>
          <a:lstStyle/>
          <a:p>
            <a:pPr algn="ctr" indent="0" marL="0">
              <a:buNone/>
            </a:pPr>
            <a:r>
              <a:rPr lang="en-US" sz="930" b="1" dirty="0">
                <a:solidFill>
                  <a:srgbClr val="0B1F5B"/>
                </a:solidFill>
                <a:latin typeface="Consolas" pitchFamily="34" charset="0"/>
                <a:ea typeface="Consolas" pitchFamily="34" charset="-122"/>
                <a:cs typeface="Consolas" pitchFamily="34" charset="-120"/>
              </a:rPr>
              <a:t>max_roc</a:t>
            </a:r>
            <a:endParaRPr lang="en-US" sz="930" dirty="0"/>
          </a:p>
        </p:txBody>
      </p:sp>
      <p:sp>
        <p:nvSpPr>
          <p:cNvPr id="66" name="Shape 63"/>
          <p:cNvSpPr/>
          <p:nvPr/>
        </p:nvSpPr>
        <p:spPr>
          <a:xfrm>
            <a:off x="3273552" y="5074920"/>
            <a:ext cx="1005840" cy="548640"/>
          </a:xfrm>
          <a:prstGeom prst="roundRect">
            <a:avLst>
              <a:gd name="adj" fmla="val 13333"/>
            </a:avLst>
          </a:prstGeom>
          <a:solidFill>
            <a:srgbClr val="FFFFFF"/>
          </a:solidFill>
          <a:ln w="12700">
            <a:solidFill>
              <a:srgbClr val="C5DDD0"/>
            </a:solidFill>
            <a:prstDash val="solid"/>
          </a:ln>
        </p:spPr>
      </p:sp>
      <p:sp>
        <p:nvSpPr>
          <p:cNvPr id="67" name="Text 64"/>
          <p:cNvSpPr/>
          <p:nvPr/>
        </p:nvSpPr>
        <p:spPr>
          <a:xfrm>
            <a:off x="3310128" y="5175504"/>
            <a:ext cx="932688" cy="256032"/>
          </a:xfrm>
          <a:prstGeom prst="rect">
            <a:avLst/>
          </a:prstGeom>
          <a:noFill/>
          <a:ln/>
        </p:spPr>
        <p:txBody>
          <a:bodyPr wrap="square" lIns="508" tIns="508" rIns="508" bIns="508" rtlCol="0" anchor="ctr">
            <a:normAutofit/>
          </a:bodyPr>
          <a:lstStyle/>
          <a:p>
            <a:pPr algn="ctr" indent="0" marL="0">
              <a:buNone/>
            </a:pPr>
            <a:r>
              <a:rPr lang="en-US" sz="930" b="1" dirty="0">
                <a:solidFill>
                  <a:srgbClr val="0B1F5B"/>
                </a:solidFill>
                <a:latin typeface="Consolas" pitchFamily="34" charset="0"/>
                <a:ea typeface="Consolas" pitchFamily="34" charset="-122"/>
                <a:cs typeface="Consolas" pitchFamily="34" charset="-120"/>
              </a:rPr>
              <a:t>mean_pos_roc</a:t>
            </a:r>
            <a:endParaRPr lang="en-US" sz="930" dirty="0"/>
          </a:p>
        </p:txBody>
      </p:sp>
      <p:sp>
        <p:nvSpPr>
          <p:cNvPr id="68" name="Shape 65"/>
          <p:cNvSpPr/>
          <p:nvPr/>
        </p:nvSpPr>
        <p:spPr>
          <a:xfrm>
            <a:off x="4443984" y="5074920"/>
            <a:ext cx="1005840" cy="548640"/>
          </a:xfrm>
          <a:prstGeom prst="roundRect">
            <a:avLst>
              <a:gd name="adj" fmla="val 13333"/>
            </a:avLst>
          </a:prstGeom>
          <a:solidFill>
            <a:srgbClr val="FFFFFF"/>
          </a:solidFill>
          <a:ln w="12700">
            <a:solidFill>
              <a:srgbClr val="C5DDD0"/>
            </a:solidFill>
            <a:prstDash val="solid"/>
          </a:ln>
        </p:spPr>
      </p:sp>
      <p:sp>
        <p:nvSpPr>
          <p:cNvPr id="69" name="Text 66"/>
          <p:cNvSpPr/>
          <p:nvPr/>
        </p:nvSpPr>
        <p:spPr>
          <a:xfrm>
            <a:off x="4480560" y="5175504"/>
            <a:ext cx="932688" cy="256032"/>
          </a:xfrm>
          <a:prstGeom prst="rect">
            <a:avLst/>
          </a:prstGeom>
          <a:noFill/>
          <a:ln/>
        </p:spPr>
        <p:txBody>
          <a:bodyPr wrap="square" lIns="508" tIns="508" rIns="508" bIns="508" rtlCol="0" anchor="ctr">
            <a:normAutofit/>
          </a:bodyPr>
          <a:lstStyle/>
          <a:p>
            <a:pPr algn="ctr" indent="0" marL="0">
              <a:buNone/>
            </a:pPr>
            <a:r>
              <a:rPr lang="en-US" sz="930" b="1" dirty="0">
                <a:solidFill>
                  <a:srgbClr val="0B1F5B"/>
                </a:solidFill>
                <a:latin typeface="Consolas" pitchFamily="34" charset="0"/>
                <a:ea typeface="Consolas" pitchFamily="34" charset="-122"/>
                <a:cs typeface="Consolas" pitchFamily="34" charset="-120"/>
              </a:rPr>
              <a:t>rise_duration_min</a:t>
            </a:r>
            <a:endParaRPr lang="en-US" sz="930" dirty="0"/>
          </a:p>
        </p:txBody>
      </p:sp>
      <p:sp>
        <p:nvSpPr>
          <p:cNvPr id="70" name="Shape 67"/>
          <p:cNvSpPr/>
          <p:nvPr/>
        </p:nvSpPr>
        <p:spPr>
          <a:xfrm>
            <a:off x="5614416" y="5074920"/>
            <a:ext cx="1005840" cy="548640"/>
          </a:xfrm>
          <a:prstGeom prst="roundRect">
            <a:avLst>
              <a:gd name="adj" fmla="val 13333"/>
            </a:avLst>
          </a:prstGeom>
          <a:solidFill>
            <a:srgbClr val="FFFFFF"/>
          </a:solidFill>
          <a:ln w="12700">
            <a:solidFill>
              <a:srgbClr val="C5DDD0"/>
            </a:solidFill>
            <a:prstDash val="solid"/>
          </a:ln>
        </p:spPr>
      </p:sp>
      <p:sp>
        <p:nvSpPr>
          <p:cNvPr id="71" name="Text 68"/>
          <p:cNvSpPr/>
          <p:nvPr/>
        </p:nvSpPr>
        <p:spPr>
          <a:xfrm>
            <a:off x="5650992" y="5175504"/>
            <a:ext cx="932688" cy="256032"/>
          </a:xfrm>
          <a:prstGeom prst="rect">
            <a:avLst/>
          </a:prstGeom>
          <a:noFill/>
          <a:ln/>
        </p:spPr>
        <p:txBody>
          <a:bodyPr wrap="square" lIns="508" tIns="508" rIns="508" bIns="508" rtlCol="0" anchor="ctr">
            <a:normAutofit/>
          </a:bodyPr>
          <a:lstStyle/>
          <a:p>
            <a:pPr algn="ctr" indent="0" marL="0">
              <a:buNone/>
            </a:pPr>
            <a:r>
              <a:rPr lang="en-US" sz="930" b="1" dirty="0">
                <a:solidFill>
                  <a:srgbClr val="0B1F5B"/>
                </a:solidFill>
                <a:latin typeface="Consolas" pitchFamily="34" charset="0"/>
                <a:ea typeface="Consolas" pitchFamily="34" charset="-122"/>
                <a:cs typeface="Consolas" pitchFamily="34" charset="-120"/>
              </a:rPr>
              <a:t>bg_flux</a:t>
            </a:r>
            <a:endParaRPr lang="en-US" sz="930" dirty="0"/>
          </a:p>
        </p:txBody>
      </p:sp>
      <p:sp>
        <p:nvSpPr>
          <p:cNvPr id="72" name="Text 69"/>
          <p:cNvSpPr/>
          <p:nvPr/>
        </p:nvSpPr>
        <p:spPr>
          <a:xfrm>
            <a:off x="969264" y="5742432"/>
            <a:ext cx="5897880" cy="201168"/>
          </a:xfrm>
          <a:prstGeom prst="rect">
            <a:avLst/>
          </a:prstGeom>
          <a:noFill/>
          <a:ln/>
        </p:spPr>
        <p:txBody>
          <a:bodyPr wrap="square" lIns="508" tIns="508" rIns="508" bIns="508" rtlCol="0" anchor="ctr">
            <a:normAutofit/>
          </a:bodyPr>
          <a:lstStyle/>
          <a:p>
            <a:pPr algn="ctr" indent="0" marL="0">
              <a:buNone/>
            </a:pPr>
            <a:r>
              <a:rPr lang="en-US" sz="970" dirty="0">
                <a:solidFill>
                  <a:srgbClr val="637B93"/>
                </a:solidFill>
                <a:latin typeface="Aptos" pitchFamily="34" charset="0"/>
                <a:ea typeface="Aptos" pitchFamily="34" charset="-122"/>
                <a:cs typeface="Aptos" pitchFamily="34" charset="-120"/>
              </a:rPr>
              <a:t>max_roc + mean_pos_roc are computed from START → PEAK only.</a:t>
            </a:r>
            <a:endParaRPr lang="en-US" sz="970" dirty="0"/>
          </a:p>
        </p:txBody>
      </p:sp>
      <p:sp>
        <p:nvSpPr>
          <p:cNvPr id="73" name="Shape 70"/>
          <p:cNvSpPr/>
          <p:nvPr/>
        </p:nvSpPr>
        <p:spPr>
          <a:xfrm>
            <a:off x="7589520" y="4498848"/>
            <a:ext cx="4041648" cy="1627632"/>
          </a:xfrm>
          <a:prstGeom prst="roundRect">
            <a:avLst>
              <a:gd name="adj" fmla="val 4494"/>
            </a:avLst>
          </a:prstGeom>
          <a:solidFill>
            <a:srgbClr val="FFF4F4"/>
          </a:solidFill>
          <a:ln w="12700">
            <a:solidFill>
              <a:srgbClr val="EDB5B5"/>
            </a:solidFill>
            <a:prstDash val="solid"/>
          </a:ln>
        </p:spPr>
      </p:sp>
      <p:sp>
        <p:nvSpPr>
          <p:cNvPr id="74" name="Text 71"/>
          <p:cNvSpPr/>
          <p:nvPr/>
        </p:nvSpPr>
        <p:spPr>
          <a:xfrm>
            <a:off x="7882128" y="4709160"/>
            <a:ext cx="3474720" cy="274320"/>
          </a:xfrm>
          <a:prstGeom prst="rect">
            <a:avLst/>
          </a:prstGeom>
          <a:noFill/>
          <a:ln/>
        </p:spPr>
        <p:txBody>
          <a:bodyPr wrap="square" lIns="508" tIns="508" rIns="508" bIns="508" rtlCol="0" anchor="ctr">
            <a:normAutofit/>
          </a:bodyPr>
          <a:lstStyle/>
          <a:p>
            <a:pPr algn="ctr" indent="0" marL="0">
              <a:buNone/>
            </a:pPr>
            <a:r>
              <a:rPr lang="en-US" sz="1200" b="1" dirty="0">
                <a:solidFill>
                  <a:srgbClr val="C73B3B"/>
                </a:solidFill>
                <a:latin typeface="Aptos" pitchFamily="34" charset="0"/>
                <a:ea typeface="Aptos" pitchFamily="34" charset="-122"/>
                <a:cs typeface="Aptos" pitchFamily="34" charset="-120"/>
              </a:rPr>
              <a:t>peak_flux — NOT A PRIMARY PREDICTOR</a:t>
            </a:r>
            <a:endParaRPr lang="en-US" sz="1200" dirty="0"/>
          </a:p>
        </p:txBody>
      </p:sp>
      <p:sp>
        <p:nvSpPr>
          <p:cNvPr id="75" name="Text 72"/>
          <p:cNvSpPr/>
          <p:nvPr/>
        </p:nvSpPr>
        <p:spPr>
          <a:xfrm>
            <a:off x="7882128" y="5093208"/>
            <a:ext cx="3474720" cy="237744"/>
          </a:xfrm>
          <a:prstGeom prst="rect">
            <a:avLst/>
          </a:prstGeom>
          <a:noFill/>
          <a:ln/>
        </p:spPr>
        <p:txBody>
          <a:bodyPr wrap="square" lIns="508" tIns="508" rIns="508" bIns="508" rtlCol="0" anchor="ctr">
            <a:normAutofit/>
          </a:bodyPr>
          <a:lstStyle/>
          <a:p>
            <a:pPr algn="ctr" indent="0" marL="0">
              <a:buNone/>
            </a:pPr>
            <a:r>
              <a:rPr lang="en-US" sz="1080" dirty="0">
                <a:solidFill>
                  <a:srgbClr val="0B1F5B"/>
                </a:solidFill>
                <a:latin typeface="Aptos" pitchFamily="34" charset="0"/>
                <a:ea typeface="Aptos" pitchFamily="34" charset="-122"/>
                <a:cs typeface="Aptos" pitchFamily="34" charset="-120"/>
              </a:rPr>
              <a:t>NOAA class is defined from peak X-ray flux.</a:t>
            </a:r>
            <a:endParaRPr lang="en-US" sz="1080" dirty="0"/>
          </a:p>
        </p:txBody>
      </p:sp>
      <p:sp>
        <p:nvSpPr>
          <p:cNvPr id="76" name="Text 73"/>
          <p:cNvSpPr/>
          <p:nvPr/>
        </p:nvSpPr>
        <p:spPr>
          <a:xfrm>
            <a:off x="8229600" y="5504688"/>
            <a:ext cx="2788920" cy="228600"/>
          </a:xfrm>
          <a:prstGeom prst="rect">
            <a:avLst/>
          </a:prstGeom>
          <a:noFill/>
          <a:ln/>
        </p:spPr>
        <p:txBody>
          <a:bodyPr wrap="square" lIns="508" tIns="508" rIns="508" bIns="508" rtlCol="0" anchor="ctr">
            <a:normAutofit/>
          </a:bodyPr>
          <a:lstStyle/>
          <a:p>
            <a:pPr algn="ctr" indent="0" marL="0">
              <a:buNone/>
            </a:pPr>
            <a:r>
              <a:rPr lang="en-US" sz="1150" b="1" dirty="0">
                <a:solidFill>
                  <a:srgbClr val="C73B3B"/>
                </a:solidFill>
                <a:latin typeface="Aptos" pitchFamily="34" charset="0"/>
                <a:ea typeface="Aptos" pitchFamily="34" charset="-122"/>
                <a:cs typeface="Aptos" pitchFamily="34" charset="-120"/>
              </a:rPr>
              <a:t>peak flux  →  target class</a:t>
            </a:r>
            <a:endParaRPr lang="en-US" sz="1150" dirty="0"/>
          </a:p>
        </p:txBody>
      </p:sp>
      <p:sp>
        <p:nvSpPr>
          <p:cNvPr id="77" name="Text 74"/>
          <p:cNvSpPr/>
          <p:nvPr/>
        </p:nvSpPr>
        <p:spPr>
          <a:xfrm>
            <a:off x="7882128" y="5769864"/>
            <a:ext cx="3474720"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giving peak_flux to the model would expose the answer definition</a:t>
            </a:r>
            <a:endParaRPr lang="en-US" sz="88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sp>
        <p:nvSpPr>
          <p:cNvPr id="4" name="Text 2"/>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Impulsive-Phase Flare Severity Nowcasting</a:t>
            </a:r>
            <a:endParaRPr lang="en-US" sz="2500" dirty="0"/>
          </a:p>
        </p:txBody>
      </p:sp>
      <p:sp>
        <p:nvSpPr>
          <p:cNvPr id="5" name="Text 3"/>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One independent event → five features → B or C+</a:t>
            </a:r>
            <a:endParaRPr lang="en-US" sz="1450" dirty="0"/>
          </a:p>
        </p:txBody>
      </p:sp>
      <p:sp>
        <p:nvSpPr>
          <p:cNvPr id="6" name="Shape 4"/>
          <p:cNvSpPr/>
          <p:nvPr/>
        </p:nvSpPr>
        <p:spPr>
          <a:xfrm>
            <a:off x="868680" y="1572768"/>
            <a:ext cx="2240280" cy="1234440"/>
          </a:xfrm>
          <a:prstGeom prst="roundRect">
            <a:avLst>
              <a:gd name="adj" fmla="val 5926"/>
            </a:avLst>
          </a:prstGeom>
          <a:solidFill>
            <a:srgbClr val="FFFFFF"/>
          </a:solidFill>
          <a:ln w="12700">
            <a:solidFill>
              <a:srgbClr val="E9A21B"/>
            </a:solidFill>
            <a:prstDash val="solid"/>
          </a:ln>
        </p:spPr>
      </p:sp>
      <p:sp>
        <p:nvSpPr>
          <p:cNvPr id="7" name="Text 5"/>
          <p:cNvSpPr/>
          <p:nvPr/>
        </p:nvSpPr>
        <p:spPr>
          <a:xfrm>
            <a:off x="1005840" y="1783080"/>
            <a:ext cx="1965960" cy="228600"/>
          </a:xfrm>
          <a:prstGeom prst="rect">
            <a:avLst/>
          </a:prstGeom>
          <a:noFill/>
          <a:ln/>
        </p:spPr>
        <p:txBody>
          <a:bodyPr wrap="square" lIns="508" tIns="508" rIns="508" bIns="508" rtlCol="0" anchor="ctr">
            <a:normAutofit/>
          </a:bodyPr>
          <a:lstStyle/>
          <a:p>
            <a:pPr algn="ctr" indent="0" marL="0">
              <a:buNone/>
            </a:pPr>
            <a:r>
              <a:rPr lang="en-US" sz="1200" b="1" dirty="0">
                <a:solidFill>
                  <a:srgbClr val="E9A21B"/>
                </a:solidFill>
                <a:latin typeface="Aptos" pitchFamily="34" charset="0"/>
                <a:ea typeface="Aptos" pitchFamily="34" charset="-122"/>
                <a:cs typeface="Aptos" pitchFamily="34" charset="-120"/>
              </a:rPr>
              <a:t>PHYSICAL EVENT</a:t>
            </a:r>
            <a:endParaRPr lang="en-US" sz="1200" dirty="0"/>
          </a:p>
        </p:txBody>
      </p:sp>
      <p:sp>
        <p:nvSpPr>
          <p:cNvPr id="8" name="Text 6"/>
          <p:cNvSpPr/>
          <p:nvPr/>
        </p:nvSpPr>
        <p:spPr>
          <a:xfrm>
            <a:off x="1005840" y="2176272"/>
            <a:ext cx="1965960" cy="210312"/>
          </a:xfrm>
          <a:prstGeom prst="rect">
            <a:avLst/>
          </a:prstGeom>
          <a:noFill/>
          <a:ln/>
        </p:spPr>
        <p:txBody>
          <a:bodyPr wrap="square" lIns="508" tIns="508" rIns="508" bIns="508" rtlCol="0" anchor="ctr">
            <a:normAutofit/>
          </a:bodyPr>
          <a:lstStyle/>
          <a:p>
            <a:pPr algn="ctr" indent="0" marL="0">
              <a:buNone/>
            </a:pPr>
            <a:r>
              <a:rPr lang="en-US" sz="1100" dirty="0">
                <a:solidFill>
                  <a:srgbClr val="0B1F5B"/>
                </a:solidFill>
                <a:latin typeface="Aptos" pitchFamily="34" charset="0"/>
                <a:ea typeface="Aptos" pitchFamily="34" charset="-122"/>
                <a:cs typeface="Aptos" pitchFamily="34" charset="-120"/>
              </a:rPr>
              <a:t>START→PEAK</a:t>
            </a:r>
            <a:endParaRPr lang="en-US" sz="1100" dirty="0"/>
          </a:p>
        </p:txBody>
      </p:sp>
      <p:sp>
        <p:nvSpPr>
          <p:cNvPr id="9" name="Shape 7"/>
          <p:cNvSpPr/>
          <p:nvPr/>
        </p:nvSpPr>
        <p:spPr>
          <a:xfrm>
            <a:off x="3209544" y="2039112"/>
            <a:ext cx="274320" cy="256032"/>
          </a:xfrm>
          <a:prstGeom prst="chevron">
            <a:avLst/>
          </a:prstGeom>
          <a:solidFill>
            <a:srgbClr val="1C67B5"/>
          </a:solidFill>
          <a:ln w="12700">
            <a:solidFill>
              <a:srgbClr val="1C67B5">
                <a:alpha val="0"/>
              </a:srgbClr>
            </a:solidFill>
            <a:prstDash val="solid"/>
          </a:ln>
        </p:spPr>
      </p:sp>
      <p:sp>
        <p:nvSpPr>
          <p:cNvPr id="10" name="Shape 8"/>
          <p:cNvSpPr/>
          <p:nvPr/>
        </p:nvSpPr>
        <p:spPr>
          <a:xfrm>
            <a:off x="3611880" y="1572768"/>
            <a:ext cx="2240280" cy="1234440"/>
          </a:xfrm>
          <a:prstGeom prst="roundRect">
            <a:avLst>
              <a:gd name="adj" fmla="val 5926"/>
            </a:avLst>
          </a:prstGeom>
          <a:solidFill>
            <a:srgbClr val="FFFFFF"/>
          </a:solidFill>
          <a:ln w="12700">
            <a:solidFill>
              <a:srgbClr val="25A7D9"/>
            </a:solidFill>
            <a:prstDash val="solid"/>
          </a:ln>
        </p:spPr>
      </p:sp>
      <p:sp>
        <p:nvSpPr>
          <p:cNvPr id="11" name="Text 9"/>
          <p:cNvSpPr/>
          <p:nvPr/>
        </p:nvSpPr>
        <p:spPr>
          <a:xfrm>
            <a:off x="3749040" y="1783080"/>
            <a:ext cx="1965960" cy="228600"/>
          </a:xfrm>
          <a:prstGeom prst="rect">
            <a:avLst/>
          </a:prstGeom>
          <a:noFill/>
          <a:ln/>
        </p:spPr>
        <p:txBody>
          <a:bodyPr wrap="square" lIns="508" tIns="508" rIns="508" bIns="508" rtlCol="0" anchor="ctr">
            <a:normAutofit/>
          </a:bodyPr>
          <a:lstStyle/>
          <a:p>
            <a:pPr algn="ctr" indent="0" marL="0">
              <a:buNone/>
            </a:pPr>
            <a:r>
              <a:rPr lang="en-US" sz="1200" b="1" dirty="0">
                <a:solidFill>
                  <a:srgbClr val="25A7D9"/>
                </a:solidFill>
                <a:latin typeface="Aptos" pitchFamily="34" charset="0"/>
                <a:ea typeface="Aptos" pitchFamily="34" charset="-122"/>
                <a:cs typeface="Aptos" pitchFamily="34" charset="-120"/>
              </a:rPr>
              <a:t>5 FEATURES</a:t>
            </a:r>
            <a:endParaRPr lang="en-US" sz="1200" dirty="0"/>
          </a:p>
        </p:txBody>
      </p:sp>
      <p:sp>
        <p:nvSpPr>
          <p:cNvPr id="12" name="Text 10"/>
          <p:cNvSpPr/>
          <p:nvPr/>
        </p:nvSpPr>
        <p:spPr>
          <a:xfrm>
            <a:off x="3749040" y="2176272"/>
            <a:ext cx="1965960" cy="210312"/>
          </a:xfrm>
          <a:prstGeom prst="rect">
            <a:avLst/>
          </a:prstGeom>
          <a:noFill/>
          <a:ln/>
        </p:spPr>
        <p:txBody>
          <a:bodyPr wrap="square" lIns="508" tIns="508" rIns="508" bIns="508" rtlCol="0" anchor="ctr">
            <a:normAutofit/>
          </a:bodyPr>
          <a:lstStyle/>
          <a:p>
            <a:pPr algn="ctr" indent="0" marL="0">
              <a:buNone/>
            </a:pPr>
            <a:r>
              <a:rPr lang="en-US" sz="1100" dirty="0">
                <a:solidFill>
                  <a:srgbClr val="0B1F5B"/>
                </a:solidFill>
                <a:latin typeface="Aptos" pitchFamily="34" charset="0"/>
                <a:ea typeface="Aptos" pitchFamily="34" charset="-122"/>
                <a:cs typeface="Aptos" pitchFamily="34" charset="-120"/>
              </a:rPr>
              <a:t>rise morphology</a:t>
            </a:r>
            <a:endParaRPr lang="en-US" sz="1100" dirty="0"/>
          </a:p>
        </p:txBody>
      </p:sp>
      <p:sp>
        <p:nvSpPr>
          <p:cNvPr id="13" name="Shape 11"/>
          <p:cNvSpPr/>
          <p:nvPr/>
        </p:nvSpPr>
        <p:spPr>
          <a:xfrm>
            <a:off x="5952744" y="2039112"/>
            <a:ext cx="274320" cy="256032"/>
          </a:xfrm>
          <a:prstGeom prst="chevron">
            <a:avLst/>
          </a:prstGeom>
          <a:solidFill>
            <a:srgbClr val="1C67B5"/>
          </a:solidFill>
          <a:ln w="12700">
            <a:solidFill>
              <a:srgbClr val="1C67B5">
                <a:alpha val="0"/>
              </a:srgbClr>
            </a:solidFill>
            <a:prstDash val="solid"/>
          </a:ln>
        </p:spPr>
      </p:sp>
      <p:sp>
        <p:nvSpPr>
          <p:cNvPr id="14" name="Shape 12"/>
          <p:cNvSpPr/>
          <p:nvPr/>
        </p:nvSpPr>
        <p:spPr>
          <a:xfrm>
            <a:off x="6355080" y="1572768"/>
            <a:ext cx="2240280" cy="1234440"/>
          </a:xfrm>
          <a:prstGeom prst="roundRect">
            <a:avLst>
              <a:gd name="adj" fmla="val 5926"/>
            </a:avLst>
          </a:prstGeom>
          <a:solidFill>
            <a:srgbClr val="FFFFFF"/>
          </a:solidFill>
          <a:ln w="12700">
            <a:solidFill>
              <a:srgbClr val="7454C7"/>
            </a:solidFill>
            <a:prstDash val="solid"/>
          </a:ln>
        </p:spPr>
      </p:sp>
      <p:sp>
        <p:nvSpPr>
          <p:cNvPr id="15" name="Text 13"/>
          <p:cNvSpPr/>
          <p:nvPr/>
        </p:nvSpPr>
        <p:spPr>
          <a:xfrm>
            <a:off x="6492240" y="1783080"/>
            <a:ext cx="1965960" cy="228600"/>
          </a:xfrm>
          <a:prstGeom prst="rect">
            <a:avLst/>
          </a:prstGeom>
          <a:noFill/>
          <a:ln/>
        </p:spPr>
        <p:txBody>
          <a:bodyPr wrap="square" lIns="508" tIns="508" rIns="508" bIns="508" rtlCol="0" anchor="ctr">
            <a:normAutofit/>
          </a:bodyPr>
          <a:lstStyle/>
          <a:p>
            <a:pPr algn="ctr" indent="0" marL="0">
              <a:buNone/>
            </a:pPr>
            <a:r>
              <a:rPr lang="en-US" sz="1200" b="1" dirty="0">
                <a:solidFill>
                  <a:srgbClr val="7454C7"/>
                </a:solidFill>
                <a:latin typeface="Aptos" pitchFamily="34" charset="0"/>
                <a:ea typeface="Aptos" pitchFamily="34" charset="-122"/>
                <a:cs typeface="Aptos" pitchFamily="34" charset="-120"/>
              </a:rPr>
              <a:t>CLASSIFIER</a:t>
            </a:r>
            <a:endParaRPr lang="en-US" sz="1200" dirty="0"/>
          </a:p>
        </p:txBody>
      </p:sp>
      <p:sp>
        <p:nvSpPr>
          <p:cNvPr id="16" name="Text 14"/>
          <p:cNvSpPr/>
          <p:nvPr/>
        </p:nvSpPr>
        <p:spPr>
          <a:xfrm>
            <a:off x="6492240" y="2176272"/>
            <a:ext cx="1965960" cy="210312"/>
          </a:xfrm>
          <a:prstGeom prst="rect">
            <a:avLst/>
          </a:prstGeom>
          <a:noFill/>
          <a:ln/>
        </p:spPr>
        <p:txBody>
          <a:bodyPr wrap="square" lIns="508" tIns="508" rIns="508" bIns="508" rtlCol="0" anchor="ctr">
            <a:normAutofit/>
          </a:bodyPr>
          <a:lstStyle/>
          <a:p>
            <a:pPr algn="ctr" indent="0" marL="0">
              <a:buNone/>
            </a:pPr>
            <a:r>
              <a:rPr lang="en-US" sz="1100" dirty="0">
                <a:solidFill>
                  <a:srgbClr val="0B1F5B"/>
                </a:solidFill>
                <a:latin typeface="Aptos" pitchFamily="34" charset="0"/>
                <a:ea typeface="Aptos" pitchFamily="34" charset="-122"/>
                <a:cs typeface="Aptos" pitchFamily="34" charset="-120"/>
              </a:rPr>
              <a:t>classical ML</a:t>
            </a:r>
            <a:endParaRPr lang="en-US" sz="1100" dirty="0"/>
          </a:p>
        </p:txBody>
      </p:sp>
      <p:sp>
        <p:nvSpPr>
          <p:cNvPr id="17" name="Shape 15"/>
          <p:cNvSpPr/>
          <p:nvPr/>
        </p:nvSpPr>
        <p:spPr>
          <a:xfrm>
            <a:off x="8695944" y="2039112"/>
            <a:ext cx="274320" cy="256032"/>
          </a:xfrm>
          <a:prstGeom prst="chevron">
            <a:avLst/>
          </a:prstGeom>
          <a:solidFill>
            <a:srgbClr val="1C67B5"/>
          </a:solidFill>
          <a:ln w="12700">
            <a:solidFill>
              <a:srgbClr val="1C67B5">
                <a:alpha val="0"/>
              </a:srgbClr>
            </a:solidFill>
            <a:prstDash val="solid"/>
          </a:ln>
        </p:spPr>
      </p:sp>
      <p:sp>
        <p:nvSpPr>
          <p:cNvPr id="18" name="Shape 16"/>
          <p:cNvSpPr/>
          <p:nvPr/>
        </p:nvSpPr>
        <p:spPr>
          <a:xfrm>
            <a:off x="9098280" y="1572768"/>
            <a:ext cx="2240280" cy="1234440"/>
          </a:xfrm>
          <a:prstGeom prst="roundRect">
            <a:avLst>
              <a:gd name="adj" fmla="val 5926"/>
            </a:avLst>
          </a:prstGeom>
          <a:solidFill>
            <a:srgbClr val="FFFFFF"/>
          </a:solidFill>
          <a:ln w="12700">
            <a:solidFill>
              <a:srgbClr val="1C67B5"/>
            </a:solidFill>
            <a:prstDash val="solid"/>
          </a:ln>
        </p:spPr>
      </p:sp>
      <p:sp>
        <p:nvSpPr>
          <p:cNvPr id="19" name="Text 17"/>
          <p:cNvSpPr/>
          <p:nvPr/>
        </p:nvSpPr>
        <p:spPr>
          <a:xfrm>
            <a:off x="9235440" y="1783080"/>
            <a:ext cx="1965960" cy="228600"/>
          </a:xfrm>
          <a:prstGeom prst="rect">
            <a:avLst/>
          </a:prstGeom>
          <a:noFill/>
          <a:ln/>
        </p:spPr>
        <p:txBody>
          <a:bodyPr wrap="square" lIns="508" tIns="508" rIns="508" bIns="508" rtlCol="0" anchor="ctr">
            <a:normAutofit/>
          </a:bodyPr>
          <a:lstStyle/>
          <a:p>
            <a:pPr algn="ctr" indent="0" marL="0">
              <a:buNone/>
            </a:pPr>
            <a:r>
              <a:rPr lang="en-US" sz="1200" b="1" dirty="0">
                <a:solidFill>
                  <a:srgbClr val="1C67B5"/>
                </a:solidFill>
                <a:latin typeface="Aptos" pitchFamily="34" charset="0"/>
                <a:ea typeface="Aptos" pitchFamily="34" charset="-122"/>
                <a:cs typeface="Aptos" pitchFamily="34" charset="-120"/>
              </a:rPr>
              <a:t>OUTPUT</a:t>
            </a:r>
            <a:endParaRPr lang="en-US" sz="1200" dirty="0"/>
          </a:p>
        </p:txBody>
      </p:sp>
      <p:sp>
        <p:nvSpPr>
          <p:cNvPr id="20" name="Text 18"/>
          <p:cNvSpPr/>
          <p:nvPr/>
        </p:nvSpPr>
        <p:spPr>
          <a:xfrm>
            <a:off x="9235440" y="2176272"/>
            <a:ext cx="1965960" cy="210312"/>
          </a:xfrm>
          <a:prstGeom prst="rect">
            <a:avLst/>
          </a:prstGeom>
          <a:noFill/>
          <a:ln/>
        </p:spPr>
        <p:txBody>
          <a:bodyPr wrap="square" lIns="508" tIns="508" rIns="508" bIns="508" rtlCol="0" anchor="ctr">
            <a:normAutofit/>
          </a:bodyPr>
          <a:lstStyle/>
          <a:p>
            <a:pPr algn="ctr" indent="0" marL="0">
              <a:buNone/>
            </a:pPr>
            <a:r>
              <a:rPr lang="en-US" sz="1100" dirty="0">
                <a:solidFill>
                  <a:srgbClr val="0B1F5B"/>
                </a:solidFill>
                <a:latin typeface="Aptos" pitchFamily="34" charset="0"/>
                <a:ea typeface="Aptos" pitchFamily="34" charset="-122"/>
                <a:cs typeface="Aptos" pitchFamily="34" charset="-120"/>
              </a:rPr>
              <a:t>B or C+</a:t>
            </a:r>
            <a:endParaRPr lang="en-US" sz="1100" dirty="0"/>
          </a:p>
        </p:txBody>
      </p:sp>
      <p:sp>
        <p:nvSpPr>
          <p:cNvPr id="21" name="Shape 19"/>
          <p:cNvSpPr/>
          <p:nvPr/>
        </p:nvSpPr>
        <p:spPr>
          <a:xfrm>
            <a:off x="868680" y="3154680"/>
            <a:ext cx="4251960" cy="2468880"/>
          </a:xfrm>
          <a:prstGeom prst="roundRect">
            <a:avLst>
              <a:gd name="adj" fmla="val 2963"/>
            </a:avLst>
          </a:prstGeom>
          <a:solidFill>
            <a:srgbClr val="EEF6FD"/>
          </a:solidFill>
          <a:ln w="12700">
            <a:solidFill>
              <a:srgbClr val="BDD7EC"/>
            </a:solidFill>
            <a:prstDash val="solid"/>
          </a:ln>
        </p:spPr>
      </p:sp>
      <p:sp>
        <p:nvSpPr>
          <p:cNvPr id="22" name="Text 20"/>
          <p:cNvSpPr/>
          <p:nvPr/>
        </p:nvSpPr>
        <p:spPr>
          <a:xfrm>
            <a:off x="1170432" y="3429000"/>
            <a:ext cx="3611880"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Independent ML dataset</a:t>
            </a:r>
            <a:endParaRPr lang="en-US" sz="1700" dirty="0"/>
          </a:p>
        </p:txBody>
      </p:sp>
      <p:sp>
        <p:nvSpPr>
          <p:cNvPr id="23" name="Shape 21"/>
          <p:cNvSpPr/>
          <p:nvPr/>
        </p:nvSpPr>
        <p:spPr>
          <a:xfrm>
            <a:off x="1188720" y="3977640"/>
            <a:ext cx="1051560" cy="658368"/>
          </a:xfrm>
          <a:prstGeom prst="roundRect">
            <a:avLst>
              <a:gd name="adj" fmla="val 11111"/>
            </a:avLst>
          </a:prstGeom>
          <a:solidFill>
            <a:srgbClr val="FFFFFF"/>
          </a:solidFill>
          <a:ln w="12700">
            <a:solidFill>
              <a:srgbClr val="D3E4F3"/>
            </a:solidFill>
            <a:prstDash val="solid"/>
          </a:ln>
        </p:spPr>
      </p:sp>
      <p:sp>
        <p:nvSpPr>
          <p:cNvPr id="24" name="Text 22"/>
          <p:cNvSpPr/>
          <p:nvPr/>
        </p:nvSpPr>
        <p:spPr>
          <a:xfrm>
            <a:off x="1234440" y="4041648"/>
            <a:ext cx="960120" cy="256032"/>
          </a:xfrm>
          <a:prstGeom prst="rect">
            <a:avLst/>
          </a:prstGeom>
          <a:noFill/>
          <a:ln/>
        </p:spPr>
        <p:txBody>
          <a:bodyPr wrap="square" lIns="508" tIns="508" rIns="508" bIns="508" rtlCol="0" anchor="ctr">
            <a:normAutofit/>
          </a:bodyPr>
          <a:lstStyle/>
          <a:p>
            <a:pPr algn="ctr" indent="0" marL="0">
              <a:buNone/>
            </a:pPr>
            <a:r>
              <a:rPr lang="en-US" sz="1700" b="1" dirty="0">
                <a:solidFill>
                  <a:srgbClr val="1C67B5"/>
                </a:solidFill>
                <a:latin typeface="Aptos" pitchFamily="34" charset="0"/>
                <a:ea typeface="Aptos" pitchFamily="34" charset="-122"/>
                <a:cs typeface="Aptos" pitchFamily="34" charset="-120"/>
              </a:rPr>
              <a:t>32</a:t>
            </a:r>
            <a:endParaRPr lang="en-US" sz="1700" dirty="0"/>
          </a:p>
        </p:txBody>
      </p:sp>
      <p:sp>
        <p:nvSpPr>
          <p:cNvPr id="25" name="Text 23"/>
          <p:cNvSpPr/>
          <p:nvPr/>
        </p:nvSpPr>
        <p:spPr>
          <a:xfrm>
            <a:off x="1252728" y="4325112"/>
            <a:ext cx="92354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physical NOAA events</a:t>
            </a:r>
            <a:endParaRPr lang="en-US" sz="880" dirty="0"/>
          </a:p>
        </p:txBody>
      </p:sp>
      <p:sp>
        <p:nvSpPr>
          <p:cNvPr id="26" name="Shape 24"/>
          <p:cNvSpPr/>
          <p:nvPr/>
        </p:nvSpPr>
        <p:spPr>
          <a:xfrm>
            <a:off x="2395728" y="3977640"/>
            <a:ext cx="1051560" cy="658368"/>
          </a:xfrm>
          <a:prstGeom prst="roundRect">
            <a:avLst>
              <a:gd name="adj" fmla="val 11111"/>
            </a:avLst>
          </a:prstGeom>
          <a:solidFill>
            <a:srgbClr val="FFFFFF"/>
          </a:solidFill>
          <a:ln w="12700">
            <a:solidFill>
              <a:srgbClr val="D3E4F3"/>
            </a:solidFill>
            <a:prstDash val="solid"/>
          </a:ln>
        </p:spPr>
      </p:sp>
      <p:sp>
        <p:nvSpPr>
          <p:cNvPr id="27" name="Text 25"/>
          <p:cNvSpPr/>
          <p:nvPr/>
        </p:nvSpPr>
        <p:spPr>
          <a:xfrm>
            <a:off x="2441448" y="4041648"/>
            <a:ext cx="960120" cy="256032"/>
          </a:xfrm>
          <a:prstGeom prst="rect">
            <a:avLst/>
          </a:prstGeom>
          <a:noFill/>
          <a:ln/>
        </p:spPr>
        <p:txBody>
          <a:bodyPr wrap="square" lIns="508" tIns="508" rIns="508" bIns="508" rtlCol="0" anchor="ctr">
            <a:normAutofit/>
          </a:bodyPr>
          <a:lstStyle/>
          <a:p>
            <a:pPr algn="ctr" indent="0" marL="0">
              <a:buNone/>
            </a:pPr>
            <a:r>
              <a:rPr lang="en-US" sz="1700" b="1" dirty="0">
                <a:solidFill>
                  <a:srgbClr val="1C67B5"/>
                </a:solidFill>
                <a:latin typeface="Aptos" pitchFamily="34" charset="0"/>
                <a:ea typeface="Aptos" pitchFamily="34" charset="-122"/>
                <a:cs typeface="Aptos" pitchFamily="34" charset="-120"/>
              </a:rPr>
              <a:t>31</a:t>
            </a:r>
            <a:endParaRPr lang="en-US" sz="1700" dirty="0"/>
          </a:p>
        </p:txBody>
      </p:sp>
      <p:sp>
        <p:nvSpPr>
          <p:cNvPr id="28" name="Text 26"/>
          <p:cNvSpPr/>
          <p:nvPr/>
        </p:nvSpPr>
        <p:spPr>
          <a:xfrm>
            <a:off x="2459736" y="4325112"/>
            <a:ext cx="92354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ML eligible</a:t>
            </a:r>
            <a:endParaRPr lang="en-US" sz="880" dirty="0"/>
          </a:p>
        </p:txBody>
      </p:sp>
      <p:sp>
        <p:nvSpPr>
          <p:cNvPr id="29" name="Shape 27"/>
          <p:cNvSpPr/>
          <p:nvPr/>
        </p:nvSpPr>
        <p:spPr>
          <a:xfrm>
            <a:off x="3602736" y="3977640"/>
            <a:ext cx="1051560" cy="658368"/>
          </a:xfrm>
          <a:prstGeom prst="roundRect">
            <a:avLst>
              <a:gd name="adj" fmla="val 11111"/>
            </a:avLst>
          </a:prstGeom>
          <a:solidFill>
            <a:srgbClr val="FFFFFF"/>
          </a:solidFill>
          <a:ln w="12700">
            <a:solidFill>
              <a:srgbClr val="D3E4F3"/>
            </a:solidFill>
            <a:prstDash val="solid"/>
          </a:ln>
        </p:spPr>
      </p:sp>
      <p:sp>
        <p:nvSpPr>
          <p:cNvPr id="30" name="Text 28"/>
          <p:cNvSpPr/>
          <p:nvPr/>
        </p:nvSpPr>
        <p:spPr>
          <a:xfrm>
            <a:off x="3648456" y="4041648"/>
            <a:ext cx="960120" cy="256032"/>
          </a:xfrm>
          <a:prstGeom prst="rect">
            <a:avLst/>
          </a:prstGeom>
          <a:noFill/>
          <a:ln/>
        </p:spPr>
        <p:txBody>
          <a:bodyPr wrap="square" lIns="508" tIns="508" rIns="508" bIns="508" rtlCol="0" anchor="ctr">
            <a:normAutofit/>
          </a:bodyPr>
          <a:lstStyle/>
          <a:p>
            <a:pPr algn="ctr" indent="0" marL="0">
              <a:buNone/>
            </a:pPr>
            <a:r>
              <a:rPr lang="en-US" sz="1700" b="1" dirty="0">
                <a:solidFill>
                  <a:srgbClr val="E86F1C"/>
                </a:solidFill>
                <a:latin typeface="Aptos" pitchFamily="34" charset="0"/>
                <a:ea typeface="Aptos" pitchFamily="34" charset="-122"/>
                <a:cs typeface="Aptos" pitchFamily="34" charset="-120"/>
              </a:rPr>
              <a:t>1</a:t>
            </a:r>
            <a:endParaRPr lang="en-US" sz="1700" dirty="0"/>
          </a:p>
        </p:txBody>
      </p:sp>
      <p:sp>
        <p:nvSpPr>
          <p:cNvPr id="31" name="Text 29"/>
          <p:cNvSpPr/>
          <p:nvPr/>
        </p:nvSpPr>
        <p:spPr>
          <a:xfrm>
            <a:off x="3666744" y="4325112"/>
            <a:ext cx="923544" cy="182880"/>
          </a:xfrm>
          <a:prstGeom prst="rect">
            <a:avLst/>
          </a:prstGeom>
          <a:noFill/>
          <a:ln/>
        </p:spPr>
        <p:txBody>
          <a:bodyPr wrap="square" lIns="508" tIns="508" rIns="508" bIns="508" rtlCol="0" anchor="ctr">
            <a:normAutofit/>
          </a:bodyPr>
          <a:lstStyle/>
          <a:p>
            <a:pPr algn="ctr" indent="0" marL="0">
              <a:buNone/>
            </a:pPr>
            <a:r>
              <a:rPr lang="en-US" sz="880" dirty="0">
                <a:solidFill>
                  <a:srgbClr val="637B93"/>
                </a:solidFill>
                <a:latin typeface="Aptos" pitchFamily="34" charset="0"/>
                <a:ea typeface="Aptos" pitchFamily="34" charset="-122"/>
                <a:cs typeface="Aptos" pitchFamily="34" charset="-120"/>
              </a:rPr>
              <a:t>U excluded</a:t>
            </a:r>
            <a:endParaRPr lang="en-US" sz="880" dirty="0"/>
          </a:p>
        </p:txBody>
      </p:sp>
      <p:sp>
        <p:nvSpPr>
          <p:cNvPr id="32" name="Text 30"/>
          <p:cNvSpPr/>
          <p:nvPr/>
        </p:nvSpPr>
        <p:spPr>
          <a:xfrm>
            <a:off x="1234440" y="4828032"/>
            <a:ext cx="1417320" cy="201168"/>
          </a:xfrm>
          <a:prstGeom prst="rect">
            <a:avLst/>
          </a:prstGeom>
          <a:noFill/>
          <a:ln/>
        </p:spPr>
        <p:txBody>
          <a:bodyPr wrap="square" lIns="508" tIns="508" rIns="508" bIns="508" rtlCol="0" anchor="ctr">
            <a:normAutofit/>
          </a:bodyPr>
          <a:lstStyle/>
          <a:p>
            <a:pPr algn="l" indent="0" marL="0">
              <a:buNone/>
            </a:pPr>
            <a:r>
              <a:rPr lang="en-US" sz="1000" dirty="0">
                <a:solidFill>
                  <a:srgbClr val="637B93"/>
                </a:solidFill>
                <a:latin typeface="Aptos" pitchFamily="34" charset="0"/>
                <a:ea typeface="Aptos" pitchFamily="34" charset="-122"/>
                <a:cs typeface="Aptos" pitchFamily="34" charset="-120"/>
              </a:rPr>
              <a:t>Class distribution</a:t>
            </a:r>
            <a:endParaRPr lang="en-US" sz="1000" dirty="0"/>
          </a:p>
        </p:txBody>
      </p:sp>
      <p:sp>
        <p:nvSpPr>
          <p:cNvPr id="33" name="Text 31"/>
          <p:cNvSpPr/>
          <p:nvPr/>
        </p:nvSpPr>
        <p:spPr>
          <a:xfrm>
            <a:off x="2788920" y="4809744"/>
            <a:ext cx="777240" cy="219456"/>
          </a:xfrm>
          <a:prstGeom prst="rect">
            <a:avLst/>
          </a:prstGeom>
          <a:noFill/>
          <a:ln/>
        </p:spPr>
        <p:txBody>
          <a:bodyPr wrap="square" lIns="508" tIns="508" rIns="508" bIns="508" rtlCol="0" anchor="ctr">
            <a:normAutofit/>
          </a:bodyPr>
          <a:lstStyle/>
          <a:p>
            <a:pPr algn="l" indent="0" marL="0">
              <a:buNone/>
            </a:pPr>
            <a:r>
              <a:rPr lang="en-US" sz="1250" b="1" dirty="0">
                <a:solidFill>
                  <a:srgbClr val="1C67B5"/>
                </a:solidFill>
                <a:latin typeface="Aptos" pitchFamily="34" charset="0"/>
                <a:ea typeface="Aptos" pitchFamily="34" charset="-122"/>
                <a:cs typeface="Aptos" pitchFamily="34" charset="-120"/>
              </a:rPr>
              <a:t>B = 13</a:t>
            </a:r>
            <a:endParaRPr lang="en-US" sz="1250" dirty="0"/>
          </a:p>
        </p:txBody>
      </p:sp>
      <p:sp>
        <p:nvSpPr>
          <p:cNvPr id="34" name="Text 32"/>
          <p:cNvSpPr/>
          <p:nvPr/>
        </p:nvSpPr>
        <p:spPr>
          <a:xfrm>
            <a:off x="3767328" y="4809744"/>
            <a:ext cx="960120" cy="219456"/>
          </a:xfrm>
          <a:prstGeom prst="rect">
            <a:avLst/>
          </a:prstGeom>
          <a:noFill/>
          <a:ln/>
        </p:spPr>
        <p:txBody>
          <a:bodyPr wrap="square" lIns="508" tIns="508" rIns="508" bIns="508" rtlCol="0" anchor="ctr">
            <a:normAutofit/>
          </a:bodyPr>
          <a:lstStyle/>
          <a:p>
            <a:pPr algn="l" indent="0" marL="0">
              <a:buNone/>
            </a:pPr>
            <a:r>
              <a:rPr lang="en-US" sz="1250" b="1" dirty="0">
                <a:solidFill>
                  <a:srgbClr val="E9A21B"/>
                </a:solidFill>
                <a:latin typeface="Aptos" pitchFamily="34" charset="0"/>
                <a:ea typeface="Aptos" pitchFamily="34" charset="-122"/>
                <a:cs typeface="Aptos" pitchFamily="34" charset="-120"/>
              </a:rPr>
              <a:t>C+ = 18</a:t>
            </a:r>
            <a:endParaRPr lang="en-US" sz="1250" dirty="0"/>
          </a:p>
        </p:txBody>
      </p:sp>
      <p:sp>
        <p:nvSpPr>
          <p:cNvPr id="35" name="Shape 33"/>
          <p:cNvSpPr/>
          <p:nvPr/>
        </p:nvSpPr>
        <p:spPr>
          <a:xfrm>
            <a:off x="5376672" y="3154680"/>
            <a:ext cx="5532120" cy="2468880"/>
          </a:xfrm>
          <a:prstGeom prst="roundRect">
            <a:avLst>
              <a:gd name="adj" fmla="val 2963"/>
            </a:avLst>
          </a:prstGeom>
          <a:solidFill>
            <a:srgbClr val="FFFFFF"/>
          </a:solidFill>
          <a:ln w="12700">
            <a:solidFill>
              <a:srgbClr val="BDD7EC"/>
            </a:solidFill>
            <a:prstDash val="solid"/>
          </a:ln>
        </p:spPr>
      </p:sp>
      <p:sp>
        <p:nvSpPr>
          <p:cNvPr id="36" name="Text 34"/>
          <p:cNvSpPr/>
          <p:nvPr/>
        </p:nvSpPr>
        <p:spPr>
          <a:xfrm>
            <a:off x="5687568" y="3429000"/>
            <a:ext cx="4892040" cy="274320"/>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Why physical-event deduplication matters</a:t>
            </a:r>
            <a:endParaRPr lang="en-US" sz="1700" dirty="0"/>
          </a:p>
        </p:txBody>
      </p:sp>
      <p:sp>
        <p:nvSpPr>
          <p:cNvPr id="37" name="Text 35"/>
          <p:cNvSpPr/>
          <p:nvPr/>
        </p:nvSpPr>
        <p:spPr>
          <a:xfrm>
            <a:off x="5696712" y="3977640"/>
            <a:ext cx="4846320" cy="1261872"/>
          </a:xfrm>
          <a:prstGeom prst="rect">
            <a:avLst/>
          </a:prstGeom>
          <a:noFill/>
          <a:ln/>
        </p:spPr>
        <p:txBody>
          <a:bodyPr wrap="square" lIns="508" tIns="508" rIns="508" bIns="508" rtlCol="0" anchor="ctr">
            <a:normAutofit/>
          </a:bodyPr>
          <a:lstStyle/>
          <a:p>
            <a:pPr marL="177800" indent="-177800">
              <a:buSzPct val="100000"/>
              <a:buChar char="•"/>
            </a:pPr>
            <a:r>
              <a:rPr lang="en-US" sz="1230" dirty="0">
                <a:solidFill>
                  <a:srgbClr val="18334F"/>
                </a:solidFill>
                <a:latin typeface="Aptos" pitchFamily="34" charset="0"/>
                <a:ea typeface="Aptos" pitchFamily="34" charset="-122"/>
                <a:cs typeface="Aptos" pitchFamily="34" charset="-120"/>
              </a:rPr>
              <a:t>The original labeled table contained repeated detections for three NOAA events.</a:t>
            </a:r>
            <a:endParaRPr lang="en-US" sz="1230" dirty="0"/>
          </a:p>
          <a:p>
            <a:pPr marL="177800" indent="-177800">
              <a:buSzPct val="100000"/>
              <a:buChar char="•"/>
            </a:pPr>
            <a:r>
              <a:rPr lang="en-US" sz="1230" dirty="0">
                <a:solidFill>
                  <a:srgbClr val="18334F"/>
                </a:solidFill>
                <a:latin typeface="Aptos" pitchFamily="34" charset="0"/>
                <a:ea typeface="Aptos" pitchFamily="34" charset="-122"/>
                <a:cs typeface="Aptos" pitchFamily="34" charset="-120"/>
              </a:rPr>
              <a:t>Multiple rows from one physical event are not independent training examples.</a:t>
            </a:r>
            <a:endParaRPr lang="en-US" sz="1230" dirty="0"/>
          </a:p>
          <a:p>
            <a:pPr marL="177800" indent="-177800">
              <a:buSzPct val="100000"/>
              <a:buChar char="•"/>
            </a:pPr>
            <a:r>
              <a:rPr lang="en-US" sz="1230" dirty="0">
                <a:solidFill>
                  <a:srgbClr val="18334F"/>
                </a:solidFill>
                <a:latin typeface="Aptos" pitchFamily="34" charset="0"/>
                <a:ea typeface="Aptos" pitchFamily="34" charset="-122"/>
                <a:cs typeface="Aptos" pitchFamily="34" charset="-120"/>
              </a:rPr>
              <a:t>Deduplication keeps one row per physical NOAA event before supervised ML.</a:t>
            </a:r>
            <a:endParaRPr lang="en-US" sz="1230" dirty="0"/>
          </a:p>
        </p:txBody>
      </p:sp>
      <p:sp>
        <p:nvSpPr>
          <p:cNvPr id="38" name="Shape 36"/>
          <p:cNvSpPr/>
          <p:nvPr/>
        </p:nvSpPr>
        <p:spPr>
          <a:xfrm>
            <a:off x="6537960" y="5138928"/>
            <a:ext cx="3246120" cy="347472"/>
          </a:xfrm>
          <a:prstGeom prst="roundRect">
            <a:avLst>
              <a:gd name="adj" fmla="val 21053"/>
            </a:avLst>
          </a:prstGeom>
          <a:solidFill>
            <a:srgbClr val="FFF8E6"/>
          </a:solidFill>
          <a:ln w="12700">
            <a:solidFill>
              <a:srgbClr val="E9A21B"/>
            </a:solidFill>
            <a:prstDash val="solid"/>
          </a:ln>
        </p:spPr>
      </p:sp>
      <p:sp>
        <p:nvSpPr>
          <p:cNvPr id="39" name="Text 37"/>
          <p:cNvSpPr/>
          <p:nvPr/>
        </p:nvSpPr>
        <p:spPr>
          <a:xfrm>
            <a:off x="6647688" y="5212080"/>
            <a:ext cx="3026664" cy="201168"/>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One physical event = one supervised row</a:t>
            </a:r>
            <a:endParaRPr lang="en-US" sz="1150" dirty="0"/>
          </a:p>
        </p:txBody>
      </p:sp>
      <p:sp>
        <p:nvSpPr>
          <p:cNvPr id="40" name="Shape 38"/>
          <p:cNvSpPr/>
          <p:nvPr/>
        </p:nvSpPr>
        <p:spPr>
          <a:xfrm>
            <a:off x="2514600" y="5870448"/>
            <a:ext cx="6903720" cy="384048"/>
          </a:xfrm>
          <a:prstGeom prst="roundRect">
            <a:avLst>
              <a:gd name="adj" fmla="val 19048"/>
            </a:avLst>
          </a:prstGeom>
          <a:solidFill>
            <a:srgbClr val="FFF4F4"/>
          </a:solidFill>
          <a:ln w="12700">
            <a:solidFill>
              <a:srgbClr val="C73B3B"/>
            </a:solidFill>
            <a:prstDash val="solid"/>
          </a:ln>
        </p:spPr>
      </p:sp>
      <p:sp>
        <p:nvSpPr>
          <p:cNvPr id="41" name="Text 39"/>
          <p:cNvSpPr/>
          <p:nvPr/>
        </p:nvSpPr>
        <p:spPr>
          <a:xfrm>
            <a:off x="2624328" y="5943600"/>
            <a:ext cx="6684264" cy="23774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This is nowcasting at t_pred = t_peak — not future-flare forecasting.</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sp>
        <p:nvSpPr>
          <p:cNvPr id="4" name="Text 2"/>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How Did We Test the Classification Experiment?</a:t>
            </a:r>
            <a:endParaRPr lang="en-US" sz="2500" dirty="0"/>
          </a:p>
        </p:txBody>
      </p:sp>
      <p:sp>
        <p:nvSpPr>
          <p:cNvPr id="5" name="Text 3"/>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Chronological train / development / final-test design</a:t>
            </a:r>
            <a:endParaRPr lang="en-US" sz="1450" dirty="0"/>
          </a:p>
        </p:txBody>
      </p:sp>
      <p:sp>
        <p:nvSpPr>
          <p:cNvPr id="6" name="Text 4"/>
          <p:cNvSpPr/>
          <p:nvPr/>
        </p:nvSpPr>
        <p:spPr>
          <a:xfrm>
            <a:off x="868680" y="1325880"/>
            <a:ext cx="3657600" cy="274320"/>
          </a:xfrm>
          <a:prstGeom prst="rect">
            <a:avLst/>
          </a:prstGeom>
          <a:noFill/>
          <a:ln/>
        </p:spPr>
        <p:txBody>
          <a:bodyPr wrap="square" lIns="508" tIns="508" rIns="508" bIns="508" rtlCol="0" anchor="ctr">
            <a:normAutofit/>
          </a:bodyPr>
          <a:lstStyle/>
          <a:p>
            <a:pPr algn="l" indent="0" marL="0">
              <a:buNone/>
            </a:pPr>
            <a:r>
              <a:rPr lang="en-US" sz="1600" b="1" dirty="0">
                <a:solidFill>
                  <a:srgbClr val="0B1F5B"/>
                </a:solidFill>
                <a:latin typeface="Georgia" pitchFamily="34" charset="0"/>
                <a:ea typeface="Georgia" pitchFamily="34" charset="-122"/>
                <a:cs typeface="Georgia" pitchFamily="34" charset="-120"/>
              </a:rPr>
              <a:t>31 independent ML events in chronological order</a:t>
            </a:r>
            <a:endParaRPr lang="en-US" sz="1600" dirty="0"/>
          </a:p>
        </p:txBody>
      </p:sp>
      <p:sp>
        <p:nvSpPr>
          <p:cNvPr id="7" name="Shape 5"/>
          <p:cNvSpPr/>
          <p:nvPr/>
        </p:nvSpPr>
        <p:spPr>
          <a:xfrm>
            <a:off x="896112" y="1965960"/>
            <a:ext cx="146304" cy="146304"/>
          </a:xfrm>
          <a:prstGeom prst="ellipse">
            <a:avLst/>
          </a:prstGeom>
          <a:solidFill>
            <a:srgbClr val="E9A21B"/>
          </a:solidFill>
          <a:ln w="12700">
            <a:solidFill>
              <a:srgbClr val="E9A21B"/>
            </a:solidFill>
            <a:prstDash val="solid"/>
          </a:ln>
        </p:spPr>
      </p:sp>
      <p:sp>
        <p:nvSpPr>
          <p:cNvPr id="8" name="Shape 6"/>
          <p:cNvSpPr/>
          <p:nvPr/>
        </p:nvSpPr>
        <p:spPr>
          <a:xfrm>
            <a:off x="1234440" y="1965960"/>
            <a:ext cx="146304" cy="146304"/>
          </a:xfrm>
          <a:prstGeom prst="ellipse">
            <a:avLst/>
          </a:prstGeom>
          <a:solidFill>
            <a:srgbClr val="E9A21B"/>
          </a:solidFill>
          <a:ln w="12700">
            <a:solidFill>
              <a:srgbClr val="E9A21B"/>
            </a:solidFill>
            <a:prstDash val="solid"/>
          </a:ln>
        </p:spPr>
      </p:sp>
      <p:sp>
        <p:nvSpPr>
          <p:cNvPr id="9" name="Shape 7"/>
          <p:cNvSpPr/>
          <p:nvPr/>
        </p:nvSpPr>
        <p:spPr>
          <a:xfrm>
            <a:off x="1572768" y="1965960"/>
            <a:ext cx="146304" cy="146304"/>
          </a:xfrm>
          <a:prstGeom prst="ellipse">
            <a:avLst/>
          </a:prstGeom>
          <a:solidFill>
            <a:srgbClr val="1C67B5"/>
          </a:solidFill>
          <a:ln w="12700">
            <a:solidFill>
              <a:srgbClr val="1C67B5"/>
            </a:solidFill>
            <a:prstDash val="solid"/>
          </a:ln>
        </p:spPr>
      </p:sp>
      <p:sp>
        <p:nvSpPr>
          <p:cNvPr id="10" name="Shape 8"/>
          <p:cNvSpPr/>
          <p:nvPr/>
        </p:nvSpPr>
        <p:spPr>
          <a:xfrm>
            <a:off x="1911096" y="1965960"/>
            <a:ext cx="146304" cy="146304"/>
          </a:xfrm>
          <a:prstGeom prst="ellipse">
            <a:avLst/>
          </a:prstGeom>
          <a:solidFill>
            <a:srgbClr val="1C67B5"/>
          </a:solidFill>
          <a:ln w="12700">
            <a:solidFill>
              <a:srgbClr val="1C67B5"/>
            </a:solidFill>
            <a:prstDash val="solid"/>
          </a:ln>
        </p:spPr>
      </p:sp>
      <p:sp>
        <p:nvSpPr>
          <p:cNvPr id="11" name="Shape 9"/>
          <p:cNvSpPr/>
          <p:nvPr/>
        </p:nvSpPr>
        <p:spPr>
          <a:xfrm>
            <a:off x="2249424" y="1965960"/>
            <a:ext cx="146304" cy="146304"/>
          </a:xfrm>
          <a:prstGeom prst="ellipse">
            <a:avLst/>
          </a:prstGeom>
          <a:solidFill>
            <a:srgbClr val="E9A21B"/>
          </a:solidFill>
          <a:ln w="12700">
            <a:solidFill>
              <a:srgbClr val="E9A21B"/>
            </a:solidFill>
            <a:prstDash val="solid"/>
          </a:ln>
        </p:spPr>
      </p:sp>
      <p:sp>
        <p:nvSpPr>
          <p:cNvPr id="12" name="Shape 10"/>
          <p:cNvSpPr/>
          <p:nvPr/>
        </p:nvSpPr>
        <p:spPr>
          <a:xfrm>
            <a:off x="2587752" y="1965960"/>
            <a:ext cx="146304" cy="146304"/>
          </a:xfrm>
          <a:prstGeom prst="ellipse">
            <a:avLst/>
          </a:prstGeom>
          <a:solidFill>
            <a:srgbClr val="E9A21B"/>
          </a:solidFill>
          <a:ln w="12700">
            <a:solidFill>
              <a:srgbClr val="E9A21B"/>
            </a:solidFill>
            <a:prstDash val="solid"/>
          </a:ln>
        </p:spPr>
      </p:sp>
      <p:sp>
        <p:nvSpPr>
          <p:cNvPr id="13" name="Shape 11"/>
          <p:cNvSpPr/>
          <p:nvPr/>
        </p:nvSpPr>
        <p:spPr>
          <a:xfrm>
            <a:off x="2926080" y="1965960"/>
            <a:ext cx="146304" cy="146304"/>
          </a:xfrm>
          <a:prstGeom prst="ellipse">
            <a:avLst/>
          </a:prstGeom>
          <a:solidFill>
            <a:srgbClr val="E9A21B"/>
          </a:solidFill>
          <a:ln w="12700">
            <a:solidFill>
              <a:srgbClr val="E9A21B"/>
            </a:solidFill>
            <a:prstDash val="solid"/>
          </a:ln>
        </p:spPr>
      </p:sp>
      <p:sp>
        <p:nvSpPr>
          <p:cNvPr id="14" name="Shape 12"/>
          <p:cNvSpPr/>
          <p:nvPr/>
        </p:nvSpPr>
        <p:spPr>
          <a:xfrm>
            <a:off x="3264408" y="1965960"/>
            <a:ext cx="146304" cy="146304"/>
          </a:xfrm>
          <a:prstGeom prst="ellipse">
            <a:avLst/>
          </a:prstGeom>
          <a:solidFill>
            <a:srgbClr val="E9A21B"/>
          </a:solidFill>
          <a:ln w="12700">
            <a:solidFill>
              <a:srgbClr val="E9A21B"/>
            </a:solidFill>
            <a:prstDash val="solid"/>
          </a:ln>
        </p:spPr>
      </p:sp>
      <p:sp>
        <p:nvSpPr>
          <p:cNvPr id="15" name="Shape 13"/>
          <p:cNvSpPr/>
          <p:nvPr/>
        </p:nvSpPr>
        <p:spPr>
          <a:xfrm>
            <a:off x="3602736" y="1965960"/>
            <a:ext cx="146304" cy="146304"/>
          </a:xfrm>
          <a:prstGeom prst="ellipse">
            <a:avLst/>
          </a:prstGeom>
          <a:solidFill>
            <a:srgbClr val="1C67B5"/>
          </a:solidFill>
          <a:ln w="12700">
            <a:solidFill>
              <a:srgbClr val="1C67B5"/>
            </a:solidFill>
            <a:prstDash val="solid"/>
          </a:ln>
        </p:spPr>
      </p:sp>
      <p:sp>
        <p:nvSpPr>
          <p:cNvPr id="16" name="Shape 14"/>
          <p:cNvSpPr/>
          <p:nvPr/>
        </p:nvSpPr>
        <p:spPr>
          <a:xfrm>
            <a:off x="3941064" y="1965960"/>
            <a:ext cx="146304" cy="146304"/>
          </a:xfrm>
          <a:prstGeom prst="ellipse">
            <a:avLst/>
          </a:prstGeom>
          <a:solidFill>
            <a:srgbClr val="E9A21B"/>
          </a:solidFill>
          <a:ln w="12700">
            <a:solidFill>
              <a:srgbClr val="E9A21B"/>
            </a:solidFill>
            <a:prstDash val="solid"/>
          </a:ln>
        </p:spPr>
      </p:sp>
      <p:sp>
        <p:nvSpPr>
          <p:cNvPr id="17" name="Shape 15"/>
          <p:cNvSpPr/>
          <p:nvPr/>
        </p:nvSpPr>
        <p:spPr>
          <a:xfrm>
            <a:off x="4279392" y="1965960"/>
            <a:ext cx="146304" cy="146304"/>
          </a:xfrm>
          <a:prstGeom prst="ellipse">
            <a:avLst/>
          </a:prstGeom>
          <a:solidFill>
            <a:srgbClr val="E9A21B"/>
          </a:solidFill>
          <a:ln w="12700">
            <a:solidFill>
              <a:srgbClr val="E9A21B"/>
            </a:solidFill>
            <a:prstDash val="solid"/>
          </a:ln>
        </p:spPr>
      </p:sp>
      <p:sp>
        <p:nvSpPr>
          <p:cNvPr id="18" name="Shape 16"/>
          <p:cNvSpPr/>
          <p:nvPr/>
        </p:nvSpPr>
        <p:spPr>
          <a:xfrm>
            <a:off x="4617720" y="1965960"/>
            <a:ext cx="146304" cy="146304"/>
          </a:xfrm>
          <a:prstGeom prst="ellipse">
            <a:avLst/>
          </a:prstGeom>
          <a:solidFill>
            <a:srgbClr val="1C67B5"/>
          </a:solidFill>
          <a:ln w="12700">
            <a:solidFill>
              <a:srgbClr val="1C67B5"/>
            </a:solidFill>
            <a:prstDash val="solid"/>
          </a:ln>
        </p:spPr>
      </p:sp>
      <p:sp>
        <p:nvSpPr>
          <p:cNvPr id="19" name="Shape 17"/>
          <p:cNvSpPr/>
          <p:nvPr/>
        </p:nvSpPr>
        <p:spPr>
          <a:xfrm>
            <a:off x="4956048" y="1965960"/>
            <a:ext cx="146304" cy="146304"/>
          </a:xfrm>
          <a:prstGeom prst="ellipse">
            <a:avLst/>
          </a:prstGeom>
          <a:solidFill>
            <a:srgbClr val="1C67B5"/>
          </a:solidFill>
          <a:ln w="12700">
            <a:solidFill>
              <a:srgbClr val="1C67B5"/>
            </a:solidFill>
            <a:prstDash val="solid"/>
          </a:ln>
        </p:spPr>
      </p:sp>
      <p:sp>
        <p:nvSpPr>
          <p:cNvPr id="20" name="Shape 18"/>
          <p:cNvSpPr/>
          <p:nvPr/>
        </p:nvSpPr>
        <p:spPr>
          <a:xfrm>
            <a:off x="5294376" y="1965960"/>
            <a:ext cx="146304" cy="146304"/>
          </a:xfrm>
          <a:prstGeom prst="ellipse">
            <a:avLst/>
          </a:prstGeom>
          <a:solidFill>
            <a:srgbClr val="E9A21B"/>
          </a:solidFill>
          <a:ln w="12700">
            <a:solidFill>
              <a:srgbClr val="E9A21B"/>
            </a:solidFill>
            <a:prstDash val="solid"/>
          </a:ln>
        </p:spPr>
      </p:sp>
      <p:sp>
        <p:nvSpPr>
          <p:cNvPr id="21" name="Shape 19"/>
          <p:cNvSpPr/>
          <p:nvPr/>
        </p:nvSpPr>
        <p:spPr>
          <a:xfrm>
            <a:off x="5632704" y="1965960"/>
            <a:ext cx="146304" cy="146304"/>
          </a:xfrm>
          <a:prstGeom prst="ellipse">
            <a:avLst/>
          </a:prstGeom>
          <a:solidFill>
            <a:srgbClr val="E9A21B"/>
          </a:solidFill>
          <a:ln w="12700">
            <a:solidFill>
              <a:srgbClr val="E9A21B"/>
            </a:solidFill>
            <a:prstDash val="solid"/>
          </a:ln>
        </p:spPr>
      </p:sp>
      <p:sp>
        <p:nvSpPr>
          <p:cNvPr id="22" name="Shape 20"/>
          <p:cNvSpPr/>
          <p:nvPr/>
        </p:nvSpPr>
        <p:spPr>
          <a:xfrm>
            <a:off x="5971032" y="1965960"/>
            <a:ext cx="146304" cy="146304"/>
          </a:xfrm>
          <a:prstGeom prst="ellipse">
            <a:avLst/>
          </a:prstGeom>
          <a:solidFill>
            <a:srgbClr val="1C67B5"/>
          </a:solidFill>
          <a:ln w="12700">
            <a:solidFill>
              <a:srgbClr val="1C67B5"/>
            </a:solidFill>
            <a:prstDash val="solid"/>
          </a:ln>
        </p:spPr>
      </p:sp>
      <p:sp>
        <p:nvSpPr>
          <p:cNvPr id="23" name="Shape 21"/>
          <p:cNvSpPr/>
          <p:nvPr/>
        </p:nvSpPr>
        <p:spPr>
          <a:xfrm>
            <a:off x="6309360" y="1965960"/>
            <a:ext cx="146304" cy="146304"/>
          </a:xfrm>
          <a:prstGeom prst="ellipse">
            <a:avLst/>
          </a:prstGeom>
          <a:solidFill>
            <a:srgbClr val="E9A21B"/>
          </a:solidFill>
          <a:ln w="12700">
            <a:solidFill>
              <a:srgbClr val="E9A21B"/>
            </a:solidFill>
            <a:prstDash val="solid"/>
          </a:ln>
        </p:spPr>
      </p:sp>
      <p:sp>
        <p:nvSpPr>
          <p:cNvPr id="24" name="Shape 22"/>
          <p:cNvSpPr/>
          <p:nvPr/>
        </p:nvSpPr>
        <p:spPr>
          <a:xfrm>
            <a:off x="6647688" y="1965960"/>
            <a:ext cx="146304" cy="146304"/>
          </a:xfrm>
          <a:prstGeom prst="ellipse">
            <a:avLst/>
          </a:prstGeom>
          <a:solidFill>
            <a:srgbClr val="1C67B5"/>
          </a:solidFill>
          <a:ln w="12700">
            <a:solidFill>
              <a:srgbClr val="1C67B5"/>
            </a:solidFill>
            <a:prstDash val="solid"/>
          </a:ln>
        </p:spPr>
      </p:sp>
      <p:sp>
        <p:nvSpPr>
          <p:cNvPr id="25" name="Shape 23"/>
          <p:cNvSpPr/>
          <p:nvPr/>
        </p:nvSpPr>
        <p:spPr>
          <a:xfrm>
            <a:off x="6986016" y="1965960"/>
            <a:ext cx="146304" cy="146304"/>
          </a:xfrm>
          <a:prstGeom prst="ellipse">
            <a:avLst/>
          </a:prstGeom>
          <a:solidFill>
            <a:srgbClr val="E9A21B"/>
          </a:solidFill>
          <a:ln w="12700">
            <a:solidFill>
              <a:srgbClr val="E9A21B"/>
            </a:solidFill>
            <a:prstDash val="solid"/>
          </a:ln>
        </p:spPr>
      </p:sp>
      <p:sp>
        <p:nvSpPr>
          <p:cNvPr id="26" name="Shape 24"/>
          <p:cNvSpPr/>
          <p:nvPr/>
        </p:nvSpPr>
        <p:spPr>
          <a:xfrm>
            <a:off x="7324344" y="1965960"/>
            <a:ext cx="146304" cy="146304"/>
          </a:xfrm>
          <a:prstGeom prst="ellipse">
            <a:avLst/>
          </a:prstGeom>
          <a:solidFill>
            <a:srgbClr val="E9A21B"/>
          </a:solidFill>
          <a:ln w="12700">
            <a:solidFill>
              <a:srgbClr val="E9A21B"/>
            </a:solidFill>
            <a:prstDash val="solid"/>
          </a:ln>
        </p:spPr>
      </p:sp>
      <p:sp>
        <p:nvSpPr>
          <p:cNvPr id="27" name="Shape 25"/>
          <p:cNvSpPr/>
          <p:nvPr/>
        </p:nvSpPr>
        <p:spPr>
          <a:xfrm>
            <a:off x="7662672" y="1965960"/>
            <a:ext cx="146304" cy="146304"/>
          </a:xfrm>
          <a:prstGeom prst="ellipse">
            <a:avLst/>
          </a:prstGeom>
          <a:solidFill>
            <a:srgbClr val="E9A21B"/>
          </a:solidFill>
          <a:ln w="12700">
            <a:solidFill>
              <a:srgbClr val="E9A21B"/>
            </a:solidFill>
            <a:prstDash val="solid"/>
          </a:ln>
        </p:spPr>
      </p:sp>
      <p:sp>
        <p:nvSpPr>
          <p:cNvPr id="28" name="Shape 26"/>
          <p:cNvSpPr/>
          <p:nvPr/>
        </p:nvSpPr>
        <p:spPr>
          <a:xfrm>
            <a:off x="8001000" y="1965960"/>
            <a:ext cx="146304" cy="146304"/>
          </a:xfrm>
          <a:prstGeom prst="ellipse">
            <a:avLst/>
          </a:prstGeom>
          <a:solidFill>
            <a:srgbClr val="1C67B5"/>
          </a:solidFill>
          <a:ln w="12700">
            <a:solidFill>
              <a:srgbClr val="1C67B5"/>
            </a:solidFill>
            <a:prstDash val="solid"/>
          </a:ln>
        </p:spPr>
      </p:sp>
      <p:sp>
        <p:nvSpPr>
          <p:cNvPr id="29" name="Shape 27"/>
          <p:cNvSpPr/>
          <p:nvPr/>
        </p:nvSpPr>
        <p:spPr>
          <a:xfrm>
            <a:off x="8339328" y="1965960"/>
            <a:ext cx="146304" cy="146304"/>
          </a:xfrm>
          <a:prstGeom prst="ellipse">
            <a:avLst/>
          </a:prstGeom>
          <a:solidFill>
            <a:srgbClr val="E9A21B"/>
          </a:solidFill>
          <a:ln w="12700">
            <a:solidFill>
              <a:srgbClr val="E9A21B"/>
            </a:solidFill>
            <a:prstDash val="solid"/>
          </a:ln>
        </p:spPr>
      </p:sp>
      <p:sp>
        <p:nvSpPr>
          <p:cNvPr id="30" name="Shape 28"/>
          <p:cNvSpPr/>
          <p:nvPr/>
        </p:nvSpPr>
        <p:spPr>
          <a:xfrm>
            <a:off x="8677656" y="1965960"/>
            <a:ext cx="146304" cy="146304"/>
          </a:xfrm>
          <a:prstGeom prst="ellipse">
            <a:avLst/>
          </a:prstGeom>
          <a:solidFill>
            <a:srgbClr val="E9A21B"/>
          </a:solidFill>
          <a:ln w="12700">
            <a:solidFill>
              <a:srgbClr val="E9A21B"/>
            </a:solidFill>
            <a:prstDash val="solid"/>
          </a:ln>
        </p:spPr>
      </p:sp>
      <p:sp>
        <p:nvSpPr>
          <p:cNvPr id="31" name="Shape 29"/>
          <p:cNvSpPr/>
          <p:nvPr/>
        </p:nvSpPr>
        <p:spPr>
          <a:xfrm>
            <a:off x="9015984" y="1965960"/>
            <a:ext cx="146304" cy="146304"/>
          </a:xfrm>
          <a:prstGeom prst="ellipse">
            <a:avLst/>
          </a:prstGeom>
          <a:solidFill>
            <a:srgbClr val="E9A21B"/>
          </a:solidFill>
          <a:ln w="12700">
            <a:solidFill>
              <a:srgbClr val="E9A21B"/>
            </a:solidFill>
            <a:prstDash val="solid"/>
          </a:ln>
        </p:spPr>
      </p:sp>
      <p:sp>
        <p:nvSpPr>
          <p:cNvPr id="32" name="Shape 30"/>
          <p:cNvSpPr/>
          <p:nvPr/>
        </p:nvSpPr>
        <p:spPr>
          <a:xfrm>
            <a:off x="9354312" y="1965960"/>
            <a:ext cx="146304" cy="146304"/>
          </a:xfrm>
          <a:prstGeom prst="ellipse">
            <a:avLst/>
          </a:prstGeom>
          <a:solidFill>
            <a:srgbClr val="1C67B5"/>
          </a:solidFill>
          <a:ln w="12700">
            <a:solidFill>
              <a:srgbClr val="1C67B5"/>
            </a:solidFill>
            <a:prstDash val="solid"/>
          </a:ln>
        </p:spPr>
      </p:sp>
      <p:sp>
        <p:nvSpPr>
          <p:cNvPr id="33" name="Shape 31"/>
          <p:cNvSpPr/>
          <p:nvPr/>
        </p:nvSpPr>
        <p:spPr>
          <a:xfrm>
            <a:off x="9692640" y="1965960"/>
            <a:ext cx="146304" cy="146304"/>
          </a:xfrm>
          <a:prstGeom prst="ellipse">
            <a:avLst/>
          </a:prstGeom>
          <a:solidFill>
            <a:srgbClr val="1C67B5"/>
          </a:solidFill>
          <a:ln w="12700">
            <a:solidFill>
              <a:srgbClr val="1C67B5"/>
            </a:solidFill>
            <a:prstDash val="solid"/>
          </a:ln>
        </p:spPr>
      </p:sp>
      <p:sp>
        <p:nvSpPr>
          <p:cNvPr id="34" name="Shape 32"/>
          <p:cNvSpPr/>
          <p:nvPr/>
        </p:nvSpPr>
        <p:spPr>
          <a:xfrm>
            <a:off x="10030968" y="1965960"/>
            <a:ext cx="146304" cy="146304"/>
          </a:xfrm>
          <a:prstGeom prst="ellipse">
            <a:avLst/>
          </a:prstGeom>
          <a:solidFill>
            <a:srgbClr val="E9A21B"/>
          </a:solidFill>
          <a:ln w="12700">
            <a:solidFill>
              <a:srgbClr val="E9A21B"/>
            </a:solidFill>
            <a:prstDash val="solid"/>
          </a:ln>
        </p:spPr>
      </p:sp>
      <p:sp>
        <p:nvSpPr>
          <p:cNvPr id="35" name="Shape 33"/>
          <p:cNvSpPr/>
          <p:nvPr/>
        </p:nvSpPr>
        <p:spPr>
          <a:xfrm>
            <a:off x="10369296" y="1965960"/>
            <a:ext cx="146304" cy="146304"/>
          </a:xfrm>
          <a:prstGeom prst="ellipse">
            <a:avLst/>
          </a:prstGeom>
          <a:solidFill>
            <a:srgbClr val="1C67B5"/>
          </a:solidFill>
          <a:ln w="12700">
            <a:solidFill>
              <a:srgbClr val="1C67B5"/>
            </a:solidFill>
            <a:prstDash val="solid"/>
          </a:ln>
        </p:spPr>
      </p:sp>
      <p:sp>
        <p:nvSpPr>
          <p:cNvPr id="36" name="Shape 34"/>
          <p:cNvSpPr/>
          <p:nvPr/>
        </p:nvSpPr>
        <p:spPr>
          <a:xfrm>
            <a:off x="10707624" y="1965960"/>
            <a:ext cx="146304" cy="146304"/>
          </a:xfrm>
          <a:prstGeom prst="ellipse">
            <a:avLst/>
          </a:prstGeom>
          <a:solidFill>
            <a:srgbClr val="1C67B5"/>
          </a:solidFill>
          <a:ln w="12700">
            <a:solidFill>
              <a:srgbClr val="1C67B5"/>
            </a:solidFill>
            <a:prstDash val="solid"/>
          </a:ln>
        </p:spPr>
      </p:sp>
      <p:sp>
        <p:nvSpPr>
          <p:cNvPr id="37" name="Shape 35"/>
          <p:cNvSpPr/>
          <p:nvPr/>
        </p:nvSpPr>
        <p:spPr>
          <a:xfrm>
            <a:off x="11045952" y="1965960"/>
            <a:ext cx="146304" cy="146304"/>
          </a:xfrm>
          <a:prstGeom prst="ellipse">
            <a:avLst/>
          </a:prstGeom>
          <a:solidFill>
            <a:srgbClr val="1C67B5"/>
          </a:solidFill>
          <a:ln w="12700">
            <a:solidFill>
              <a:srgbClr val="1C67B5"/>
            </a:solidFill>
            <a:prstDash val="solid"/>
          </a:ln>
        </p:spPr>
      </p:sp>
      <p:sp>
        <p:nvSpPr>
          <p:cNvPr id="38" name="Shape 36"/>
          <p:cNvSpPr/>
          <p:nvPr/>
        </p:nvSpPr>
        <p:spPr>
          <a:xfrm>
            <a:off x="896112" y="2039112"/>
            <a:ext cx="10277856" cy="0"/>
          </a:xfrm>
          <a:prstGeom prst="line">
            <a:avLst/>
          </a:prstGeom>
          <a:noFill/>
          <a:ln w="10160">
            <a:solidFill>
              <a:srgbClr val="A9BED1"/>
            </a:solidFill>
            <a:prstDash val="solid"/>
          </a:ln>
        </p:spPr>
      </p:sp>
      <p:sp>
        <p:nvSpPr>
          <p:cNvPr id="39" name="Shape 37"/>
          <p:cNvSpPr/>
          <p:nvPr/>
        </p:nvSpPr>
        <p:spPr>
          <a:xfrm>
            <a:off x="822960" y="1700784"/>
            <a:ext cx="6089904" cy="566928"/>
          </a:xfrm>
          <a:prstGeom prst="rect">
            <a:avLst/>
          </a:prstGeom>
          <a:solidFill>
            <a:srgbClr val="DDEEFF">
              <a:alpha val="68000"/>
            </a:srgbClr>
          </a:solidFill>
          <a:ln w="12700">
            <a:solidFill>
              <a:srgbClr val="DDEEFF">
                <a:alpha val="0"/>
              </a:srgbClr>
            </a:solidFill>
            <a:prstDash val="solid"/>
          </a:ln>
        </p:spPr>
      </p:sp>
      <p:sp>
        <p:nvSpPr>
          <p:cNvPr id="40" name="Shape 38"/>
          <p:cNvSpPr/>
          <p:nvPr/>
        </p:nvSpPr>
        <p:spPr>
          <a:xfrm>
            <a:off x="6912864" y="1700784"/>
            <a:ext cx="2029968" cy="566928"/>
          </a:xfrm>
          <a:prstGeom prst="rect">
            <a:avLst/>
          </a:prstGeom>
          <a:solidFill>
            <a:srgbClr val="E2F4E8">
              <a:alpha val="72000"/>
            </a:srgbClr>
          </a:solidFill>
          <a:ln w="12700">
            <a:solidFill>
              <a:srgbClr val="E2F4E8">
                <a:alpha val="0"/>
              </a:srgbClr>
            </a:solidFill>
            <a:prstDash val="solid"/>
          </a:ln>
        </p:spPr>
      </p:sp>
      <p:sp>
        <p:nvSpPr>
          <p:cNvPr id="41" name="Shape 39"/>
          <p:cNvSpPr/>
          <p:nvPr/>
        </p:nvSpPr>
        <p:spPr>
          <a:xfrm>
            <a:off x="8942832" y="1700784"/>
            <a:ext cx="2487168" cy="566928"/>
          </a:xfrm>
          <a:prstGeom prst="rect">
            <a:avLst/>
          </a:prstGeom>
          <a:solidFill>
            <a:srgbClr val="FBE6E6">
              <a:alpha val="75000"/>
            </a:srgbClr>
          </a:solidFill>
          <a:ln w="12700">
            <a:solidFill>
              <a:srgbClr val="FBE6E6">
                <a:alpha val="0"/>
              </a:srgbClr>
            </a:solidFill>
            <a:prstDash val="solid"/>
          </a:ln>
        </p:spPr>
      </p:sp>
      <p:sp>
        <p:nvSpPr>
          <p:cNvPr id="42" name="Text 40"/>
          <p:cNvSpPr/>
          <p:nvPr/>
        </p:nvSpPr>
        <p:spPr>
          <a:xfrm>
            <a:off x="2176272" y="1444752"/>
            <a:ext cx="3337560" cy="219456"/>
          </a:xfrm>
          <a:prstGeom prst="rect">
            <a:avLst/>
          </a:prstGeom>
          <a:noFill/>
          <a:ln/>
        </p:spPr>
        <p:txBody>
          <a:bodyPr wrap="square" lIns="508" tIns="508" rIns="508" bIns="508" rtlCol="0" anchor="ctr">
            <a:normAutofit/>
          </a:bodyPr>
          <a:lstStyle/>
          <a:p>
            <a:pPr algn="ctr" indent="0" marL="0">
              <a:buNone/>
            </a:pPr>
            <a:r>
              <a:rPr lang="en-US" sz="1240" b="1" dirty="0">
                <a:solidFill>
                  <a:srgbClr val="1C67B5"/>
                </a:solidFill>
                <a:latin typeface="Aptos" pitchFamily="34" charset="0"/>
                <a:ea typeface="Aptos" pitchFamily="34" charset="-122"/>
                <a:cs typeface="Aptos" pitchFamily="34" charset="-120"/>
              </a:rPr>
              <a:t>18 TRAIN  ·  7 B | 11 C+</a:t>
            </a:r>
            <a:endParaRPr lang="en-US" sz="1240" dirty="0"/>
          </a:p>
        </p:txBody>
      </p:sp>
      <p:sp>
        <p:nvSpPr>
          <p:cNvPr id="43" name="Text 41"/>
          <p:cNvSpPr/>
          <p:nvPr/>
        </p:nvSpPr>
        <p:spPr>
          <a:xfrm>
            <a:off x="6629400" y="1444752"/>
            <a:ext cx="2560320" cy="219456"/>
          </a:xfrm>
          <a:prstGeom prst="rect">
            <a:avLst/>
          </a:prstGeom>
          <a:noFill/>
          <a:ln/>
        </p:spPr>
        <p:txBody>
          <a:bodyPr wrap="square" lIns="508" tIns="508" rIns="508" bIns="508" rtlCol="0" anchor="ctr">
            <a:normAutofit/>
          </a:bodyPr>
          <a:lstStyle/>
          <a:p>
            <a:pPr algn="ctr" indent="0" marL="0">
              <a:buNone/>
            </a:pPr>
            <a:r>
              <a:rPr lang="en-US" sz="1180" b="1" dirty="0">
                <a:solidFill>
                  <a:srgbClr val="2E8B57"/>
                </a:solidFill>
                <a:latin typeface="Aptos" pitchFamily="34" charset="0"/>
                <a:ea typeface="Aptos" pitchFamily="34" charset="-122"/>
                <a:cs typeface="Aptos" pitchFamily="34" charset="-120"/>
              </a:rPr>
              <a:t>6 DEVELOPMENT  ·  1 B | 5 C+</a:t>
            </a:r>
            <a:endParaRPr lang="en-US" sz="1180" dirty="0"/>
          </a:p>
        </p:txBody>
      </p:sp>
      <p:sp>
        <p:nvSpPr>
          <p:cNvPr id="44" name="Text 42"/>
          <p:cNvSpPr/>
          <p:nvPr/>
        </p:nvSpPr>
        <p:spPr>
          <a:xfrm>
            <a:off x="8915400" y="1444752"/>
            <a:ext cx="2331720" cy="219456"/>
          </a:xfrm>
          <a:prstGeom prst="rect">
            <a:avLst/>
          </a:prstGeom>
          <a:noFill/>
          <a:ln/>
        </p:spPr>
        <p:txBody>
          <a:bodyPr wrap="square" lIns="508" tIns="508" rIns="508" bIns="508" rtlCol="0" anchor="ctr">
            <a:normAutofit/>
          </a:bodyPr>
          <a:lstStyle/>
          <a:p>
            <a:pPr algn="ctr" indent="0" marL="0">
              <a:buNone/>
            </a:pPr>
            <a:r>
              <a:rPr lang="en-US" sz="1180" b="1" dirty="0">
                <a:solidFill>
                  <a:srgbClr val="C73B3B"/>
                </a:solidFill>
                <a:latin typeface="Aptos" pitchFamily="34" charset="0"/>
                <a:ea typeface="Aptos" pitchFamily="34" charset="-122"/>
                <a:cs typeface="Aptos" pitchFamily="34" charset="-120"/>
              </a:rPr>
              <a:t>7 FINAL TEST  ·  5 B | 2 C+</a:t>
            </a:r>
            <a:endParaRPr lang="en-US" sz="1180" dirty="0"/>
          </a:p>
        </p:txBody>
      </p:sp>
      <p:sp>
        <p:nvSpPr>
          <p:cNvPr id="45" name="Shape 43"/>
          <p:cNvSpPr/>
          <p:nvPr/>
        </p:nvSpPr>
        <p:spPr>
          <a:xfrm>
            <a:off x="877824" y="2514600"/>
            <a:ext cx="3291840" cy="658368"/>
          </a:xfrm>
          <a:prstGeom prst="roundRect">
            <a:avLst>
              <a:gd name="adj" fmla="val 11111"/>
            </a:avLst>
          </a:prstGeom>
          <a:solidFill>
            <a:srgbClr val="FFFFFF"/>
          </a:solidFill>
          <a:ln w="12700">
            <a:solidFill>
              <a:srgbClr val="1C67B5"/>
            </a:solidFill>
            <a:prstDash val="solid"/>
          </a:ln>
        </p:spPr>
      </p:sp>
      <p:sp>
        <p:nvSpPr>
          <p:cNvPr id="46" name="Text 44"/>
          <p:cNvSpPr/>
          <p:nvPr/>
        </p:nvSpPr>
        <p:spPr>
          <a:xfrm>
            <a:off x="1005840" y="2633472"/>
            <a:ext cx="1097280" cy="182880"/>
          </a:xfrm>
          <a:prstGeom prst="rect">
            <a:avLst/>
          </a:prstGeom>
          <a:noFill/>
          <a:ln/>
        </p:spPr>
        <p:txBody>
          <a:bodyPr wrap="square" lIns="508" tIns="508" rIns="508" bIns="508" rtlCol="0" anchor="ctr">
            <a:normAutofit/>
          </a:bodyPr>
          <a:lstStyle/>
          <a:p>
            <a:pPr algn="l" indent="0" marL="0">
              <a:buNone/>
            </a:pPr>
            <a:r>
              <a:rPr lang="en-US" sz="1050" b="1" dirty="0">
                <a:solidFill>
                  <a:srgbClr val="1C67B5"/>
                </a:solidFill>
                <a:latin typeface="Aptos" pitchFamily="34" charset="0"/>
                <a:ea typeface="Aptos" pitchFamily="34" charset="-122"/>
                <a:cs typeface="Aptos" pitchFamily="34" charset="-120"/>
              </a:rPr>
              <a:t>TRAIN</a:t>
            </a:r>
            <a:endParaRPr lang="en-US" sz="1050" dirty="0"/>
          </a:p>
        </p:txBody>
      </p:sp>
      <p:sp>
        <p:nvSpPr>
          <p:cNvPr id="47" name="Text 45"/>
          <p:cNvSpPr/>
          <p:nvPr/>
        </p:nvSpPr>
        <p:spPr>
          <a:xfrm>
            <a:off x="2039112" y="2624328"/>
            <a:ext cx="1874520" cy="201168"/>
          </a:xfrm>
          <a:prstGeom prst="rect">
            <a:avLst/>
          </a:prstGeom>
          <a:noFill/>
          <a:ln/>
        </p:spPr>
        <p:txBody>
          <a:bodyPr wrap="square" lIns="508" tIns="508" rIns="508" bIns="508" rtlCol="0" anchor="ctr">
            <a:normAutofit/>
          </a:bodyPr>
          <a:lstStyle/>
          <a:p>
            <a:pPr algn="r" indent="0" marL="0">
              <a:buNone/>
            </a:pPr>
            <a:r>
              <a:rPr lang="en-US" sz="1030" dirty="0">
                <a:solidFill>
                  <a:srgbClr val="0B1F5B"/>
                </a:solidFill>
                <a:latin typeface="Aptos" pitchFamily="34" charset="0"/>
                <a:ea typeface="Aptos" pitchFamily="34" charset="-122"/>
                <a:cs typeface="Aptos" pitchFamily="34" charset="-120"/>
              </a:rPr>
              <a:t>learn parameters</a:t>
            </a:r>
            <a:endParaRPr lang="en-US" sz="1030" dirty="0"/>
          </a:p>
        </p:txBody>
      </p:sp>
      <p:sp>
        <p:nvSpPr>
          <p:cNvPr id="48" name="Shape 46"/>
          <p:cNvSpPr/>
          <p:nvPr/>
        </p:nvSpPr>
        <p:spPr>
          <a:xfrm>
            <a:off x="4553712" y="2514600"/>
            <a:ext cx="3291840" cy="658368"/>
          </a:xfrm>
          <a:prstGeom prst="roundRect">
            <a:avLst>
              <a:gd name="adj" fmla="val 11111"/>
            </a:avLst>
          </a:prstGeom>
          <a:solidFill>
            <a:srgbClr val="FFFFFF"/>
          </a:solidFill>
          <a:ln w="12700">
            <a:solidFill>
              <a:srgbClr val="2E8B57"/>
            </a:solidFill>
            <a:prstDash val="solid"/>
          </a:ln>
        </p:spPr>
      </p:sp>
      <p:sp>
        <p:nvSpPr>
          <p:cNvPr id="49" name="Text 47"/>
          <p:cNvSpPr/>
          <p:nvPr/>
        </p:nvSpPr>
        <p:spPr>
          <a:xfrm>
            <a:off x="4681728" y="2633472"/>
            <a:ext cx="1097280" cy="182880"/>
          </a:xfrm>
          <a:prstGeom prst="rect">
            <a:avLst/>
          </a:prstGeom>
          <a:noFill/>
          <a:ln/>
        </p:spPr>
        <p:txBody>
          <a:bodyPr wrap="square" lIns="508" tIns="508" rIns="508" bIns="508" rtlCol="0" anchor="ctr">
            <a:normAutofit/>
          </a:bodyPr>
          <a:lstStyle/>
          <a:p>
            <a:pPr algn="l" indent="0" marL="0">
              <a:buNone/>
            </a:pPr>
            <a:r>
              <a:rPr lang="en-US" sz="1050" b="1" dirty="0">
                <a:solidFill>
                  <a:srgbClr val="2E8B57"/>
                </a:solidFill>
                <a:latin typeface="Aptos" pitchFamily="34" charset="0"/>
                <a:ea typeface="Aptos" pitchFamily="34" charset="-122"/>
                <a:cs typeface="Aptos" pitchFamily="34" charset="-120"/>
              </a:rPr>
              <a:t>DEVELOPMENT</a:t>
            </a:r>
            <a:endParaRPr lang="en-US" sz="1050" dirty="0"/>
          </a:p>
        </p:txBody>
      </p:sp>
      <p:sp>
        <p:nvSpPr>
          <p:cNvPr id="50" name="Text 48"/>
          <p:cNvSpPr/>
          <p:nvPr/>
        </p:nvSpPr>
        <p:spPr>
          <a:xfrm>
            <a:off x="5715000" y="2624328"/>
            <a:ext cx="1874520" cy="201168"/>
          </a:xfrm>
          <a:prstGeom prst="rect">
            <a:avLst/>
          </a:prstGeom>
          <a:noFill/>
          <a:ln/>
        </p:spPr>
        <p:txBody>
          <a:bodyPr wrap="square" lIns="508" tIns="508" rIns="508" bIns="508" rtlCol="0" anchor="ctr">
            <a:normAutofit/>
          </a:bodyPr>
          <a:lstStyle/>
          <a:p>
            <a:pPr algn="r" indent="0" marL="0">
              <a:buNone/>
            </a:pPr>
            <a:r>
              <a:rPr lang="en-US" sz="1030" dirty="0">
                <a:solidFill>
                  <a:srgbClr val="0B1F5B"/>
                </a:solidFill>
                <a:latin typeface="Aptos" pitchFamily="34" charset="0"/>
                <a:ea typeface="Aptos" pitchFamily="34" charset="-122"/>
                <a:cs typeface="Aptos" pitchFamily="34" charset="-120"/>
              </a:rPr>
              <a:t>compare predefined models</a:t>
            </a:r>
            <a:endParaRPr lang="en-US" sz="1030" dirty="0"/>
          </a:p>
        </p:txBody>
      </p:sp>
      <p:sp>
        <p:nvSpPr>
          <p:cNvPr id="51" name="Shape 49"/>
          <p:cNvSpPr/>
          <p:nvPr/>
        </p:nvSpPr>
        <p:spPr>
          <a:xfrm>
            <a:off x="8229600" y="2514600"/>
            <a:ext cx="3291840" cy="658368"/>
          </a:xfrm>
          <a:prstGeom prst="roundRect">
            <a:avLst>
              <a:gd name="adj" fmla="val 11111"/>
            </a:avLst>
          </a:prstGeom>
          <a:solidFill>
            <a:srgbClr val="FFFFFF"/>
          </a:solidFill>
          <a:ln w="12700">
            <a:solidFill>
              <a:srgbClr val="C73B3B"/>
            </a:solidFill>
            <a:prstDash val="solid"/>
          </a:ln>
        </p:spPr>
      </p:sp>
      <p:sp>
        <p:nvSpPr>
          <p:cNvPr id="52" name="Text 50"/>
          <p:cNvSpPr/>
          <p:nvPr/>
        </p:nvSpPr>
        <p:spPr>
          <a:xfrm>
            <a:off x="8357616" y="2633472"/>
            <a:ext cx="1097280" cy="182880"/>
          </a:xfrm>
          <a:prstGeom prst="rect">
            <a:avLst/>
          </a:prstGeom>
          <a:noFill/>
          <a:ln/>
        </p:spPr>
        <p:txBody>
          <a:bodyPr wrap="square" lIns="508" tIns="508" rIns="508" bIns="508" rtlCol="0" anchor="ctr">
            <a:normAutofit/>
          </a:bodyPr>
          <a:lstStyle/>
          <a:p>
            <a:pPr algn="l" indent="0" marL="0">
              <a:buNone/>
            </a:pPr>
            <a:r>
              <a:rPr lang="en-US" sz="1050" b="1" dirty="0">
                <a:solidFill>
                  <a:srgbClr val="C73B3B"/>
                </a:solidFill>
                <a:latin typeface="Aptos" pitchFamily="34" charset="0"/>
                <a:ea typeface="Aptos" pitchFamily="34" charset="-122"/>
                <a:cs typeface="Aptos" pitchFamily="34" charset="-120"/>
              </a:rPr>
              <a:t>FINAL TEST</a:t>
            </a:r>
            <a:endParaRPr lang="en-US" sz="1050" dirty="0"/>
          </a:p>
        </p:txBody>
      </p:sp>
      <p:sp>
        <p:nvSpPr>
          <p:cNvPr id="53" name="Text 51"/>
          <p:cNvSpPr/>
          <p:nvPr/>
        </p:nvSpPr>
        <p:spPr>
          <a:xfrm>
            <a:off x="9390888" y="2624328"/>
            <a:ext cx="1874520" cy="201168"/>
          </a:xfrm>
          <a:prstGeom prst="rect">
            <a:avLst/>
          </a:prstGeom>
          <a:noFill/>
          <a:ln/>
        </p:spPr>
        <p:txBody>
          <a:bodyPr wrap="square" lIns="508" tIns="508" rIns="508" bIns="508" rtlCol="0" anchor="ctr">
            <a:normAutofit/>
          </a:bodyPr>
          <a:lstStyle/>
          <a:p>
            <a:pPr algn="r" indent="0" marL="0">
              <a:buNone/>
            </a:pPr>
            <a:r>
              <a:rPr lang="en-US" sz="1030" dirty="0">
                <a:solidFill>
                  <a:srgbClr val="0B1F5B"/>
                </a:solidFill>
                <a:latin typeface="Aptos" pitchFamily="34" charset="0"/>
                <a:ea typeface="Aptos" pitchFamily="34" charset="-122"/>
                <a:cs typeface="Aptos" pitchFamily="34" charset="-120"/>
              </a:rPr>
              <a:t>evaluate after model is frozen</a:t>
            </a:r>
            <a:endParaRPr lang="en-US" sz="1030" dirty="0"/>
          </a:p>
        </p:txBody>
      </p:sp>
      <p:sp>
        <p:nvSpPr>
          <p:cNvPr id="54" name="Text 52"/>
          <p:cNvSpPr/>
          <p:nvPr/>
        </p:nvSpPr>
        <p:spPr>
          <a:xfrm>
            <a:off x="886968" y="3493008"/>
            <a:ext cx="2788920" cy="274320"/>
          </a:xfrm>
          <a:prstGeom prst="rect">
            <a:avLst/>
          </a:prstGeom>
          <a:noFill/>
          <a:ln/>
        </p:spPr>
        <p:txBody>
          <a:bodyPr wrap="square" lIns="508" tIns="508" rIns="508" bIns="508" rtlCol="0" anchor="ctr">
            <a:normAutofit/>
          </a:bodyPr>
          <a:lstStyle/>
          <a:p>
            <a:pPr algn="l" indent="0" marL="0">
              <a:buNone/>
            </a:pPr>
            <a:r>
              <a:rPr lang="en-US" sz="1600" b="1" dirty="0">
                <a:solidFill>
                  <a:srgbClr val="0B1F5B"/>
                </a:solidFill>
                <a:latin typeface="Georgia" pitchFamily="34" charset="0"/>
                <a:ea typeface="Georgia" pitchFamily="34" charset="-122"/>
                <a:cs typeface="Georgia" pitchFamily="34" charset="-120"/>
              </a:rPr>
              <a:t>Predefined classical models</a:t>
            </a:r>
            <a:endParaRPr lang="en-US" sz="1600" dirty="0"/>
          </a:p>
        </p:txBody>
      </p:sp>
      <p:sp>
        <p:nvSpPr>
          <p:cNvPr id="55" name="Shape 53"/>
          <p:cNvSpPr/>
          <p:nvPr/>
        </p:nvSpPr>
        <p:spPr>
          <a:xfrm>
            <a:off x="896112" y="3950208"/>
            <a:ext cx="2377440" cy="1097280"/>
          </a:xfrm>
          <a:prstGeom prst="roundRect">
            <a:avLst>
              <a:gd name="adj" fmla="val 6667"/>
            </a:avLst>
          </a:prstGeom>
          <a:solidFill>
            <a:srgbClr val="FFFFFF"/>
          </a:solidFill>
          <a:ln w="12700">
            <a:solidFill>
              <a:srgbClr val="1C67B5"/>
            </a:solidFill>
            <a:prstDash val="solid"/>
          </a:ln>
        </p:spPr>
      </p:sp>
      <p:sp>
        <p:nvSpPr>
          <p:cNvPr id="56" name="Text 54"/>
          <p:cNvSpPr/>
          <p:nvPr/>
        </p:nvSpPr>
        <p:spPr>
          <a:xfrm>
            <a:off x="1024128" y="4133088"/>
            <a:ext cx="2121408" cy="256032"/>
          </a:xfrm>
          <a:prstGeom prst="rect">
            <a:avLst/>
          </a:prstGeom>
          <a:noFill/>
          <a:ln/>
        </p:spPr>
        <p:txBody>
          <a:bodyPr wrap="square" lIns="508" tIns="508" rIns="508" bIns="508" rtlCol="0" anchor="ctr">
            <a:normAutofit/>
          </a:bodyPr>
          <a:lstStyle/>
          <a:p>
            <a:pPr algn="ctr" indent="0" marL="0">
              <a:buNone/>
            </a:pPr>
            <a:r>
              <a:rPr lang="en-US" sz="1170" b="1" dirty="0">
                <a:solidFill>
                  <a:srgbClr val="1C67B5"/>
                </a:solidFill>
                <a:latin typeface="Aptos" pitchFamily="34" charset="0"/>
                <a:ea typeface="Aptos" pitchFamily="34" charset="-122"/>
                <a:cs typeface="Aptos" pitchFamily="34" charset="-120"/>
              </a:rPr>
              <a:t>Logistic Regression</a:t>
            </a:r>
            <a:endParaRPr lang="en-US" sz="1170" dirty="0"/>
          </a:p>
        </p:txBody>
      </p:sp>
      <p:sp>
        <p:nvSpPr>
          <p:cNvPr id="57" name="Text 55"/>
          <p:cNvSpPr/>
          <p:nvPr/>
        </p:nvSpPr>
        <p:spPr>
          <a:xfrm>
            <a:off x="1024128" y="4498848"/>
            <a:ext cx="2121408" cy="201168"/>
          </a:xfrm>
          <a:prstGeom prst="rect">
            <a:avLst/>
          </a:prstGeom>
          <a:noFill/>
          <a:ln/>
        </p:spPr>
        <p:txBody>
          <a:bodyPr wrap="square" lIns="508" tIns="508" rIns="508" bIns="508" rtlCol="0" anchor="ctr">
            <a:normAutofit/>
          </a:bodyPr>
          <a:lstStyle/>
          <a:p>
            <a:pPr algn="ctr" indent="0" marL="0">
              <a:buNone/>
            </a:pPr>
            <a:r>
              <a:rPr lang="en-US" sz="1000" dirty="0">
                <a:solidFill>
                  <a:srgbClr val="637B93"/>
                </a:solidFill>
                <a:latin typeface="Aptos" pitchFamily="34" charset="0"/>
                <a:ea typeface="Aptos" pitchFamily="34" charset="-122"/>
                <a:cs typeface="Aptos" pitchFamily="34" charset="-120"/>
              </a:rPr>
              <a:t>probability gate</a:t>
            </a:r>
            <a:endParaRPr lang="en-US" sz="1000" dirty="0"/>
          </a:p>
        </p:txBody>
      </p:sp>
      <p:sp>
        <p:nvSpPr>
          <p:cNvPr id="58" name="Shape 56"/>
          <p:cNvSpPr/>
          <p:nvPr/>
        </p:nvSpPr>
        <p:spPr>
          <a:xfrm>
            <a:off x="3593592" y="3950208"/>
            <a:ext cx="2377440" cy="1097280"/>
          </a:xfrm>
          <a:prstGeom prst="roundRect">
            <a:avLst>
              <a:gd name="adj" fmla="val 6667"/>
            </a:avLst>
          </a:prstGeom>
          <a:solidFill>
            <a:srgbClr val="FFFFFF"/>
          </a:solidFill>
          <a:ln w="12700">
            <a:solidFill>
              <a:srgbClr val="2E8B57"/>
            </a:solidFill>
            <a:prstDash val="solid"/>
          </a:ln>
        </p:spPr>
      </p:sp>
      <p:sp>
        <p:nvSpPr>
          <p:cNvPr id="59" name="Text 57"/>
          <p:cNvSpPr/>
          <p:nvPr/>
        </p:nvSpPr>
        <p:spPr>
          <a:xfrm>
            <a:off x="3721608" y="4133088"/>
            <a:ext cx="2121408" cy="256032"/>
          </a:xfrm>
          <a:prstGeom prst="rect">
            <a:avLst/>
          </a:prstGeom>
          <a:noFill/>
          <a:ln/>
        </p:spPr>
        <p:txBody>
          <a:bodyPr wrap="square" lIns="508" tIns="508" rIns="508" bIns="508" rtlCol="0" anchor="ctr">
            <a:normAutofit/>
          </a:bodyPr>
          <a:lstStyle/>
          <a:p>
            <a:pPr algn="ctr" indent="0" marL="0">
              <a:buNone/>
            </a:pPr>
            <a:r>
              <a:rPr lang="en-US" sz="1170" b="1" dirty="0">
                <a:solidFill>
                  <a:srgbClr val="2E8B57"/>
                </a:solidFill>
                <a:latin typeface="Aptos" pitchFamily="34" charset="0"/>
                <a:ea typeface="Aptos" pitchFamily="34" charset="-122"/>
                <a:cs typeface="Aptos" pitchFamily="34" charset="-120"/>
              </a:rPr>
              <a:t>Decision Tree</a:t>
            </a:r>
            <a:endParaRPr lang="en-US" sz="1170" dirty="0"/>
          </a:p>
        </p:txBody>
      </p:sp>
      <p:sp>
        <p:nvSpPr>
          <p:cNvPr id="60" name="Text 58"/>
          <p:cNvSpPr/>
          <p:nvPr/>
        </p:nvSpPr>
        <p:spPr>
          <a:xfrm>
            <a:off x="3721608" y="4498848"/>
            <a:ext cx="2121408" cy="201168"/>
          </a:xfrm>
          <a:prstGeom prst="rect">
            <a:avLst/>
          </a:prstGeom>
          <a:noFill/>
          <a:ln/>
        </p:spPr>
        <p:txBody>
          <a:bodyPr wrap="square" lIns="508" tIns="508" rIns="508" bIns="508" rtlCol="0" anchor="ctr">
            <a:normAutofit/>
          </a:bodyPr>
          <a:lstStyle/>
          <a:p>
            <a:pPr algn="ctr" indent="0" marL="0">
              <a:buNone/>
            </a:pPr>
            <a:r>
              <a:rPr lang="en-US" sz="1000" dirty="0">
                <a:solidFill>
                  <a:srgbClr val="637B93"/>
                </a:solidFill>
                <a:latin typeface="Aptos" pitchFamily="34" charset="0"/>
                <a:ea typeface="Aptos" pitchFamily="34" charset="-122"/>
                <a:cs typeface="Aptos" pitchFamily="34" charset="-120"/>
              </a:rPr>
              <a:t>if–then splits</a:t>
            </a:r>
            <a:endParaRPr lang="en-US" sz="1000" dirty="0"/>
          </a:p>
        </p:txBody>
      </p:sp>
      <p:sp>
        <p:nvSpPr>
          <p:cNvPr id="61" name="Shape 59"/>
          <p:cNvSpPr/>
          <p:nvPr/>
        </p:nvSpPr>
        <p:spPr>
          <a:xfrm>
            <a:off x="6291072" y="3950208"/>
            <a:ext cx="2377440" cy="1097280"/>
          </a:xfrm>
          <a:prstGeom prst="roundRect">
            <a:avLst>
              <a:gd name="adj" fmla="val 6667"/>
            </a:avLst>
          </a:prstGeom>
          <a:solidFill>
            <a:srgbClr val="FFFFFF"/>
          </a:solidFill>
          <a:ln w="12700">
            <a:solidFill>
              <a:srgbClr val="7454C7"/>
            </a:solidFill>
            <a:prstDash val="solid"/>
          </a:ln>
        </p:spPr>
      </p:sp>
      <p:sp>
        <p:nvSpPr>
          <p:cNvPr id="62" name="Text 60"/>
          <p:cNvSpPr/>
          <p:nvPr/>
        </p:nvSpPr>
        <p:spPr>
          <a:xfrm>
            <a:off x="6419088" y="4133088"/>
            <a:ext cx="2121408" cy="256032"/>
          </a:xfrm>
          <a:prstGeom prst="rect">
            <a:avLst/>
          </a:prstGeom>
          <a:noFill/>
          <a:ln/>
        </p:spPr>
        <p:txBody>
          <a:bodyPr wrap="square" lIns="508" tIns="508" rIns="508" bIns="508" rtlCol="0" anchor="ctr">
            <a:normAutofit/>
          </a:bodyPr>
          <a:lstStyle/>
          <a:p>
            <a:pPr algn="ctr" indent="0" marL="0">
              <a:buNone/>
            </a:pPr>
            <a:r>
              <a:rPr lang="en-US" sz="1170" b="1" dirty="0">
                <a:solidFill>
                  <a:srgbClr val="7454C7"/>
                </a:solidFill>
                <a:latin typeface="Aptos" pitchFamily="34" charset="0"/>
                <a:ea typeface="Aptos" pitchFamily="34" charset="-122"/>
                <a:cs typeface="Aptos" pitchFamily="34" charset="-120"/>
              </a:rPr>
              <a:t>Random Forest</a:t>
            </a:r>
            <a:endParaRPr lang="en-US" sz="1170" dirty="0"/>
          </a:p>
        </p:txBody>
      </p:sp>
      <p:sp>
        <p:nvSpPr>
          <p:cNvPr id="63" name="Text 61"/>
          <p:cNvSpPr/>
          <p:nvPr/>
        </p:nvSpPr>
        <p:spPr>
          <a:xfrm>
            <a:off x="6419088" y="4498848"/>
            <a:ext cx="2121408" cy="201168"/>
          </a:xfrm>
          <a:prstGeom prst="rect">
            <a:avLst/>
          </a:prstGeom>
          <a:noFill/>
          <a:ln/>
        </p:spPr>
        <p:txBody>
          <a:bodyPr wrap="square" lIns="508" tIns="508" rIns="508" bIns="508" rtlCol="0" anchor="ctr">
            <a:normAutofit/>
          </a:bodyPr>
          <a:lstStyle/>
          <a:p>
            <a:pPr algn="ctr" indent="0" marL="0">
              <a:buNone/>
            </a:pPr>
            <a:r>
              <a:rPr lang="en-US" sz="1000" dirty="0">
                <a:solidFill>
                  <a:srgbClr val="637B93"/>
                </a:solidFill>
                <a:latin typeface="Aptos" pitchFamily="34" charset="0"/>
                <a:ea typeface="Aptos" pitchFamily="34" charset="-122"/>
                <a:cs typeface="Aptos" pitchFamily="34" charset="-120"/>
              </a:rPr>
              <a:t>many trees vote</a:t>
            </a:r>
            <a:endParaRPr lang="en-US" sz="1000" dirty="0"/>
          </a:p>
        </p:txBody>
      </p:sp>
      <p:sp>
        <p:nvSpPr>
          <p:cNvPr id="64" name="Shape 62"/>
          <p:cNvSpPr/>
          <p:nvPr/>
        </p:nvSpPr>
        <p:spPr>
          <a:xfrm>
            <a:off x="8275320" y="3493008"/>
            <a:ext cx="3218688" cy="1554480"/>
          </a:xfrm>
          <a:prstGeom prst="roundRect">
            <a:avLst>
              <a:gd name="adj" fmla="val 4706"/>
            </a:avLst>
          </a:prstGeom>
          <a:solidFill>
            <a:srgbClr val="FFF8E6"/>
          </a:solidFill>
          <a:ln w="12700">
            <a:solidFill>
              <a:srgbClr val="E9A21B"/>
            </a:solidFill>
            <a:prstDash val="solid"/>
          </a:ln>
        </p:spPr>
      </p:sp>
      <p:sp>
        <p:nvSpPr>
          <p:cNvPr id="65" name="Text 63"/>
          <p:cNvSpPr/>
          <p:nvPr/>
        </p:nvSpPr>
        <p:spPr>
          <a:xfrm>
            <a:off x="8540496" y="3730752"/>
            <a:ext cx="2697480" cy="256032"/>
          </a:xfrm>
          <a:prstGeom prst="rect">
            <a:avLst/>
          </a:prstGeom>
          <a:noFill/>
          <a:ln/>
        </p:spPr>
        <p:txBody>
          <a:bodyPr wrap="square" lIns="508" tIns="508" rIns="508" bIns="508" rtlCol="0" anchor="ctr">
            <a:normAutofit/>
          </a:bodyPr>
          <a:lstStyle/>
          <a:p>
            <a:pPr algn="ctr" indent="0" marL="0">
              <a:buNone/>
            </a:pPr>
            <a:r>
              <a:rPr lang="en-US" sz="1600" b="1" dirty="0">
                <a:solidFill>
                  <a:srgbClr val="0B1F5B"/>
                </a:solidFill>
                <a:latin typeface="Georgia" pitchFamily="34" charset="0"/>
                <a:ea typeface="Georgia" pitchFamily="34" charset="-122"/>
                <a:cs typeface="Georgia" pitchFamily="34" charset="-120"/>
              </a:rPr>
              <a:t>Selection rule</a:t>
            </a:r>
            <a:endParaRPr lang="en-US" sz="1600" dirty="0"/>
          </a:p>
        </p:txBody>
      </p:sp>
      <p:sp>
        <p:nvSpPr>
          <p:cNvPr id="66" name="Text 64"/>
          <p:cNvSpPr/>
          <p:nvPr/>
        </p:nvSpPr>
        <p:spPr>
          <a:xfrm>
            <a:off x="8641080" y="4206240"/>
            <a:ext cx="2487168" cy="210312"/>
          </a:xfrm>
          <a:prstGeom prst="rect">
            <a:avLst/>
          </a:prstGeom>
          <a:noFill/>
          <a:ln/>
        </p:spPr>
        <p:txBody>
          <a:bodyPr wrap="square" lIns="508" tIns="508" rIns="508" bIns="508" rtlCol="0" anchor="ctr">
            <a:normAutofit/>
          </a:bodyPr>
          <a:lstStyle/>
          <a:p>
            <a:pPr algn="ctr" indent="0" marL="0">
              <a:buNone/>
            </a:pPr>
            <a:r>
              <a:rPr lang="en-US" sz="1150" b="1" dirty="0">
                <a:solidFill>
                  <a:srgbClr val="E9A21B"/>
                </a:solidFill>
                <a:latin typeface="Aptos" pitchFamily="34" charset="0"/>
                <a:ea typeface="Aptos" pitchFamily="34" charset="-122"/>
                <a:cs typeface="Aptos" pitchFamily="34" charset="-120"/>
              </a:rPr>
              <a:t>Primary: Macro F1</a:t>
            </a:r>
            <a:endParaRPr lang="en-US" sz="1150" dirty="0"/>
          </a:p>
        </p:txBody>
      </p:sp>
      <p:sp>
        <p:nvSpPr>
          <p:cNvPr id="67" name="Text 65"/>
          <p:cNvSpPr/>
          <p:nvPr/>
        </p:nvSpPr>
        <p:spPr>
          <a:xfrm>
            <a:off x="8522208" y="4553712"/>
            <a:ext cx="2724912" cy="210312"/>
          </a:xfrm>
          <a:prstGeom prst="rect">
            <a:avLst/>
          </a:prstGeom>
          <a:noFill/>
          <a:ln/>
        </p:spPr>
        <p:txBody>
          <a:bodyPr wrap="square" lIns="508" tIns="508" rIns="508" bIns="508" rtlCol="0" anchor="ctr">
            <a:normAutofit/>
          </a:bodyPr>
          <a:lstStyle/>
          <a:p>
            <a:pPr algn="ctr" indent="0" marL="0">
              <a:buNone/>
            </a:pPr>
            <a:r>
              <a:rPr lang="en-US" sz="1080" dirty="0">
                <a:solidFill>
                  <a:srgbClr val="0B1F5B"/>
                </a:solidFill>
                <a:latin typeface="Aptos" pitchFamily="34" charset="0"/>
                <a:ea typeface="Aptos" pitchFamily="34" charset="-122"/>
                <a:cs typeface="Aptos" pitchFamily="34" charset="-120"/>
              </a:rPr>
              <a:t>Secondary: Balanced Accuracy</a:t>
            </a:r>
            <a:endParaRPr lang="en-US" sz="1080" dirty="0"/>
          </a:p>
        </p:txBody>
      </p:sp>
      <p:sp>
        <p:nvSpPr>
          <p:cNvPr id="68" name="Shape 66"/>
          <p:cNvSpPr/>
          <p:nvPr/>
        </p:nvSpPr>
        <p:spPr>
          <a:xfrm>
            <a:off x="2999232" y="5413248"/>
            <a:ext cx="6217920" cy="402336"/>
          </a:xfrm>
          <a:prstGeom prst="roundRect">
            <a:avLst>
              <a:gd name="adj" fmla="val 18182"/>
            </a:avLst>
          </a:prstGeom>
          <a:solidFill>
            <a:srgbClr val="FFF4F4"/>
          </a:solidFill>
          <a:ln w="12700">
            <a:solidFill>
              <a:srgbClr val="C73B3B"/>
            </a:solidFill>
            <a:prstDash val="solid"/>
          </a:ln>
        </p:spPr>
      </p:sp>
      <p:sp>
        <p:nvSpPr>
          <p:cNvPr id="69" name="Text 67"/>
          <p:cNvSpPr/>
          <p:nvPr/>
        </p:nvSpPr>
        <p:spPr>
          <a:xfrm>
            <a:off x="3108960" y="5486400"/>
            <a:ext cx="5998464" cy="256032"/>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The final test is never used to choose the model.</a:t>
            </a:r>
            <a:endParaRPr lang="en-US" sz="115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pic>
        <p:nvPicPr>
          <p:cNvPr id="4" name="Image 0" descr="/mnt/data/ppt_assets/sun_crop.jpg">    </p:cNvPr>
          <p:cNvPicPr>
            <a:picLocks noChangeAspect="1"/>
          </p:cNvPicPr>
          <p:nvPr/>
        </p:nvPicPr>
        <p:blipFill>
          <a:blip r:embed="rId1"/>
          <a:srcRect l="52000" r="-20962" t="0" b="0"/>
          <a:stretch/>
        </p:blipFill>
        <p:spPr>
          <a:xfrm>
            <a:off x="0" y="0"/>
            <a:ext cx="1417320" cy="6446520"/>
          </a:xfrm>
          <a:prstGeom prst="rect">
            <a:avLst/>
          </a:prstGeom>
        </p:spPr>
      </p:pic>
      <p:sp>
        <p:nvSpPr>
          <p:cNvPr id="5" name="Shape 2"/>
          <p:cNvSpPr/>
          <p:nvPr/>
        </p:nvSpPr>
        <p:spPr>
          <a:xfrm>
            <a:off x="1188720" y="0"/>
            <a:ext cx="457200" cy="6446520"/>
          </a:xfrm>
          <a:prstGeom prst="rect">
            <a:avLst/>
          </a:prstGeom>
          <a:solidFill>
            <a:srgbClr val="F8FBFF">
              <a:alpha val="75000"/>
            </a:srgbClr>
          </a:solidFill>
          <a:ln w="12700">
            <a:solidFill>
              <a:srgbClr val="F8FBFF">
                <a:alpha val="0"/>
              </a:srgbClr>
            </a:solidFill>
            <a:prstDash val="solid"/>
          </a:ln>
        </p:spPr>
      </p:sp>
      <p:sp>
        <p:nvSpPr>
          <p:cNvPr id="6" name="Text 3"/>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What Did the Models Actually Show?</a:t>
            </a:r>
            <a:endParaRPr lang="en-US" sz="2500" dirty="0"/>
          </a:p>
        </p:txBody>
      </p:sp>
      <p:sp>
        <p:nvSpPr>
          <p:cNvPr id="7" name="Text 4"/>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Development comparison, frozen final test and robustness checks</a:t>
            </a:r>
            <a:endParaRPr lang="en-US" sz="1450" dirty="0"/>
          </a:p>
        </p:txBody>
      </p:sp>
      <p:sp>
        <p:nvSpPr>
          <p:cNvPr id="8" name="Shape 5"/>
          <p:cNvSpPr/>
          <p:nvPr/>
        </p:nvSpPr>
        <p:spPr>
          <a:xfrm>
            <a:off x="640080" y="1325880"/>
            <a:ext cx="5074920" cy="2331720"/>
          </a:xfrm>
          <a:prstGeom prst="roundRect">
            <a:avLst>
              <a:gd name="adj" fmla="val 3137"/>
            </a:avLst>
          </a:prstGeom>
          <a:solidFill>
            <a:srgbClr val="FFFFFF"/>
          </a:solidFill>
          <a:ln w="12700">
            <a:solidFill>
              <a:srgbClr val="BDD7EC"/>
            </a:solidFill>
            <a:prstDash val="solid"/>
          </a:ln>
        </p:spPr>
      </p:sp>
      <p:sp>
        <p:nvSpPr>
          <p:cNvPr id="9" name="Text 6"/>
          <p:cNvSpPr/>
          <p:nvPr/>
        </p:nvSpPr>
        <p:spPr>
          <a:xfrm>
            <a:off x="896112" y="1572768"/>
            <a:ext cx="4553712" cy="274320"/>
          </a:xfrm>
          <a:prstGeom prst="rect">
            <a:avLst/>
          </a:prstGeom>
          <a:noFill/>
          <a:ln/>
        </p:spPr>
        <p:txBody>
          <a:bodyPr wrap="square" lIns="508" tIns="508" rIns="508" bIns="508" rtlCol="0" anchor="ctr">
            <a:normAutofit/>
          </a:bodyPr>
          <a:lstStyle/>
          <a:p>
            <a:pPr algn="l" indent="0" marL="0">
              <a:buNone/>
            </a:pPr>
            <a:r>
              <a:rPr lang="en-US" sz="1650" b="1" dirty="0">
                <a:solidFill>
                  <a:srgbClr val="0B1F5B"/>
                </a:solidFill>
                <a:latin typeface="Georgia" pitchFamily="34" charset="0"/>
                <a:ea typeface="Georgia" pitchFamily="34" charset="-122"/>
                <a:cs typeface="Georgia" pitchFamily="34" charset="-120"/>
              </a:rPr>
              <a:t>Development set (6 events)</a:t>
            </a:r>
            <a:endParaRPr lang="en-US" sz="16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96112" y="1993392"/>
          <a:ext cx="4526280" cy="1298448"/>
        </p:xfrm>
        <a:graphic>
          <a:graphicData uri="http://schemas.openxmlformats.org/drawingml/2006/table">
            <a:tbl>
              <a:tblPr/>
              <a:tblGrid>
                <a:gridCol w="2240280"/>
                <a:gridCol w="1005840"/>
                <a:gridCol w="1280160"/>
              </a:tblGrid>
              <a:tr h="301752">
                <a:tc>
                  <a:txBody>
                    <a:bodyPr/>
                    <a:lstStyle/>
                    <a:p>
                      <a:pPr algn="ctr" indent="0" marL="0">
                        <a:buNone/>
                      </a:pPr>
                      <a:r>
                        <a:rPr lang="en-US" sz="1050" b="1" dirty="0">
                          <a:solidFill>
                            <a:srgbClr val="0B1F5B"/>
                          </a:solidFill>
                          <a:latin typeface="Aptos" pitchFamily="34" charset="0"/>
                          <a:ea typeface="Aptos" pitchFamily="34" charset="-122"/>
                          <a:cs typeface="Aptos" pitchFamily="34" charset="-120"/>
                        </a:rPr>
                        <a:t>Model</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1F5B"/>
                          </a:solidFill>
                          <a:latin typeface="Aptos" pitchFamily="34" charset="0"/>
                          <a:ea typeface="Aptos" pitchFamily="34" charset="-122"/>
                          <a:cs typeface="Aptos" pitchFamily="34" charset="-120"/>
                        </a:rPr>
                        <a:t>Macro F1</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1F5B"/>
                          </a:solidFill>
                          <a:latin typeface="Aptos" pitchFamily="34" charset="0"/>
                          <a:ea typeface="Aptos" pitchFamily="34" charset="-122"/>
                          <a:cs typeface="Aptos" pitchFamily="34" charset="-120"/>
                        </a:rPr>
                        <a:t>Balanced Acc.</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r>
              <a:tr h="301752">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Logistic Regression</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1.000</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1.000</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r>
              <a:tr h="301752">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Decision Tree</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0.778</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0.900</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r>
              <a:tr h="301752">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Random Forest</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0.778</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0.900</a:t>
                      </a:r>
                      <a:endParaRPr lang="en-US" sz="1050" dirty="0">
                        <a:latin typeface="Aptos" charset="0"/>
                        <a:ea typeface="Aptos" charset="0"/>
                        <a:cs typeface="Aptos" charset="0"/>
                      </a:endParaRPr>
                    </a:p>
                  </a:txBody>
                  <a:tcPr marL="45720" marR="45720" marT="45720" marB="45720">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r>
            </a:tbl>
          </a:graphicData>
        </a:graphic>
      </p:graphicFrame>
      <p:sp>
        <p:nvSpPr>
          <p:cNvPr id="11" name="Shape 7"/>
          <p:cNvSpPr/>
          <p:nvPr/>
        </p:nvSpPr>
        <p:spPr>
          <a:xfrm>
            <a:off x="1097280" y="3255264"/>
            <a:ext cx="4069080" cy="292608"/>
          </a:xfrm>
          <a:prstGeom prst="roundRect">
            <a:avLst>
              <a:gd name="adj" fmla="val 25000"/>
            </a:avLst>
          </a:prstGeom>
          <a:solidFill>
            <a:srgbClr val="FFF8E6"/>
          </a:solidFill>
          <a:ln w="12700">
            <a:solidFill>
              <a:srgbClr val="E9A21B"/>
            </a:solidFill>
            <a:prstDash val="solid"/>
          </a:ln>
        </p:spPr>
      </p:sp>
      <p:sp>
        <p:nvSpPr>
          <p:cNvPr id="12" name="Text 8"/>
          <p:cNvSpPr/>
          <p:nvPr/>
        </p:nvSpPr>
        <p:spPr>
          <a:xfrm>
            <a:off x="1207008" y="3328416"/>
            <a:ext cx="3849624" cy="14630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Development procedure froze Logistic Regression.</a:t>
            </a:r>
            <a:endParaRPr lang="en-US" sz="1150" dirty="0"/>
          </a:p>
        </p:txBody>
      </p:sp>
      <p:sp>
        <p:nvSpPr>
          <p:cNvPr id="13" name="Shape 9"/>
          <p:cNvSpPr/>
          <p:nvPr/>
        </p:nvSpPr>
        <p:spPr>
          <a:xfrm>
            <a:off x="5925312" y="1325880"/>
            <a:ext cx="3154680" cy="2331720"/>
          </a:xfrm>
          <a:prstGeom prst="roundRect">
            <a:avLst>
              <a:gd name="adj" fmla="val 3137"/>
            </a:avLst>
          </a:prstGeom>
          <a:solidFill>
            <a:srgbClr val="FFFFFF"/>
          </a:solidFill>
          <a:ln w="12700">
            <a:solidFill>
              <a:srgbClr val="BDD7EC"/>
            </a:solidFill>
            <a:prstDash val="solid"/>
          </a:ln>
        </p:spPr>
      </p:sp>
      <p:sp>
        <p:nvSpPr>
          <p:cNvPr id="14" name="Text 10"/>
          <p:cNvSpPr/>
          <p:nvPr/>
        </p:nvSpPr>
        <p:spPr>
          <a:xfrm>
            <a:off x="6172200" y="1572768"/>
            <a:ext cx="2651760" cy="274320"/>
          </a:xfrm>
          <a:prstGeom prst="rect">
            <a:avLst/>
          </a:prstGeom>
          <a:noFill/>
          <a:ln/>
        </p:spPr>
        <p:txBody>
          <a:bodyPr wrap="square" lIns="508" tIns="508" rIns="508" bIns="508" rtlCol="0" anchor="ctr">
            <a:normAutofit/>
          </a:bodyPr>
          <a:lstStyle/>
          <a:p>
            <a:pPr algn="l" indent="0" marL="0">
              <a:buNone/>
            </a:pPr>
            <a:r>
              <a:rPr lang="en-US" sz="1650" b="1" dirty="0">
                <a:solidFill>
                  <a:srgbClr val="0B1F5B"/>
                </a:solidFill>
                <a:latin typeface="Georgia" pitchFamily="34" charset="0"/>
                <a:ea typeface="Georgia" pitchFamily="34" charset="-122"/>
                <a:cs typeface="Georgia" pitchFamily="34" charset="-120"/>
              </a:rPr>
              <a:t>Final test (7 events)</a:t>
            </a:r>
            <a:endParaRPr lang="en-US" sz="165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327648" y="2011680"/>
          <a:ext cx="2331720" cy="1097280"/>
        </p:xfrm>
        <a:graphic>
          <a:graphicData uri="http://schemas.openxmlformats.org/drawingml/2006/table">
            <a:tbl>
              <a:tblPr/>
              <a:tblGrid>
                <a:gridCol w="960120"/>
                <a:gridCol w="685800"/>
                <a:gridCol w="685800"/>
              </a:tblGrid>
              <a:tr h="320040">
                <a:tc>
                  <a:txBody>
                    <a:bodyPr/>
                    <a:lstStyle/>
                    <a:p>
                      <a:pPr algn="ctr" indent="0" marL="0">
                        <a:buNone/>
                      </a:pPr>
                      <a:endParaRPr lang="en-US" sz="1050" dirty="0">
                        <a:latin typeface="Aptos" charset="0"/>
                        <a:ea typeface="Aptos" charset="0"/>
                        <a:cs typeface="Aptos" charset="0"/>
                      </a:endParaRPr>
                    </a:p>
                  </a:txBody>
                  <a:tcPr marL="36576" marR="36576" marT="36576" marB="36576">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Pred B</a:t>
                      </a:r>
                      <a:endParaRPr lang="en-US" sz="1050" dirty="0">
                        <a:latin typeface="Aptos" charset="0"/>
                        <a:ea typeface="Aptos" charset="0"/>
                        <a:cs typeface="Aptos" charset="0"/>
                      </a:endParaRPr>
                    </a:p>
                  </a:txBody>
                  <a:tcPr marL="36576" marR="36576" marT="36576" marB="36576">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Pred C+</a:t>
                      </a:r>
                      <a:endParaRPr lang="en-US" sz="1050" dirty="0">
                        <a:latin typeface="Aptos" charset="0"/>
                        <a:ea typeface="Aptos" charset="0"/>
                        <a:cs typeface="Aptos" charset="0"/>
                      </a:endParaRPr>
                    </a:p>
                  </a:txBody>
                  <a:tcPr marL="36576" marR="36576" marT="36576" marB="36576">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r>
              <a:tr h="320040">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Actual B</a:t>
                      </a:r>
                      <a:endParaRPr lang="en-US" sz="1050" dirty="0">
                        <a:latin typeface="Aptos" charset="0"/>
                        <a:ea typeface="Aptos" charset="0"/>
                        <a:cs typeface="Aptos" charset="0"/>
                      </a:endParaRPr>
                    </a:p>
                  </a:txBody>
                  <a:tcPr marL="36576" marR="36576" marT="36576" marB="36576">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5</a:t>
                      </a:r>
                      <a:endParaRPr lang="en-US" sz="1050" dirty="0">
                        <a:latin typeface="Aptos" charset="0"/>
                        <a:ea typeface="Aptos" charset="0"/>
                        <a:cs typeface="Aptos" charset="0"/>
                      </a:endParaRPr>
                    </a:p>
                  </a:txBody>
                  <a:tcPr marL="36576" marR="36576" marT="36576" marB="36576">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0</a:t>
                      </a:r>
                      <a:endParaRPr lang="en-US" sz="1050" dirty="0">
                        <a:latin typeface="Aptos" charset="0"/>
                        <a:ea typeface="Aptos" charset="0"/>
                        <a:cs typeface="Aptos" charset="0"/>
                      </a:endParaRPr>
                    </a:p>
                  </a:txBody>
                  <a:tcPr marL="36576" marR="36576" marT="36576" marB="36576">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r>
              <a:tr h="320040">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Actual C+</a:t>
                      </a:r>
                      <a:endParaRPr lang="en-US" sz="1050" dirty="0">
                        <a:latin typeface="Aptos" charset="0"/>
                        <a:ea typeface="Aptos" charset="0"/>
                        <a:cs typeface="Aptos" charset="0"/>
                      </a:endParaRPr>
                    </a:p>
                  </a:txBody>
                  <a:tcPr marL="36576" marR="36576" marT="36576" marB="36576">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0</a:t>
                      </a:r>
                      <a:endParaRPr lang="en-US" sz="1050" dirty="0">
                        <a:latin typeface="Aptos" charset="0"/>
                        <a:ea typeface="Aptos" charset="0"/>
                        <a:cs typeface="Aptos" charset="0"/>
                      </a:endParaRPr>
                    </a:p>
                  </a:txBody>
                  <a:tcPr marL="36576" marR="36576" marT="36576" marB="36576">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B1F5B"/>
                          </a:solidFill>
                          <a:latin typeface="Aptos" pitchFamily="34" charset="0"/>
                          <a:ea typeface="Aptos" pitchFamily="34" charset="-122"/>
                          <a:cs typeface="Aptos" pitchFamily="34" charset="-120"/>
                        </a:rPr>
                        <a:t>2</a:t>
                      </a:r>
                      <a:endParaRPr lang="en-US" sz="1050" dirty="0">
                        <a:latin typeface="Aptos" charset="0"/>
                        <a:ea typeface="Aptos" charset="0"/>
                        <a:cs typeface="Aptos" charset="0"/>
                      </a:endParaRPr>
                    </a:p>
                  </a:txBody>
                  <a:tcPr marL="36576" marR="36576" marT="36576" marB="36576">
                    <a:lnL w="10160" cap="flat" cmpd="sng" algn="ctr">
                      <a:solidFill>
                        <a:srgbClr val="C8D9E8"/>
                      </a:solidFill>
                      <a:prstDash val="solid"/>
                      <a:round/>
                      <a:headEnd type="none" w="med" len="med"/>
                      <a:tailEnd type="none" w="med" len="med"/>
                    </a:lnL>
                    <a:lnR w="10160" cap="flat" cmpd="sng" algn="ctr">
                      <a:solidFill>
                        <a:srgbClr val="C8D9E8"/>
                      </a:solidFill>
                      <a:prstDash val="solid"/>
                      <a:round/>
                      <a:headEnd type="none" w="med" len="med"/>
                      <a:tailEnd type="none" w="med" len="med"/>
                    </a:lnR>
                    <a:lnT w="10160" cap="flat" cmpd="sng" algn="ctr">
                      <a:solidFill>
                        <a:srgbClr val="C8D9E8"/>
                      </a:solidFill>
                      <a:prstDash val="solid"/>
                      <a:round/>
                      <a:headEnd type="none" w="med" len="med"/>
                      <a:tailEnd type="none" w="med" len="med"/>
                    </a:lnT>
                    <a:lnB w="10160" cap="flat" cmpd="sng" algn="ctr">
                      <a:solidFill>
                        <a:srgbClr val="C8D9E8"/>
                      </a:solidFill>
                      <a:prstDash val="solid"/>
                      <a:round/>
                      <a:headEnd type="none" w="med" len="med"/>
                      <a:tailEnd type="none" w="med" len="med"/>
                    </a:lnB>
                    <a:solidFill>
                      <a:srgbClr val="FFFFFF"/>
                    </a:solidFill>
                  </a:tcPr>
                </a:tc>
              </a:tr>
            </a:tbl>
          </a:graphicData>
        </a:graphic>
      </p:graphicFrame>
      <p:sp>
        <p:nvSpPr>
          <p:cNvPr id="16" name="Text 11"/>
          <p:cNvSpPr/>
          <p:nvPr/>
        </p:nvSpPr>
        <p:spPr>
          <a:xfrm>
            <a:off x="6437376" y="3127248"/>
            <a:ext cx="2011680" cy="320040"/>
          </a:xfrm>
          <a:prstGeom prst="rect">
            <a:avLst/>
          </a:prstGeom>
          <a:noFill/>
          <a:ln/>
        </p:spPr>
        <p:txBody>
          <a:bodyPr wrap="square" lIns="508" tIns="508" rIns="508" bIns="508" rtlCol="0" anchor="ctr">
            <a:normAutofit/>
          </a:bodyPr>
          <a:lstStyle/>
          <a:p>
            <a:pPr algn="ctr" indent="0" marL="0">
              <a:buNone/>
            </a:pPr>
            <a:r>
              <a:rPr lang="en-US" sz="1900" b="1" dirty="0">
                <a:solidFill>
                  <a:srgbClr val="1C67B5"/>
                </a:solidFill>
                <a:latin typeface="Aptos" pitchFamily="34" charset="0"/>
                <a:ea typeface="Aptos" pitchFamily="34" charset="-122"/>
                <a:cs typeface="Aptos" pitchFamily="34" charset="-120"/>
              </a:rPr>
              <a:t>7 / 7 correct</a:t>
            </a:r>
            <a:endParaRPr lang="en-US" sz="1900" dirty="0"/>
          </a:p>
        </p:txBody>
      </p:sp>
      <p:sp>
        <p:nvSpPr>
          <p:cNvPr id="17" name="Shape 12"/>
          <p:cNvSpPr/>
          <p:nvPr/>
        </p:nvSpPr>
        <p:spPr>
          <a:xfrm>
            <a:off x="9281160" y="1325880"/>
            <a:ext cx="2267712" cy="2331720"/>
          </a:xfrm>
          <a:prstGeom prst="roundRect">
            <a:avLst>
              <a:gd name="adj" fmla="val 3226"/>
            </a:avLst>
          </a:prstGeom>
          <a:solidFill>
            <a:srgbClr val="FFF8EE"/>
          </a:solidFill>
          <a:ln w="12700">
            <a:solidFill>
              <a:srgbClr val="E7C997"/>
            </a:solidFill>
            <a:prstDash val="solid"/>
          </a:ln>
        </p:spPr>
      </p:sp>
      <p:sp>
        <p:nvSpPr>
          <p:cNvPr id="18" name="Text 13"/>
          <p:cNvSpPr/>
          <p:nvPr/>
        </p:nvSpPr>
        <p:spPr>
          <a:xfrm>
            <a:off x="9528048" y="1572768"/>
            <a:ext cx="1773936" cy="274320"/>
          </a:xfrm>
          <a:prstGeom prst="rect">
            <a:avLst/>
          </a:prstGeom>
          <a:noFill/>
          <a:ln/>
        </p:spPr>
        <p:txBody>
          <a:bodyPr wrap="square" lIns="508" tIns="508" rIns="508" bIns="508" rtlCol="0" anchor="ctr">
            <a:normAutofit/>
          </a:bodyPr>
          <a:lstStyle/>
          <a:p>
            <a:pPr algn="ctr" indent="0" marL="0">
              <a:buNone/>
            </a:pPr>
            <a:r>
              <a:rPr lang="en-US" sz="1600" b="1" dirty="0">
                <a:solidFill>
                  <a:srgbClr val="0B1F5B"/>
                </a:solidFill>
                <a:latin typeface="Georgia" pitchFamily="34" charset="0"/>
                <a:ea typeface="Georgia" pitchFamily="34" charset="-122"/>
                <a:cs typeface="Georgia" pitchFamily="34" charset="-120"/>
              </a:rPr>
              <a:t>Interpretation</a:t>
            </a:r>
            <a:endParaRPr lang="en-US" sz="1600" dirty="0"/>
          </a:p>
        </p:txBody>
      </p:sp>
      <p:sp>
        <p:nvSpPr>
          <p:cNvPr id="19" name="Text 14"/>
          <p:cNvSpPr/>
          <p:nvPr/>
        </p:nvSpPr>
        <p:spPr>
          <a:xfrm>
            <a:off x="9537192" y="2075688"/>
            <a:ext cx="1755648" cy="237744"/>
          </a:xfrm>
          <a:prstGeom prst="rect">
            <a:avLst/>
          </a:prstGeom>
          <a:noFill/>
          <a:ln/>
        </p:spPr>
        <p:txBody>
          <a:bodyPr wrap="square" lIns="508" tIns="508" rIns="508" bIns="508" rtlCol="0" anchor="ctr">
            <a:normAutofit/>
          </a:bodyPr>
          <a:lstStyle/>
          <a:p>
            <a:pPr algn="ctr" indent="0" marL="0">
              <a:buNone/>
            </a:pPr>
            <a:r>
              <a:rPr lang="en-US" sz="1300" b="1" dirty="0">
                <a:solidFill>
                  <a:srgbClr val="E86F1C"/>
                </a:solidFill>
                <a:latin typeface="Aptos" pitchFamily="34" charset="0"/>
                <a:ea typeface="Aptos" pitchFamily="34" charset="-122"/>
                <a:cs typeface="Aptos" pitchFamily="34" charset="-120"/>
              </a:rPr>
              <a:t>Final test N = 7</a:t>
            </a:r>
            <a:endParaRPr lang="en-US" sz="1300" dirty="0"/>
          </a:p>
        </p:txBody>
      </p:sp>
      <p:sp>
        <p:nvSpPr>
          <p:cNvPr id="20" name="Text 15"/>
          <p:cNvSpPr/>
          <p:nvPr/>
        </p:nvSpPr>
        <p:spPr>
          <a:xfrm>
            <a:off x="9491472" y="2514600"/>
            <a:ext cx="1856232" cy="585216"/>
          </a:xfrm>
          <a:prstGeom prst="rect">
            <a:avLst/>
          </a:prstGeom>
          <a:noFill/>
          <a:ln/>
        </p:spPr>
        <p:txBody>
          <a:bodyPr wrap="square" lIns="508" tIns="508" rIns="508" bIns="508" rtlCol="0" anchor="ctr">
            <a:normAutofit/>
          </a:bodyPr>
          <a:lstStyle/>
          <a:p>
            <a:pPr algn="ctr" indent="0" marL="0">
              <a:buNone/>
            </a:pPr>
            <a:r>
              <a:rPr lang="en-US" sz="1130" dirty="0">
                <a:solidFill>
                  <a:srgbClr val="0B1F5B"/>
                </a:solidFill>
                <a:latin typeface="Aptos" pitchFamily="34" charset="0"/>
                <a:ea typeface="Aptos" pitchFamily="34" charset="-122"/>
                <a:cs typeface="Aptos" pitchFamily="34" charset="-120"/>
              </a:rPr>
              <a:t>Observed 7/7 does not establish generalization.</a:t>
            </a:r>
            <a:endParaRPr lang="en-US" sz="1130" dirty="0"/>
          </a:p>
        </p:txBody>
      </p:sp>
      <p:sp>
        <p:nvSpPr>
          <p:cNvPr id="21" name="Shape 16"/>
          <p:cNvSpPr/>
          <p:nvPr/>
        </p:nvSpPr>
        <p:spPr>
          <a:xfrm>
            <a:off x="640080" y="3886200"/>
            <a:ext cx="5806440" cy="2011680"/>
          </a:xfrm>
          <a:prstGeom prst="roundRect">
            <a:avLst>
              <a:gd name="adj" fmla="val 3636"/>
            </a:avLst>
          </a:prstGeom>
          <a:solidFill>
            <a:srgbClr val="FFFFFF"/>
          </a:solidFill>
          <a:ln w="12700">
            <a:solidFill>
              <a:srgbClr val="BDD7EC"/>
            </a:solidFill>
            <a:prstDash val="solid"/>
          </a:ln>
        </p:spPr>
      </p:sp>
      <p:sp>
        <p:nvSpPr>
          <p:cNvPr id="22" name="Text 17"/>
          <p:cNvSpPr/>
          <p:nvPr/>
        </p:nvSpPr>
        <p:spPr>
          <a:xfrm>
            <a:off x="896112" y="4114800"/>
            <a:ext cx="2331720" cy="256032"/>
          </a:xfrm>
          <a:prstGeom prst="rect">
            <a:avLst/>
          </a:prstGeom>
          <a:noFill/>
          <a:ln/>
        </p:spPr>
        <p:txBody>
          <a:bodyPr wrap="square" lIns="508" tIns="508" rIns="508" bIns="508" rtlCol="0" anchor="ctr">
            <a:normAutofit/>
          </a:bodyPr>
          <a:lstStyle/>
          <a:p>
            <a:pPr algn="l" indent="0" marL="0">
              <a:buNone/>
            </a:pPr>
            <a:r>
              <a:rPr lang="en-US" sz="1600" b="1" dirty="0">
                <a:solidFill>
                  <a:srgbClr val="0B1F5B"/>
                </a:solidFill>
                <a:latin typeface="Georgia" pitchFamily="34" charset="0"/>
                <a:ea typeface="Georgia" pitchFamily="34" charset="-122"/>
                <a:cs typeface="Georgia" pitchFamily="34" charset="-120"/>
              </a:rPr>
              <a:t>Supplementary LOOCV</a:t>
            </a:r>
            <a:endParaRPr lang="en-US" sz="1600" dirty="0"/>
          </a:p>
        </p:txBody>
      </p:sp>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896112" y="4517136"/>
          <a:ext cx="5248656" cy="1033272"/>
        </p:xfrm>
        <a:graphic>
          <a:graphicData uri="http://schemas.openxmlformats.org/drawingml/2006/table">
            <a:tbl>
              <a:tblPr/>
              <a:tblGrid>
                <a:gridCol w="2057400"/>
                <a:gridCol w="1051560"/>
                <a:gridCol w="1051560"/>
                <a:gridCol w="1088136"/>
              </a:tblGrid>
              <a:tr h="246888">
                <a:tc>
                  <a:txBody>
                    <a:bodyPr/>
                    <a:lstStyle/>
                    <a:p>
                      <a:pPr algn="ctr" indent="0" marL="0">
                        <a:buNone/>
                      </a:pPr>
                      <a:r>
                        <a:rPr lang="en-US" sz="980" b="1" dirty="0">
                          <a:solidFill>
                            <a:srgbClr val="0B1F5B"/>
                          </a:solidFill>
                          <a:latin typeface="Aptos" pitchFamily="34" charset="0"/>
                          <a:ea typeface="Aptos" pitchFamily="34" charset="-122"/>
                          <a:cs typeface="Aptos" pitchFamily="34" charset="-120"/>
                        </a:rPr>
                        <a:t>Model</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b="1" dirty="0">
                          <a:solidFill>
                            <a:srgbClr val="0B1F5B"/>
                          </a:solidFill>
                          <a:latin typeface="Aptos" pitchFamily="34" charset="0"/>
                          <a:ea typeface="Aptos" pitchFamily="34" charset="-122"/>
                          <a:cs typeface="Aptos" pitchFamily="34" charset="-120"/>
                        </a:rPr>
                        <a:t>Accuracy</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b="1" dirty="0">
                          <a:solidFill>
                            <a:srgbClr val="0B1F5B"/>
                          </a:solidFill>
                          <a:latin typeface="Aptos" pitchFamily="34" charset="0"/>
                          <a:ea typeface="Aptos" pitchFamily="34" charset="-122"/>
                          <a:cs typeface="Aptos" pitchFamily="34" charset="-120"/>
                        </a:rPr>
                        <a:t>Macro F1</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b="1" dirty="0">
                          <a:solidFill>
                            <a:srgbClr val="0B1F5B"/>
                          </a:solidFill>
                          <a:latin typeface="Aptos" pitchFamily="34" charset="0"/>
                          <a:ea typeface="Aptos" pitchFamily="34" charset="-122"/>
                          <a:cs typeface="Aptos" pitchFamily="34" charset="-120"/>
                        </a:rPr>
                        <a:t>Bal. Acc.</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r>
              <a:tr h="246888">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Logistic Regression</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0.9677</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0.9665</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0.9615</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r>
              <a:tr h="246888">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Decision Tree</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0.8065</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0.7961</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0.7906</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r>
              <a:tr h="246888">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Random Forest</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0.9032</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0.8995</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c>
                  <a:txBody>
                    <a:bodyPr/>
                    <a:lstStyle/>
                    <a:p>
                      <a:pPr algn="ctr" indent="0" marL="0">
                        <a:buNone/>
                      </a:pPr>
                      <a:r>
                        <a:rPr lang="en-US" sz="980" dirty="0">
                          <a:solidFill>
                            <a:srgbClr val="0B1F5B"/>
                          </a:solidFill>
                          <a:latin typeface="Aptos" pitchFamily="34" charset="0"/>
                          <a:ea typeface="Aptos" pitchFamily="34" charset="-122"/>
                          <a:cs typeface="Aptos" pitchFamily="34" charset="-120"/>
                        </a:rPr>
                        <a:t>0.8953</a:t>
                      </a:r>
                      <a:endParaRPr lang="en-US" sz="980" dirty="0">
                        <a:latin typeface="Aptos" charset="0"/>
                        <a:ea typeface="Aptos" charset="0"/>
                        <a:cs typeface="Aptos" charset="0"/>
                      </a:endParaRPr>
                    </a:p>
                  </a:txBody>
                  <a:tcPr marL="36576" marR="36576" marT="36576" marB="36576">
                    <a:lnL w="8890" cap="flat" cmpd="sng" algn="ctr">
                      <a:solidFill>
                        <a:srgbClr val="C8D9E8"/>
                      </a:solidFill>
                      <a:prstDash val="solid"/>
                      <a:round/>
                      <a:headEnd type="none" w="med" len="med"/>
                      <a:tailEnd type="none" w="med" len="med"/>
                    </a:lnL>
                    <a:lnR w="8890" cap="flat" cmpd="sng" algn="ctr">
                      <a:solidFill>
                        <a:srgbClr val="C8D9E8"/>
                      </a:solidFill>
                      <a:prstDash val="solid"/>
                      <a:round/>
                      <a:headEnd type="none" w="med" len="med"/>
                      <a:tailEnd type="none" w="med" len="med"/>
                    </a:lnR>
                    <a:lnT w="8890" cap="flat" cmpd="sng" algn="ctr">
                      <a:solidFill>
                        <a:srgbClr val="C8D9E8"/>
                      </a:solidFill>
                      <a:prstDash val="solid"/>
                      <a:round/>
                      <a:headEnd type="none" w="med" len="med"/>
                      <a:tailEnd type="none" w="med" len="med"/>
                    </a:lnT>
                    <a:lnB w="8890" cap="flat" cmpd="sng" algn="ctr">
                      <a:solidFill>
                        <a:srgbClr val="C8D9E8"/>
                      </a:solidFill>
                      <a:prstDash val="solid"/>
                      <a:round/>
                      <a:headEnd type="none" w="med" len="med"/>
                      <a:tailEnd type="none" w="med" len="med"/>
                    </a:lnB>
                    <a:solidFill>
                      <a:srgbClr val="FFFFFF"/>
                    </a:solidFill>
                  </a:tcPr>
                </a:tc>
              </a:tr>
            </a:tbl>
          </a:graphicData>
        </a:graphic>
      </p:graphicFrame>
      <p:sp>
        <p:nvSpPr>
          <p:cNvPr id="24" name="Text 18"/>
          <p:cNvSpPr/>
          <p:nvPr/>
        </p:nvSpPr>
        <p:spPr>
          <a:xfrm>
            <a:off x="1024128" y="5623560"/>
            <a:ext cx="4983480" cy="182880"/>
          </a:xfrm>
          <a:prstGeom prst="rect">
            <a:avLst/>
          </a:prstGeom>
          <a:noFill/>
          <a:ln/>
        </p:spPr>
        <p:txBody>
          <a:bodyPr wrap="square" lIns="508" tIns="508" rIns="508" bIns="508" rtlCol="0" anchor="ctr">
            <a:normAutofit/>
          </a:bodyPr>
          <a:lstStyle/>
          <a:p>
            <a:pPr algn="ctr" indent="0" marL="0">
              <a:buNone/>
            </a:pPr>
            <a:r>
              <a:rPr lang="en-US" sz="950" dirty="0">
                <a:solidFill>
                  <a:srgbClr val="637B93"/>
                </a:solidFill>
                <a:latin typeface="Aptos" pitchFamily="34" charset="0"/>
                <a:ea typeface="Aptos" pitchFamily="34" charset="-122"/>
                <a:cs typeface="Aptos" pitchFamily="34" charset="-120"/>
              </a:rPr>
              <a:t>Comparative observations only — no “best model” ranking.</a:t>
            </a:r>
            <a:endParaRPr lang="en-US" sz="950" dirty="0"/>
          </a:p>
        </p:txBody>
      </p:sp>
      <p:sp>
        <p:nvSpPr>
          <p:cNvPr id="25" name="Shape 19"/>
          <p:cNvSpPr/>
          <p:nvPr/>
        </p:nvSpPr>
        <p:spPr>
          <a:xfrm>
            <a:off x="6675120" y="3886200"/>
            <a:ext cx="4873752" cy="2011680"/>
          </a:xfrm>
          <a:prstGeom prst="roundRect">
            <a:avLst>
              <a:gd name="adj" fmla="val 3636"/>
            </a:avLst>
          </a:prstGeom>
          <a:solidFill>
            <a:srgbClr val="FFF4F4"/>
          </a:solidFill>
          <a:ln w="12700">
            <a:solidFill>
              <a:srgbClr val="EDB5B5"/>
            </a:solidFill>
            <a:prstDash val="solid"/>
          </a:ln>
        </p:spPr>
      </p:sp>
      <p:sp>
        <p:nvSpPr>
          <p:cNvPr id="26" name="Text 20"/>
          <p:cNvSpPr/>
          <p:nvPr/>
        </p:nvSpPr>
        <p:spPr>
          <a:xfrm>
            <a:off x="6967728" y="4114800"/>
            <a:ext cx="4251960" cy="256032"/>
          </a:xfrm>
          <a:prstGeom prst="rect">
            <a:avLst/>
          </a:prstGeom>
          <a:noFill/>
          <a:ln/>
        </p:spPr>
        <p:txBody>
          <a:bodyPr wrap="square" lIns="508" tIns="508" rIns="508" bIns="508" rtlCol="0" anchor="ctr">
            <a:normAutofit/>
          </a:bodyPr>
          <a:lstStyle/>
          <a:p>
            <a:pPr algn="l" indent="0" marL="0">
              <a:buNone/>
            </a:pPr>
            <a:r>
              <a:rPr lang="en-US" sz="1600" b="1" dirty="0">
                <a:solidFill>
                  <a:srgbClr val="0B1F5B"/>
                </a:solidFill>
                <a:latin typeface="Georgia" pitchFamily="34" charset="0"/>
                <a:ea typeface="Georgia" pitchFamily="34" charset="-122"/>
                <a:cs typeface="Georgia" pitchFamily="34" charset="-120"/>
              </a:rPr>
              <a:t>Important statistical warnings</a:t>
            </a:r>
            <a:endParaRPr lang="en-US" sz="1600" dirty="0"/>
          </a:p>
        </p:txBody>
      </p:sp>
      <p:sp>
        <p:nvSpPr>
          <p:cNvPr id="27" name="Text 21"/>
          <p:cNvSpPr/>
          <p:nvPr/>
        </p:nvSpPr>
        <p:spPr>
          <a:xfrm>
            <a:off x="7004304" y="4526280"/>
            <a:ext cx="201168" cy="164592"/>
          </a:xfrm>
          <a:prstGeom prst="rect">
            <a:avLst/>
          </a:prstGeom>
          <a:noFill/>
          <a:ln/>
        </p:spPr>
        <p:txBody>
          <a:bodyPr wrap="square" lIns="508" tIns="508" rIns="508" bIns="508" rtlCol="0" anchor="ctr">
            <a:normAutofit/>
          </a:bodyPr>
          <a:lstStyle/>
          <a:p>
            <a:pPr algn="l" indent="0" marL="0">
              <a:buNone/>
            </a:pPr>
            <a:r>
              <a:rPr lang="en-US" sz="1100" b="1" dirty="0">
                <a:solidFill>
                  <a:srgbClr val="C73B3B"/>
                </a:solidFill>
                <a:latin typeface="Aptos" pitchFamily="34" charset="0"/>
                <a:ea typeface="Aptos" pitchFamily="34" charset="-122"/>
                <a:cs typeface="Aptos" pitchFamily="34" charset="-120"/>
              </a:rPr>
              <a:t>•</a:t>
            </a:r>
            <a:endParaRPr lang="en-US" sz="1100" dirty="0"/>
          </a:p>
        </p:txBody>
      </p:sp>
      <p:sp>
        <p:nvSpPr>
          <p:cNvPr id="28" name="Text 22"/>
          <p:cNvSpPr/>
          <p:nvPr/>
        </p:nvSpPr>
        <p:spPr>
          <a:xfrm>
            <a:off x="7260336" y="4526280"/>
            <a:ext cx="1691640" cy="182880"/>
          </a:xfrm>
          <a:prstGeom prst="rect">
            <a:avLst/>
          </a:prstGeom>
          <a:noFill/>
          <a:ln/>
        </p:spPr>
        <p:txBody>
          <a:bodyPr wrap="square" lIns="508" tIns="508" rIns="508" bIns="508" rtlCol="0" anchor="ctr">
            <a:normAutofit/>
          </a:bodyPr>
          <a:lstStyle/>
          <a:p>
            <a:pPr algn="l" indent="0" marL="0">
              <a:buNone/>
            </a:pPr>
            <a:r>
              <a:rPr lang="en-US" sz="1010" b="1" dirty="0">
                <a:solidFill>
                  <a:srgbClr val="C73B3B"/>
                </a:solidFill>
                <a:latin typeface="Aptos" pitchFamily="34" charset="0"/>
                <a:ea typeface="Aptos" pitchFamily="34" charset="-122"/>
                <a:cs typeface="Aptos" pitchFamily="34" charset="-120"/>
              </a:rPr>
              <a:t>Complete separation</a:t>
            </a:r>
            <a:endParaRPr lang="en-US" sz="1010" dirty="0"/>
          </a:p>
        </p:txBody>
      </p:sp>
      <p:sp>
        <p:nvSpPr>
          <p:cNvPr id="29" name="Text 23"/>
          <p:cNvSpPr/>
          <p:nvPr/>
        </p:nvSpPr>
        <p:spPr>
          <a:xfrm>
            <a:off x="8933688" y="4526280"/>
            <a:ext cx="2048256" cy="182880"/>
          </a:xfrm>
          <a:prstGeom prst="rect">
            <a:avLst/>
          </a:prstGeom>
          <a:noFill/>
          <a:ln/>
        </p:spPr>
        <p:txBody>
          <a:bodyPr wrap="square" lIns="508" tIns="508" rIns="508" bIns="508" rtlCol="0" anchor="ctr">
            <a:normAutofit/>
          </a:bodyPr>
          <a:lstStyle/>
          <a:p>
            <a:pPr algn="l" indent="0" marL="0">
              <a:buNone/>
            </a:pPr>
            <a:r>
              <a:rPr lang="en-US" sz="960" dirty="0">
                <a:solidFill>
                  <a:srgbClr val="0B1F5B"/>
                </a:solidFill>
                <a:latin typeface="Aptos" pitchFamily="34" charset="0"/>
                <a:ea typeface="Aptos" pitchFamily="34" charset="-122"/>
                <a:cs typeface="Aptos" pitchFamily="34" charset="-120"/>
              </a:rPr>
              <a:t>ordinary LR coefficients unstable</a:t>
            </a:r>
            <a:endParaRPr lang="en-US" sz="960" dirty="0"/>
          </a:p>
        </p:txBody>
      </p:sp>
      <p:sp>
        <p:nvSpPr>
          <p:cNvPr id="30" name="Text 24"/>
          <p:cNvSpPr/>
          <p:nvPr/>
        </p:nvSpPr>
        <p:spPr>
          <a:xfrm>
            <a:off x="7004304" y="4809744"/>
            <a:ext cx="201168" cy="164592"/>
          </a:xfrm>
          <a:prstGeom prst="rect">
            <a:avLst/>
          </a:prstGeom>
          <a:noFill/>
          <a:ln/>
        </p:spPr>
        <p:txBody>
          <a:bodyPr wrap="square" lIns="508" tIns="508" rIns="508" bIns="508" rtlCol="0" anchor="ctr">
            <a:normAutofit/>
          </a:bodyPr>
          <a:lstStyle/>
          <a:p>
            <a:pPr algn="l" indent="0" marL="0">
              <a:buNone/>
            </a:pPr>
            <a:r>
              <a:rPr lang="en-US" sz="1100" b="1" dirty="0">
                <a:solidFill>
                  <a:srgbClr val="C73B3B"/>
                </a:solidFill>
                <a:latin typeface="Aptos" pitchFamily="34" charset="0"/>
                <a:ea typeface="Aptos" pitchFamily="34" charset="-122"/>
                <a:cs typeface="Aptos" pitchFamily="34" charset="-120"/>
              </a:rPr>
              <a:t>•</a:t>
            </a:r>
            <a:endParaRPr lang="en-US" sz="1100" dirty="0"/>
          </a:p>
        </p:txBody>
      </p:sp>
      <p:sp>
        <p:nvSpPr>
          <p:cNvPr id="31" name="Text 25"/>
          <p:cNvSpPr/>
          <p:nvPr/>
        </p:nvSpPr>
        <p:spPr>
          <a:xfrm>
            <a:off x="7260336" y="4809744"/>
            <a:ext cx="1691640" cy="182880"/>
          </a:xfrm>
          <a:prstGeom prst="rect">
            <a:avLst/>
          </a:prstGeom>
          <a:noFill/>
          <a:ln/>
        </p:spPr>
        <p:txBody>
          <a:bodyPr wrap="square" lIns="508" tIns="508" rIns="508" bIns="508" rtlCol="0" anchor="ctr">
            <a:normAutofit/>
          </a:bodyPr>
          <a:lstStyle/>
          <a:p>
            <a:pPr algn="l" indent="0" marL="0">
              <a:buNone/>
            </a:pPr>
            <a:r>
              <a:rPr lang="en-US" sz="1010" b="1" dirty="0">
                <a:solidFill>
                  <a:srgbClr val="C73B3B"/>
                </a:solidFill>
                <a:latin typeface="Aptos" pitchFamily="34" charset="0"/>
                <a:ea typeface="Aptos" pitchFamily="34" charset="-122"/>
                <a:cs typeface="Aptos" pitchFamily="34" charset="-120"/>
              </a:rPr>
              <a:t>Convergence warnings</a:t>
            </a:r>
            <a:endParaRPr lang="en-US" sz="1010" dirty="0"/>
          </a:p>
        </p:txBody>
      </p:sp>
      <p:sp>
        <p:nvSpPr>
          <p:cNvPr id="32" name="Text 26"/>
          <p:cNvSpPr/>
          <p:nvPr/>
        </p:nvSpPr>
        <p:spPr>
          <a:xfrm>
            <a:off x="8933688" y="4809744"/>
            <a:ext cx="2048256" cy="182880"/>
          </a:xfrm>
          <a:prstGeom prst="rect">
            <a:avLst/>
          </a:prstGeom>
          <a:noFill/>
          <a:ln/>
        </p:spPr>
        <p:txBody>
          <a:bodyPr wrap="square" lIns="508" tIns="508" rIns="508" bIns="508" rtlCol="0" anchor="ctr">
            <a:normAutofit/>
          </a:bodyPr>
          <a:lstStyle/>
          <a:p>
            <a:pPr algn="l" indent="0" marL="0">
              <a:buNone/>
            </a:pPr>
            <a:r>
              <a:rPr lang="en-US" sz="960" dirty="0">
                <a:solidFill>
                  <a:srgbClr val="0B1F5B"/>
                </a:solidFill>
                <a:latin typeface="Aptos" pitchFamily="34" charset="0"/>
                <a:ea typeface="Aptos" pitchFamily="34" charset="-122"/>
                <a:cs typeface="Aptos" pitchFamily="34" charset="-120"/>
              </a:rPr>
              <a:t>probabilities approach 0 / 1</a:t>
            </a:r>
            <a:endParaRPr lang="en-US" sz="960" dirty="0"/>
          </a:p>
        </p:txBody>
      </p:sp>
      <p:sp>
        <p:nvSpPr>
          <p:cNvPr id="33" name="Text 27"/>
          <p:cNvSpPr/>
          <p:nvPr/>
        </p:nvSpPr>
        <p:spPr>
          <a:xfrm>
            <a:off x="7004304" y="5093208"/>
            <a:ext cx="201168" cy="164592"/>
          </a:xfrm>
          <a:prstGeom prst="rect">
            <a:avLst/>
          </a:prstGeom>
          <a:noFill/>
          <a:ln/>
        </p:spPr>
        <p:txBody>
          <a:bodyPr wrap="square" lIns="508" tIns="508" rIns="508" bIns="508" rtlCol="0" anchor="ctr">
            <a:normAutofit/>
          </a:bodyPr>
          <a:lstStyle/>
          <a:p>
            <a:pPr algn="l" indent="0" marL="0">
              <a:buNone/>
            </a:pPr>
            <a:r>
              <a:rPr lang="en-US" sz="1100" b="1" dirty="0">
                <a:solidFill>
                  <a:srgbClr val="C73B3B"/>
                </a:solidFill>
                <a:latin typeface="Aptos" pitchFamily="34" charset="0"/>
                <a:ea typeface="Aptos" pitchFamily="34" charset="-122"/>
                <a:cs typeface="Aptos" pitchFamily="34" charset="-120"/>
              </a:rPr>
              <a:t>•</a:t>
            </a:r>
            <a:endParaRPr lang="en-US" sz="1100" dirty="0"/>
          </a:p>
        </p:txBody>
      </p:sp>
      <p:sp>
        <p:nvSpPr>
          <p:cNvPr id="34" name="Text 28"/>
          <p:cNvSpPr/>
          <p:nvPr/>
        </p:nvSpPr>
        <p:spPr>
          <a:xfrm>
            <a:off x="7260336" y="5093208"/>
            <a:ext cx="1691640" cy="182880"/>
          </a:xfrm>
          <a:prstGeom prst="rect">
            <a:avLst/>
          </a:prstGeom>
          <a:noFill/>
          <a:ln/>
        </p:spPr>
        <p:txBody>
          <a:bodyPr wrap="square" lIns="508" tIns="508" rIns="508" bIns="508" rtlCol="0" anchor="ctr">
            <a:normAutofit/>
          </a:bodyPr>
          <a:lstStyle/>
          <a:p>
            <a:pPr algn="l" indent="0" marL="0">
              <a:buNone/>
            </a:pPr>
            <a:r>
              <a:rPr lang="en-US" sz="1010" b="1" dirty="0">
                <a:solidFill>
                  <a:srgbClr val="C73B3B"/>
                </a:solidFill>
                <a:latin typeface="Aptos" pitchFamily="34" charset="0"/>
                <a:ea typeface="Aptos" pitchFamily="34" charset="-122"/>
                <a:cs typeface="Aptos" pitchFamily="34" charset="-120"/>
              </a:rPr>
              <a:t>High multicollinearity</a:t>
            </a:r>
            <a:endParaRPr lang="en-US" sz="1010" dirty="0"/>
          </a:p>
        </p:txBody>
      </p:sp>
      <p:sp>
        <p:nvSpPr>
          <p:cNvPr id="35" name="Text 29"/>
          <p:cNvSpPr/>
          <p:nvPr/>
        </p:nvSpPr>
        <p:spPr>
          <a:xfrm>
            <a:off x="8933688" y="5093208"/>
            <a:ext cx="2048256" cy="182880"/>
          </a:xfrm>
          <a:prstGeom prst="rect">
            <a:avLst/>
          </a:prstGeom>
          <a:noFill/>
          <a:ln/>
        </p:spPr>
        <p:txBody>
          <a:bodyPr wrap="square" lIns="508" tIns="508" rIns="508" bIns="508" rtlCol="0" anchor="ctr">
            <a:normAutofit/>
          </a:bodyPr>
          <a:lstStyle/>
          <a:p>
            <a:pPr algn="l" indent="0" marL="0">
              <a:buNone/>
            </a:pPr>
            <a:r>
              <a:rPr lang="en-US" sz="960" dirty="0">
                <a:solidFill>
                  <a:srgbClr val="0B1F5B"/>
                </a:solidFill>
                <a:latin typeface="Aptos" pitchFamily="34" charset="0"/>
                <a:ea typeface="Aptos" pitchFamily="34" charset="-122"/>
                <a:cs typeface="Aptos" pitchFamily="34" charset="-120"/>
              </a:rPr>
              <a:t>VIF ≈ 35.2, 20.4, 19.7</a:t>
            </a:r>
            <a:endParaRPr lang="en-US" sz="960" dirty="0"/>
          </a:p>
        </p:txBody>
      </p:sp>
      <p:sp>
        <p:nvSpPr>
          <p:cNvPr id="36" name="Text 30"/>
          <p:cNvSpPr/>
          <p:nvPr/>
        </p:nvSpPr>
        <p:spPr>
          <a:xfrm>
            <a:off x="7004304" y="5376672"/>
            <a:ext cx="201168" cy="164592"/>
          </a:xfrm>
          <a:prstGeom prst="rect">
            <a:avLst/>
          </a:prstGeom>
          <a:noFill/>
          <a:ln/>
        </p:spPr>
        <p:txBody>
          <a:bodyPr wrap="square" lIns="508" tIns="508" rIns="508" bIns="508" rtlCol="0" anchor="ctr">
            <a:normAutofit/>
          </a:bodyPr>
          <a:lstStyle/>
          <a:p>
            <a:pPr algn="l" indent="0" marL="0">
              <a:buNone/>
            </a:pPr>
            <a:r>
              <a:rPr lang="en-US" sz="1100" b="1" dirty="0">
                <a:solidFill>
                  <a:srgbClr val="C73B3B"/>
                </a:solidFill>
                <a:latin typeface="Aptos" pitchFamily="34" charset="0"/>
                <a:ea typeface="Aptos" pitchFamily="34" charset="-122"/>
                <a:cs typeface="Aptos" pitchFamily="34" charset="-120"/>
              </a:rPr>
              <a:t>•</a:t>
            </a:r>
            <a:endParaRPr lang="en-US" sz="1100" dirty="0"/>
          </a:p>
        </p:txBody>
      </p:sp>
      <p:sp>
        <p:nvSpPr>
          <p:cNvPr id="37" name="Text 31"/>
          <p:cNvSpPr/>
          <p:nvPr/>
        </p:nvSpPr>
        <p:spPr>
          <a:xfrm>
            <a:off x="7260336" y="5376672"/>
            <a:ext cx="1691640" cy="182880"/>
          </a:xfrm>
          <a:prstGeom prst="rect">
            <a:avLst/>
          </a:prstGeom>
          <a:noFill/>
          <a:ln/>
        </p:spPr>
        <p:txBody>
          <a:bodyPr wrap="square" lIns="508" tIns="508" rIns="508" bIns="508" rtlCol="0" anchor="ctr">
            <a:normAutofit/>
          </a:bodyPr>
          <a:lstStyle/>
          <a:p>
            <a:pPr algn="l" indent="0" marL="0">
              <a:buNone/>
            </a:pPr>
            <a:r>
              <a:rPr lang="en-US" sz="1010" b="1" dirty="0">
                <a:solidFill>
                  <a:srgbClr val="C73B3B"/>
                </a:solidFill>
                <a:latin typeface="Aptos" pitchFamily="34" charset="0"/>
                <a:ea typeface="Aptos" pitchFamily="34" charset="-122"/>
                <a:cs typeface="Aptos" pitchFamily="34" charset="-120"/>
              </a:rPr>
              <a:t>No external validation</a:t>
            </a:r>
            <a:endParaRPr lang="en-US" sz="1010" dirty="0"/>
          </a:p>
        </p:txBody>
      </p:sp>
      <p:sp>
        <p:nvSpPr>
          <p:cNvPr id="38" name="Text 32"/>
          <p:cNvSpPr/>
          <p:nvPr/>
        </p:nvSpPr>
        <p:spPr>
          <a:xfrm>
            <a:off x="8933688" y="5376672"/>
            <a:ext cx="2048256" cy="182880"/>
          </a:xfrm>
          <a:prstGeom prst="rect">
            <a:avLst/>
          </a:prstGeom>
          <a:noFill/>
          <a:ln/>
        </p:spPr>
        <p:txBody>
          <a:bodyPr wrap="square" lIns="508" tIns="508" rIns="508" bIns="508" rtlCol="0" anchor="ctr">
            <a:normAutofit/>
          </a:bodyPr>
          <a:lstStyle/>
          <a:p>
            <a:pPr algn="l" indent="0" marL="0">
              <a:buNone/>
            </a:pPr>
            <a:r>
              <a:rPr lang="en-US" sz="960" dirty="0">
                <a:solidFill>
                  <a:srgbClr val="0B1F5B"/>
                </a:solidFill>
                <a:latin typeface="Aptos" pitchFamily="34" charset="0"/>
                <a:ea typeface="Aptos" pitchFamily="34" charset="-122"/>
                <a:cs typeface="Aptos" pitchFamily="34" charset="-120"/>
              </a:rPr>
              <a:t>future population unknown</a:t>
            </a:r>
            <a:endParaRPr lang="en-US" sz="96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10561320" y="-502920"/>
            <a:ext cx="2011680" cy="1645920"/>
          </a:xfrm>
          <a:prstGeom prst="arc">
            <a:avLst/>
          </a:prstGeom>
          <a:solidFill>
            <a:srgbClr val="FFFFFF">
              <a:alpha val="0"/>
            </a:srgbClr>
          </a:solidFill>
          <a:ln w="10160">
            <a:solidFill>
              <a:srgbClr val="D7E8F7">
                <a:alpha val="85000"/>
              </a:srgbClr>
            </a:solidFill>
            <a:prstDash val="solid"/>
          </a:ln>
        </p:spPr>
      </p:sp>
      <p:sp>
        <p:nvSpPr>
          <p:cNvPr id="3" name="Shape 1"/>
          <p:cNvSpPr/>
          <p:nvPr/>
        </p:nvSpPr>
        <p:spPr>
          <a:xfrm>
            <a:off x="10835640" y="-274320"/>
            <a:ext cx="1508760" cy="1234440"/>
          </a:xfrm>
          <a:prstGeom prst="arc">
            <a:avLst/>
          </a:prstGeom>
          <a:solidFill>
            <a:srgbClr val="FFFFFF">
              <a:alpha val="0"/>
            </a:srgbClr>
          </a:solidFill>
          <a:ln w="7620">
            <a:solidFill>
              <a:srgbClr val="D7E8F7">
                <a:alpha val="65000"/>
              </a:srgbClr>
            </a:solidFill>
            <a:prstDash val="solid"/>
          </a:ln>
        </p:spPr>
      </p:sp>
      <p:sp>
        <p:nvSpPr>
          <p:cNvPr id="4" name="Text 2"/>
          <p:cNvSpPr/>
          <p:nvPr/>
        </p:nvSpPr>
        <p:spPr>
          <a:xfrm>
            <a:off x="658368" y="256032"/>
            <a:ext cx="10927080" cy="502920"/>
          </a:xfrm>
          <a:prstGeom prst="rect">
            <a:avLst/>
          </a:prstGeom>
          <a:noFill/>
          <a:ln/>
        </p:spPr>
        <p:txBody>
          <a:bodyPr wrap="square" lIns="0" tIns="0" rIns="0" bIns="0" rtlCol="0" anchor="ctr">
            <a:normAutofit/>
          </a:bodyPr>
          <a:lstStyle/>
          <a:p>
            <a:pPr algn="ctr" indent="0" marL="0">
              <a:buNone/>
            </a:pPr>
            <a:r>
              <a:rPr lang="en-US" sz="2500" b="1" dirty="0">
                <a:solidFill>
                  <a:srgbClr val="0B1F5B"/>
                </a:solidFill>
                <a:latin typeface="Georgia" pitchFamily="34" charset="0"/>
                <a:ea typeface="Georgia" pitchFamily="34" charset="-122"/>
                <a:cs typeface="Georgia" pitchFamily="34" charset="-120"/>
              </a:rPr>
              <a:t>What Did This Project Actually Demonstrate?</a:t>
            </a:r>
            <a:endParaRPr lang="en-US" sz="2500" dirty="0"/>
          </a:p>
        </p:txBody>
      </p:sp>
      <p:sp>
        <p:nvSpPr>
          <p:cNvPr id="5" name="Text 3"/>
          <p:cNvSpPr/>
          <p:nvPr/>
        </p:nvSpPr>
        <p:spPr>
          <a:xfrm>
            <a:off x="777240" y="804672"/>
            <a:ext cx="10698480" cy="310896"/>
          </a:xfrm>
          <a:prstGeom prst="rect">
            <a:avLst/>
          </a:prstGeom>
          <a:noFill/>
          <a:ln/>
        </p:spPr>
        <p:txBody>
          <a:bodyPr wrap="square" lIns="0" tIns="0" rIns="0" bIns="0" rtlCol="0" anchor="ctr">
            <a:normAutofit/>
          </a:bodyPr>
          <a:lstStyle/>
          <a:p>
            <a:pPr algn="ctr" indent="0" marL="0">
              <a:buNone/>
            </a:pPr>
            <a:r>
              <a:rPr lang="en-US" sz="1450" b="1" dirty="0">
                <a:solidFill>
                  <a:srgbClr val="1C67B5"/>
                </a:solidFill>
                <a:latin typeface="Aptos" pitchFamily="34" charset="0"/>
                <a:ea typeface="Aptos" pitchFamily="34" charset="-122"/>
                <a:cs typeface="Aptos" pitchFamily="34" charset="-120"/>
              </a:rPr>
              <a:t>Scientific contribution, limitations and final scope</a:t>
            </a:r>
            <a:endParaRPr lang="en-US" sz="1450" dirty="0"/>
          </a:p>
        </p:txBody>
      </p:sp>
      <p:sp>
        <p:nvSpPr>
          <p:cNvPr id="6" name="Shape 4"/>
          <p:cNvSpPr/>
          <p:nvPr/>
        </p:nvSpPr>
        <p:spPr>
          <a:xfrm>
            <a:off x="640080" y="1325880"/>
            <a:ext cx="5349240" cy="3337560"/>
          </a:xfrm>
          <a:prstGeom prst="roundRect">
            <a:avLst>
              <a:gd name="adj" fmla="val 2192"/>
            </a:avLst>
          </a:prstGeom>
          <a:solidFill>
            <a:srgbClr val="EEF6FD"/>
          </a:solidFill>
          <a:ln w="12700">
            <a:solidFill>
              <a:srgbClr val="BDD7EC"/>
            </a:solidFill>
            <a:prstDash val="solid"/>
          </a:ln>
        </p:spPr>
      </p:sp>
      <p:sp>
        <p:nvSpPr>
          <p:cNvPr id="7" name="Text 5"/>
          <p:cNvSpPr/>
          <p:nvPr/>
        </p:nvSpPr>
        <p:spPr>
          <a:xfrm>
            <a:off x="941832" y="1572768"/>
            <a:ext cx="4754880" cy="292608"/>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WHAT WE DEMONSTRATED</a:t>
            </a:r>
            <a:endParaRPr lang="en-US" sz="1700" dirty="0"/>
          </a:p>
        </p:txBody>
      </p:sp>
      <p:sp>
        <p:nvSpPr>
          <p:cNvPr id="8" name="Text 6"/>
          <p:cNvSpPr/>
          <p:nvPr/>
        </p:nvSpPr>
        <p:spPr>
          <a:xfrm>
            <a:off x="941832" y="2011680"/>
            <a:ext cx="4663440" cy="2194560"/>
          </a:xfrm>
          <a:prstGeom prst="rect">
            <a:avLst/>
          </a:prstGeom>
          <a:noFill/>
          <a:ln/>
        </p:spPr>
        <p:txBody>
          <a:bodyPr wrap="square" lIns="508" tIns="508" rIns="508" bIns="508" rtlCol="0" anchor="ctr">
            <a:normAutofit/>
          </a:bodyPr>
          <a:lstStyle/>
          <a:p>
            <a:pPr marL="177800" indent="-177800">
              <a:buSzPct val="100000"/>
              <a:buChar char="•"/>
            </a:pPr>
            <a:r>
              <a:rPr lang="en-US" sz="1170" dirty="0">
                <a:solidFill>
                  <a:srgbClr val="18334F"/>
                </a:solidFill>
                <a:latin typeface="Aptos" pitchFamily="34" charset="0"/>
                <a:ea typeface="Aptos" pitchFamily="34" charset="-122"/>
                <a:cs typeface="Aptos" pitchFamily="34" charset="-120"/>
              </a:rPr>
              <a:t>Real GOES X-ray observations can be processed as a time series.</a:t>
            </a:r>
            <a:endParaRPr lang="en-US" sz="1170" dirty="0"/>
          </a:p>
          <a:p>
            <a:pPr marL="177800" indent="-177800">
              <a:buSzPct val="100000"/>
              <a:buChar char="•"/>
            </a:pPr>
            <a:r>
              <a:rPr lang="en-US" sz="1170" dirty="0">
                <a:solidFill>
                  <a:srgbClr val="18334F"/>
                </a:solidFill>
                <a:latin typeface="Aptos" pitchFamily="34" charset="0"/>
                <a:ea typeface="Aptos" pitchFamily="34" charset="-122"/>
                <a:cs typeface="Aptos" pitchFamily="34" charset="-120"/>
              </a:rPr>
              <a:t>Rolling statistics can describe a changing solar background.</a:t>
            </a:r>
            <a:endParaRPr lang="en-US" sz="1170" dirty="0"/>
          </a:p>
          <a:p>
            <a:pPr marL="177800" indent="-177800">
              <a:buSzPct val="100000"/>
              <a:buChar char="•"/>
            </a:pPr>
            <a:r>
              <a:rPr lang="en-US" sz="1170" dirty="0">
                <a:solidFill>
                  <a:srgbClr val="18334F"/>
                </a:solidFill>
                <a:latin typeface="Aptos" pitchFamily="34" charset="0"/>
                <a:ea typeface="Aptos" pitchFamily="34" charset="-122"/>
                <a:cs typeface="Aptos" pitchFamily="34" charset="-120"/>
              </a:rPr>
              <a:t>Statistical anomaly scores can identify unusual observations.</a:t>
            </a:r>
            <a:endParaRPr lang="en-US" sz="1170" dirty="0"/>
          </a:p>
          <a:p>
            <a:pPr marL="177800" indent="-177800">
              <a:buSzPct val="100000"/>
              <a:buChar char="•"/>
            </a:pPr>
            <a:r>
              <a:rPr lang="en-US" sz="1170" dirty="0">
                <a:solidFill>
                  <a:srgbClr val="18334F"/>
                </a:solidFill>
                <a:latin typeface="Aptos" pitchFamily="34" charset="0"/>
                <a:ea typeface="Aptos" pitchFamily="34" charset="-122"/>
                <a:cs typeface="Aptos" pitchFamily="34" charset="-120"/>
              </a:rPr>
              <a:t>Events can be segmented and aligned with NOAA records.</a:t>
            </a:r>
            <a:endParaRPr lang="en-US" sz="1170" dirty="0"/>
          </a:p>
          <a:p>
            <a:pPr marL="177800" indent="-177800">
              <a:buSzPct val="100000"/>
              <a:buChar char="•"/>
            </a:pPr>
            <a:r>
              <a:rPr lang="en-US" sz="1170" dirty="0">
                <a:solidFill>
                  <a:srgbClr val="18334F"/>
                </a:solidFill>
                <a:latin typeface="Aptos" pitchFamily="34" charset="0"/>
                <a:ea typeface="Aptos" pitchFamily="34" charset="-122"/>
                <a:cs typeface="Aptos" pitchFamily="34" charset="-120"/>
              </a:rPr>
              <a:t>Event shape can be converted into leakage-controlled predictors.</a:t>
            </a:r>
            <a:endParaRPr lang="en-US" sz="1170" dirty="0"/>
          </a:p>
          <a:p>
            <a:pPr marL="177800" indent="-177800">
              <a:buSzPct val="100000"/>
              <a:buChar char="•"/>
            </a:pPr>
            <a:r>
              <a:rPr lang="en-US" sz="1170" dirty="0">
                <a:solidFill>
                  <a:srgbClr val="18334F"/>
                </a:solidFill>
                <a:latin typeface="Aptos" pitchFamily="34" charset="0"/>
                <a:ea typeface="Aptos" pitchFamily="34" charset="-122"/>
                <a:cs typeface="Aptos" pitchFamily="34" charset="-120"/>
              </a:rPr>
              <a:t>A B vs C+ nowcasting experiment can be evaluated and replayed in R Shiny.</a:t>
            </a:r>
            <a:endParaRPr lang="en-US" sz="1170" dirty="0"/>
          </a:p>
        </p:txBody>
      </p:sp>
      <p:sp>
        <p:nvSpPr>
          <p:cNvPr id="9" name="Shape 7"/>
          <p:cNvSpPr/>
          <p:nvPr/>
        </p:nvSpPr>
        <p:spPr>
          <a:xfrm>
            <a:off x="6236208" y="1325880"/>
            <a:ext cx="5321808" cy="3337560"/>
          </a:xfrm>
          <a:prstGeom prst="roundRect">
            <a:avLst>
              <a:gd name="adj" fmla="val 2192"/>
            </a:avLst>
          </a:prstGeom>
          <a:solidFill>
            <a:srgbClr val="FFF8EE"/>
          </a:solidFill>
          <a:ln w="12700">
            <a:solidFill>
              <a:srgbClr val="E8C997"/>
            </a:solidFill>
            <a:prstDash val="solid"/>
          </a:ln>
        </p:spPr>
      </p:sp>
      <p:sp>
        <p:nvSpPr>
          <p:cNvPr id="10" name="Text 8"/>
          <p:cNvSpPr/>
          <p:nvPr/>
        </p:nvSpPr>
        <p:spPr>
          <a:xfrm>
            <a:off x="6547104" y="1572768"/>
            <a:ext cx="4681728" cy="292608"/>
          </a:xfrm>
          <a:prstGeom prst="rect">
            <a:avLst/>
          </a:prstGeom>
          <a:noFill/>
          <a:ln/>
        </p:spPr>
        <p:txBody>
          <a:bodyPr wrap="square" lIns="508" tIns="508" rIns="508" bIns="508" rtlCol="0" anchor="ctr">
            <a:normAutofit/>
          </a:bodyPr>
          <a:lstStyle/>
          <a:p>
            <a:pPr algn="l" indent="0" marL="0">
              <a:buNone/>
            </a:pPr>
            <a:r>
              <a:rPr lang="en-US" sz="1700" b="1" dirty="0">
                <a:solidFill>
                  <a:srgbClr val="0B1F5B"/>
                </a:solidFill>
                <a:latin typeface="Georgia" pitchFamily="34" charset="0"/>
                <a:ea typeface="Georgia" pitchFamily="34" charset="-122"/>
                <a:cs typeface="Georgia" pitchFamily="34" charset="-120"/>
              </a:rPr>
              <a:t>WHAT WE CANNOT CLAIM</a:t>
            </a:r>
            <a:endParaRPr lang="en-US" sz="1700" dirty="0"/>
          </a:p>
        </p:txBody>
      </p:sp>
      <p:sp>
        <p:nvSpPr>
          <p:cNvPr id="11" name="Text 9"/>
          <p:cNvSpPr/>
          <p:nvPr/>
        </p:nvSpPr>
        <p:spPr>
          <a:xfrm>
            <a:off x="6547104" y="2011680"/>
            <a:ext cx="4617720" cy="1965960"/>
          </a:xfrm>
          <a:prstGeom prst="rect">
            <a:avLst/>
          </a:prstGeom>
          <a:noFill/>
          <a:ln/>
        </p:spPr>
        <p:txBody>
          <a:bodyPr wrap="square" lIns="508" tIns="508" rIns="508" bIns="508" rtlCol="0" anchor="ctr">
            <a:normAutofit/>
          </a:bodyPr>
          <a:lstStyle/>
          <a:p>
            <a:pPr marL="177800" indent="-177800">
              <a:buSzPct val="100000"/>
              <a:buChar char="•"/>
            </a:pPr>
            <a:r>
              <a:rPr lang="en-US" sz="1190" dirty="0">
                <a:solidFill>
                  <a:srgbClr val="18334F"/>
                </a:solidFill>
                <a:latin typeface="Aptos" pitchFamily="34" charset="0"/>
                <a:ea typeface="Aptos" pitchFamily="34" charset="-122"/>
                <a:cs typeface="Aptos" pitchFamily="34" charset="-120"/>
              </a:rPr>
              <a:t>Operational flare forecasting or early warning.</a:t>
            </a:r>
            <a:endParaRPr lang="en-US" sz="1190" dirty="0"/>
          </a:p>
          <a:p>
            <a:pPr marL="177800" indent="-177800">
              <a:buSzPct val="100000"/>
              <a:buChar char="•"/>
            </a:pPr>
            <a:r>
              <a:rPr lang="en-US" sz="1190" dirty="0">
                <a:solidFill>
                  <a:srgbClr val="18334F"/>
                </a:solidFill>
                <a:latin typeface="Aptos" pitchFamily="34" charset="0"/>
                <a:ea typeface="Aptos" pitchFamily="34" charset="-122"/>
                <a:cs typeface="Aptos" pitchFamily="34" charset="-120"/>
              </a:rPr>
              <a:t>Production readiness or broad population generalization.</a:t>
            </a:r>
            <a:endParaRPr lang="en-US" sz="1190" dirty="0"/>
          </a:p>
          <a:p>
            <a:pPr marL="177800" indent="-177800">
              <a:buSzPct val="100000"/>
              <a:buChar char="•"/>
            </a:pPr>
            <a:r>
              <a:rPr lang="en-US" sz="1190" dirty="0">
                <a:solidFill>
                  <a:srgbClr val="18334F"/>
                </a:solidFill>
                <a:latin typeface="Aptos" pitchFamily="34" charset="0"/>
                <a:ea typeface="Aptos" pitchFamily="34" charset="-122"/>
                <a:cs typeface="Aptos" pitchFamily="34" charset="-120"/>
              </a:rPr>
              <a:t>Stable causal interpretation of Logistic coefficients.</a:t>
            </a:r>
            <a:endParaRPr lang="en-US" sz="1190" dirty="0"/>
          </a:p>
          <a:p>
            <a:pPr marL="177800" indent="-177800">
              <a:buSzPct val="100000"/>
              <a:buChar char="•"/>
            </a:pPr>
            <a:r>
              <a:rPr lang="en-US" sz="1190" dirty="0">
                <a:solidFill>
                  <a:srgbClr val="18334F"/>
                </a:solidFill>
                <a:latin typeface="Aptos" pitchFamily="34" charset="0"/>
                <a:ea typeface="Aptos" pitchFamily="34" charset="-122"/>
                <a:cs typeface="Aptos" pitchFamily="34" charset="-120"/>
              </a:rPr>
              <a:t>Superiority of one algorithm.</a:t>
            </a:r>
            <a:endParaRPr lang="en-US" sz="1190" dirty="0"/>
          </a:p>
          <a:p>
            <a:pPr marL="177800" indent="-177800">
              <a:buSzPct val="100000"/>
              <a:buChar char="•"/>
            </a:pPr>
            <a:r>
              <a:rPr lang="en-US" sz="1190" dirty="0">
                <a:solidFill>
                  <a:srgbClr val="18334F"/>
                </a:solidFill>
                <a:latin typeface="Aptos" pitchFamily="34" charset="0"/>
                <a:ea typeface="Aptos" pitchFamily="34" charset="-122"/>
                <a:cs typeface="Aptos" pitchFamily="34" charset="-120"/>
              </a:rPr>
              <a:t>Validation across other solar cycles, instruments or populations.</a:t>
            </a:r>
            <a:endParaRPr lang="en-US" sz="1190" dirty="0"/>
          </a:p>
        </p:txBody>
      </p:sp>
      <p:sp>
        <p:nvSpPr>
          <p:cNvPr id="12" name="Shape 10"/>
          <p:cNvSpPr/>
          <p:nvPr/>
        </p:nvSpPr>
        <p:spPr>
          <a:xfrm>
            <a:off x="658368" y="4864608"/>
            <a:ext cx="877824" cy="502920"/>
          </a:xfrm>
          <a:prstGeom prst="roundRect">
            <a:avLst>
              <a:gd name="adj" fmla="val 14545"/>
            </a:avLst>
          </a:prstGeom>
          <a:solidFill>
            <a:srgbClr val="EEF6FD"/>
          </a:solidFill>
          <a:ln w="12700">
            <a:solidFill>
              <a:srgbClr val="C9DAE8"/>
            </a:solidFill>
            <a:prstDash val="solid"/>
          </a:ln>
        </p:spPr>
      </p:sp>
      <p:sp>
        <p:nvSpPr>
          <p:cNvPr id="13" name="Text 11"/>
          <p:cNvSpPr/>
          <p:nvPr/>
        </p:nvSpPr>
        <p:spPr>
          <a:xfrm>
            <a:off x="658368"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SUN</a:t>
            </a:r>
            <a:endParaRPr lang="en-US" sz="870" dirty="0"/>
          </a:p>
        </p:txBody>
      </p:sp>
      <p:sp>
        <p:nvSpPr>
          <p:cNvPr id="14" name="Shape 12"/>
          <p:cNvSpPr/>
          <p:nvPr/>
        </p:nvSpPr>
        <p:spPr>
          <a:xfrm>
            <a:off x="1554480" y="4983480"/>
            <a:ext cx="118872" cy="256032"/>
          </a:xfrm>
          <a:prstGeom prst="chevron">
            <a:avLst/>
          </a:prstGeom>
          <a:solidFill>
            <a:srgbClr val="1C67B5"/>
          </a:solidFill>
          <a:ln w="12700">
            <a:solidFill>
              <a:srgbClr val="1C67B5">
                <a:alpha val="0"/>
              </a:srgbClr>
            </a:solidFill>
            <a:prstDash val="solid"/>
          </a:ln>
        </p:spPr>
      </p:sp>
      <p:sp>
        <p:nvSpPr>
          <p:cNvPr id="15" name="Shape 13"/>
          <p:cNvSpPr/>
          <p:nvPr/>
        </p:nvSpPr>
        <p:spPr>
          <a:xfrm>
            <a:off x="1691640" y="4864608"/>
            <a:ext cx="877824" cy="502920"/>
          </a:xfrm>
          <a:prstGeom prst="roundRect">
            <a:avLst>
              <a:gd name="adj" fmla="val 14545"/>
            </a:avLst>
          </a:prstGeom>
          <a:solidFill>
            <a:srgbClr val="EEF6FD"/>
          </a:solidFill>
          <a:ln w="12700">
            <a:solidFill>
              <a:srgbClr val="C9DAE8"/>
            </a:solidFill>
            <a:prstDash val="solid"/>
          </a:ln>
        </p:spPr>
      </p:sp>
      <p:sp>
        <p:nvSpPr>
          <p:cNvPr id="16" name="Text 14"/>
          <p:cNvSpPr/>
          <p:nvPr/>
        </p:nvSpPr>
        <p:spPr>
          <a:xfrm>
            <a:off x="1691640"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X-RAYS</a:t>
            </a:r>
            <a:endParaRPr lang="en-US" sz="870" dirty="0"/>
          </a:p>
        </p:txBody>
      </p:sp>
      <p:sp>
        <p:nvSpPr>
          <p:cNvPr id="17" name="Shape 15"/>
          <p:cNvSpPr/>
          <p:nvPr/>
        </p:nvSpPr>
        <p:spPr>
          <a:xfrm>
            <a:off x="2587752" y="4983480"/>
            <a:ext cx="118872" cy="256032"/>
          </a:xfrm>
          <a:prstGeom prst="chevron">
            <a:avLst/>
          </a:prstGeom>
          <a:solidFill>
            <a:srgbClr val="1C67B5"/>
          </a:solidFill>
          <a:ln w="12700">
            <a:solidFill>
              <a:srgbClr val="1C67B5">
                <a:alpha val="0"/>
              </a:srgbClr>
            </a:solidFill>
            <a:prstDash val="solid"/>
          </a:ln>
        </p:spPr>
      </p:sp>
      <p:sp>
        <p:nvSpPr>
          <p:cNvPr id="18" name="Shape 16"/>
          <p:cNvSpPr/>
          <p:nvPr/>
        </p:nvSpPr>
        <p:spPr>
          <a:xfrm>
            <a:off x="2724912" y="4864608"/>
            <a:ext cx="877824" cy="502920"/>
          </a:xfrm>
          <a:prstGeom prst="roundRect">
            <a:avLst>
              <a:gd name="adj" fmla="val 14545"/>
            </a:avLst>
          </a:prstGeom>
          <a:solidFill>
            <a:srgbClr val="EEF6FD"/>
          </a:solidFill>
          <a:ln w="12700">
            <a:solidFill>
              <a:srgbClr val="C9DAE8"/>
            </a:solidFill>
            <a:prstDash val="solid"/>
          </a:ln>
        </p:spPr>
      </p:sp>
      <p:sp>
        <p:nvSpPr>
          <p:cNvPr id="19" name="Text 17"/>
          <p:cNvSpPr/>
          <p:nvPr/>
        </p:nvSpPr>
        <p:spPr>
          <a:xfrm>
            <a:off x="2724912"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DATA</a:t>
            </a:r>
            <a:endParaRPr lang="en-US" sz="870" dirty="0"/>
          </a:p>
        </p:txBody>
      </p:sp>
      <p:sp>
        <p:nvSpPr>
          <p:cNvPr id="20" name="Shape 18"/>
          <p:cNvSpPr/>
          <p:nvPr/>
        </p:nvSpPr>
        <p:spPr>
          <a:xfrm>
            <a:off x="3621024" y="4983480"/>
            <a:ext cx="118872" cy="256032"/>
          </a:xfrm>
          <a:prstGeom prst="chevron">
            <a:avLst/>
          </a:prstGeom>
          <a:solidFill>
            <a:srgbClr val="1C67B5"/>
          </a:solidFill>
          <a:ln w="12700">
            <a:solidFill>
              <a:srgbClr val="1C67B5">
                <a:alpha val="0"/>
              </a:srgbClr>
            </a:solidFill>
            <a:prstDash val="solid"/>
          </a:ln>
        </p:spPr>
      </p:sp>
      <p:sp>
        <p:nvSpPr>
          <p:cNvPr id="21" name="Shape 19"/>
          <p:cNvSpPr/>
          <p:nvPr/>
        </p:nvSpPr>
        <p:spPr>
          <a:xfrm>
            <a:off x="3758184" y="4864608"/>
            <a:ext cx="877824" cy="502920"/>
          </a:xfrm>
          <a:prstGeom prst="roundRect">
            <a:avLst>
              <a:gd name="adj" fmla="val 14545"/>
            </a:avLst>
          </a:prstGeom>
          <a:solidFill>
            <a:srgbClr val="EAF9FC"/>
          </a:solidFill>
          <a:ln w="12700">
            <a:solidFill>
              <a:srgbClr val="C9DAE8"/>
            </a:solidFill>
            <a:prstDash val="solid"/>
          </a:ln>
        </p:spPr>
      </p:sp>
      <p:sp>
        <p:nvSpPr>
          <p:cNvPr id="22" name="Text 20"/>
          <p:cNvSpPr/>
          <p:nvPr/>
        </p:nvSpPr>
        <p:spPr>
          <a:xfrm>
            <a:off x="3758184"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NORMAL</a:t>
            </a:r>
            <a:endParaRPr lang="en-US" sz="870" dirty="0"/>
          </a:p>
        </p:txBody>
      </p:sp>
      <p:sp>
        <p:nvSpPr>
          <p:cNvPr id="23" name="Shape 21"/>
          <p:cNvSpPr/>
          <p:nvPr/>
        </p:nvSpPr>
        <p:spPr>
          <a:xfrm>
            <a:off x="4654296" y="4983480"/>
            <a:ext cx="118872" cy="256032"/>
          </a:xfrm>
          <a:prstGeom prst="chevron">
            <a:avLst/>
          </a:prstGeom>
          <a:solidFill>
            <a:srgbClr val="1C67B5"/>
          </a:solidFill>
          <a:ln w="12700">
            <a:solidFill>
              <a:srgbClr val="1C67B5">
                <a:alpha val="0"/>
              </a:srgbClr>
            </a:solidFill>
            <a:prstDash val="solid"/>
          </a:ln>
        </p:spPr>
      </p:sp>
      <p:sp>
        <p:nvSpPr>
          <p:cNvPr id="24" name="Shape 22"/>
          <p:cNvSpPr/>
          <p:nvPr/>
        </p:nvSpPr>
        <p:spPr>
          <a:xfrm>
            <a:off x="4791456" y="4864608"/>
            <a:ext cx="877824" cy="502920"/>
          </a:xfrm>
          <a:prstGeom prst="roundRect">
            <a:avLst>
              <a:gd name="adj" fmla="val 14545"/>
            </a:avLst>
          </a:prstGeom>
          <a:solidFill>
            <a:srgbClr val="EAF9FC"/>
          </a:solidFill>
          <a:ln w="12700">
            <a:solidFill>
              <a:srgbClr val="C9DAE8"/>
            </a:solidFill>
            <a:prstDash val="solid"/>
          </a:ln>
        </p:spPr>
      </p:sp>
      <p:sp>
        <p:nvSpPr>
          <p:cNvPr id="25" name="Text 23"/>
          <p:cNvSpPr/>
          <p:nvPr/>
        </p:nvSpPr>
        <p:spPr>
          <a:xfrm>
            <a:off x="4791456"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UNUSUAL</a:t>
            </a:r>
            <a:endParaRPr lang="en-US" sz="870" dirty="0"/>
          </a:p>
        </p:txBody>
      </p:sp>
      <p:sp>
        <p:nvSpPr>
          <p:cNvPr id="26" name="Shape 24"/>
          <p:cNvSpPr/>
          <p:nvPr/>
        </p:nvSpPr>
        <p:spPr>
          <a:xfrm>
            <a:off x="5687568" y="4983480"/>
            <a:ext cx="118872" cy="256032"/>
          </a:xfrm>
          <a:prstGeom prst="chevron">
            <a:avLst/>
          </a:prstGeom>
          <a:solidFill>
            <a:srgbClr val="1C67B5"/>
          </a:solidFill>
          <a:ln w="12700">
            <a:solidFill>
              <a:srgbClr val="1C67B5">
                <a:alpha val="0"/>
              </a:srgbClr>
            </a:solidFill>
            <a:prstDash val="solid"/>
          </a:ln>
        </p:spPr>
      </p:sp>
      <p:sp>
        <p:nvSpPr>
          <p:cNvPr id="27" name="Shape 25"/>
          <p:cNvSpPr/>
          <p:nvPr/>
        </p:nvSpPr>
        <p:spPr>
          <a:xfrm>
            <a:off x="5824728" y="4864608"/>
            <a:ext cx="877824" cy="502920"/>
          </a:xfrm>
          <a:prstGeom prst="roundRect">
            <a:avLst>
              <a:gd name="adj" fmla="val 14545"/>
            </a:avLst>
          </a:prstGeom>
          <a:solidFill>
            <a:srgbClr val="EAF9FC"/>
          </a:solidFill>
          <a:ln w="12700">
            <a:solidFill>
              <a:srgbClr val="C9DAE8"/>
            </a:solidFill>
            <a:prstDash val="solid"/>
          </a:ln>
        </p:spPr>
      </p:sp>
      <p:sp>
        <p:nvSpPr>
          <p:cNvPr id="28" name="Text 26"/>
          <p:cNvSpPr/>
          <p:nvPr/>
        </p:nvSpPr>
        <p:spPr>
          <a:xfrm>
            <a:off x="5824728"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EVENT</a:t>
            </a:r>
            <a:endParaRPr lang="en-US" sz="870" dirty="0"/>
          </a:p>
        </p:txBody>
      </p:sp>
      <p:sp>
        <p:nvSpPr>
          <p:cNvPr id="29" name="Shape 27"/>
          <p:cNvSpPr/>
          <p:nvPr/>
        </p:nvSpPr>
        <p:spPr>
          <a:xfrm>
            <a:off x="6720840" y="4983480"/>
            <a:ext cx="118872" cy="256032"/>
          </a:xfrm>
          <a:prstGeom prst="chevron">
            <a:avLst/>
          </a:prstGeom>
          <a:solidFill>
            <a:srgbClr val="1C67B5"/>
          </a:solidFill>
          <a:ln w="12700">
            <a:solidFill>
              <a:srgbClr val="1C67B5">
                <a:alpha val="0"/>
              </a:srgbClr>
            </a:solidFill>
            <a:prstDash val="solid"/>
          </a:ln>
        </p:spPr>
      </p:sp>
      <p:sp>
        <p:nvSpPr>
          <p:cNvPr id="30" name="Shape 28"/>
          <p:cNvSpPr/>
          <p:nvPr/>
        </p:nvSpPr>
        <p:spPr>
          <a:xfrm>
            <a:off x="6858000" y="4864608"/>
            <a:ext cx="877824" cy="502920"/>
          </a:xfrm>
          <a:prstGeom prst="roundRect">
            <a:avLst>
              <a:gd name="adj" fmla="val 14545"/>
            </a:avLst>
          </a:prstGeom>
          <a:solidFill>
            <a:srgbClr val="EAF9FC"/>
          </a:solidFill>
          <a:ln w="12700">
            <a:solidFill>
              <a:srgbClr val="C9DAE8"/>
            </a:solidFill>
            <a:prstDash val="solid"/>
          </a:ln>
        </p:spPr>
      </p:sp>
      <p:sp>
        <p:nvSpPr>
          <p:cNvPr id="31" name="Text 29"/>
          <p:cNvSpPr/>
          <p:nvPr/>
        </p:nvSpPr>
        <p:spPr>
          <a:xfrm>
            <a:off x="6858000"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NOAA</a:t>
            </a:r>
            <a:endParaRPr lang="en-US" sz="870" dirty="0"/>
          </a:p>
        </p:txBody>
      </p:sp>
      <p:sp>
        <p:nvSpPr>
          <p:cNvPr id="32" name="Shape 30"/>
          <p:cNvSpPr/>
          <p:nvPr/>
        </p:nvSpPr>
        <p:spPr>
          <a:xfrm>
            <a:off x="7754112" y="4983480"/>
            <a:ext cx="118872" cy="256032"/>
          </a:xfrm>
          <a:prstGeom prst="chevron">
            <a:avLst/>
          </a:prstGeom>
          <a:solidFill>
            <a:srgbClr val="1C67B5"/>
          </a:solidFill>
          <a:ln w="12700">
            <a:solidFill>
              <a:srgbClr val="1C67B5">
                <a:alpha val="0"/>
              </a:srgbClr>
            </a:solidFill>
            <a:prstDash val="solid"/>
          </a:ln>
        </p:spPr>
      </p:sp>
      <p:sp>
        <p:nvSpPr>
          <p:cNvPr id="33" name="Shape 31"/>
          <p:cNvSpPr/>
          <p:nvPr/>
        </p:nvSpPr>
        <p:spPr>
          <a:xfrm>
            <a:off x="7891272" y="4864608"/>
            <a:ext cx="877824" cy="502920"/>
          </a:xfrm>
          <a:prstGeom prst="roundRect">
            <a:avLst>
              <a:gd name="adj" fmla="val 14545"/>
            </a:avLst>
          </a:prstGeom>
          <a:solidFill>
            <a:srgbClr val="FFF6E4"/>
          </a:solidFill>
          <a:ln w="12700">
            <a:solidFill>
              <a:srgbClr val="C9DAE8"/>
            </a:solidFill>
            <a:prstDash val="solid"/>
          </a:ln>
        </p:spPr>
      </p:sp>
      <p:sp>
        <p:nvSpPr>
          <p:cNvPr id="34" name="Text 32"/>
          <p:cNvSpPr/>
          <p:nvPr/>
        </p:nvSpPr>
        <p:spPr>
          <a:xfrm>
            <a:off x="7891272"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FEATURES</a:t>
            </a:r>
            <a:endParaRPr lang="en-US" sz="870" dirty="0"/>
          </a:p>
        </p:txBody>
      </p:sp>
      <p:sp>
        <p:nvSpPr>
          <p:cNvPr id="35" name="Shape 33"/>
          <p:cNvSpPr/>
          <p:nvPr/>
        </p:nvSpPr>
        <p:spPr>
          <a:xfrm>
            <a:off x="8787384" y="4983480"/>
            <a:ext cx="118872" cy="256032"/>
          </a:xfrm>
          <a:prstGeom prst="chevron">
            <a:avLst/>
          </a:prstGeom>
          <a:solidFill>
            <a:srgbClr val="1C67B5"/>
          </a:solidFill>
          <a:ln w="12700">
            <a:solidFill>
              <a:srgbClr val="1C67B5">
                <a:alpha val="0"/>
              </a:srgbClr>
            </a:solidFill>
            <a:prstDash val="solid"/>
          </a:ln>
        </p:spPr>
      </p:sp>
      <p:sp>
        <p:nvSpPr>
          <p:cNvPr id="36" name="Shape 34"/>
          <p:cNvSpPr/>
          <p:nvPr/>
        </p:nvSpPr>
        <p:spPr>
          <a:xfrm>
            <a:off x="8924544" y="4864608"/>
            <a:ext cx="877824" cy="502920"/>
          </a:xfrm>
          <a:prstGeom prst="roundRect">
            <a:avLst>
              <a:gd name="adj" fmla="val 14545"/>
            </a:avLst>
          </a:prstGeom>
          <a:solidFill>
            <a:srgbClr val="FFF6E4"/>
          </a:solidFill>
          <a:ln w="12700">
            <a:solidFill>
              <a:srgbClr val="C9DAE8"/>
            </a:solidFill>
            <a:prstDash val="solid"/>
          </a:ln>
        </p:spPr>
      </p:sp>
      <p:sp>
        <p:nvSpPr>
          <p:cNvPr id="37" name="Text 35"/>
          <p:cNvSpPr/>
          <p:nvPr/>
        </p:nvSpPr>
        <p:spPr>
          <a:xfrm>
            <a:off x="8924544"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B/C+</a:t>
            </a:r>
            <a:endParaRPr lang="en-US" sz="870" dirty="0"/>
          </a:p>
        </p:txBody>
      </p:sp>
      <p:sp>
        <p:nvSpPr>
          <p:cNvPr id="38" name="Shape 36"/>
          <p:cNvSpPr/>
          <p:nvPr/>
        </p:nvSpPr>
        <p:spPr>
          <a:xfrm>
            <a:off x="9820656" y="4983480"/>
            <a:ext cx="118872" cy="256032"/>
          </a:xfrm>
          <a:prstGeom prst="chevron">
            <a:avLst/>
          </a:prstGeom>
          <a:solidFill>
            <a:srgbClr val="1C67B5"/>
          </a:solidFill>
          <a:ln w="12700">
            <a:solidFill>
              <a:srgbClr val="1C67B5">
                <a:alpha val="0"/>
              </a:srgbClr>
            </a:solidFill>
            <a:prstDash val="solid"/>
          </a:ln>
        </p:spPr>
      </p:sp>
      <p:sp>
        <p:nvSpPr>
          <p:cNvPr id="39" name="Shape 37"/>
          <p:cNvSpPr/>
          <p:nvPr/>
        </p:nvSpPr>
        <p:spPr>
          <a:xfrm>
            <a:off x="9957816" y="4864608"/>
            <a:ext cx="877824" cy="502920"/>
          </a:xfrm>
          <a:prstGeom prst="roundRect">
            <a:avLst>
              <a:gd name="adj" fmla="val 14545"/>
            </a:avLst>
          </a:prstGeom>
          <a:solidFill>
            <a:srgbClr val="F6EFFD"/>
          </a:solidFill>
          <a:ln w="12700">
            <a:solidFill>
              <a:srgbClr val="C9DAE8"/>
            </a:solidFill>
            <a:prstDash val="solid"/>
          </a:ln>
        </p:spPr>
      </p:sp>
      <p:sp>
        <p:nvSpPr>
          <p:cNvPr id="40" name="Text 38"/>
          <p:cNvSpPr/>
          <p:nvPr/>
        </p:nvSpPr>
        <p:spPr>
          <a:xfrm>
            <a:off x="9957816"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TEST</a:t>
            </a:r>
            <a:endParaRPr lang="en-US" sz="870" dirty="0"/>
          </a:p>
        </p:txBody>
      </p:sp>
      <p:sp>
        <p:nvSpPr>
          <p:cNvPr id="41" name="Shape 39"/>
          <p:cNvSpPr/>
          <p:nvPr/>
        </p:nvSpPr>
        <p:spPr>
          <a:xfrm>
            <a:off x="10853928" y="4983480"/>
            <a:ext cx="118872" cy="256032"/>
          </a:xfrm>
          <a:prstGeom prst="chevron">
            <a:avLst/>
          </a:prstGeom>
          <a:solidFill>
            <a:srgbClr val="1C67B5"/>
          </a:solidFill>
          <a:ln w="12700">
            <a:solidFill>
              <a:srgbClr val="1C67B5">
                <a:alpha val="0"/>
              </a:srgbClr>
            </a:solidFill>
            <a:prstDash val="solid"/>
          </a:ln>
        </p:spPr>
      </p:sp>
      <p:sp>
        <p:nvSpPr>
          <p:cNvPr id="42" name="Shape 40"/>
          <p:cNvSpPr/>
          <p:nvPr/>
        </p:nvSpPr>
        <p:spPr>
          <a:xfrm>
            <a:off x="10991088" y="4864608"/>
            <a:ext cx="877824" cy="502920"/>
          </a:xfrm>
          <a:prstGeom prst="roundRect">
            <a:avLst>
              <a:gd name="adj" fmla="val 14545"/>
            </a:avLst>
          </a:prstGeom>
          <a:solidFill>
            <a:srgbClr val="F6EFFD"/>
          </a:solidFill>
          <a:ln w="12700">
            <a:solidFill>
              <a:srgbClr val="C9DAE8"/>
            </a:solidFill>
            <a:prstDash val="solid"/>
          </a:ln>
        </p:spPr>
      </p:sp>
      <p:sp>
        <p:nvSpPr>
          <p:cNvPr id="43" name="Text 41"/>
          <p:cNvSpPr/>
          <p:nvPr/>
        </p:nvSpPr>
        <p:spPr>
          <a:xfrm>
            <a:off x="10991088" y="5020056"/>
            <a:ext cx="877824" cy="164592"/>
          </a:xfrm>
          <a:prstGeom prst="rect">
            <a:avLst/>
          </a:prstGeom>
          <a:noFill/>
          <a:ln/>
        </p:spPr>
        <p:txBody>
          <a:bodyPr wrap="square" lIns="508" tIns="508" rIns="508" bIns="508" rtlCol="0" anchor="ctr">
            <a:normAutofit/>
          </a:bodyPr>
          <a:lstStyle/>
          <a:p>
            <a:pPr algn="ctr" indent="0" marL="0">
              <a:buNone/>
            </a:pPr>
            <a:r>
              <a:rPr lang="en-US" sz="870" b="1" dirty="0">
                <a:solidFill>
                  <a:srgbClr val="0B1F5B"/>
                </a:solidFill>
                <a:latin typeface="Aptos" pitchFamily="34" charset="0"/>
                <a:ea typeface="Aptos" pitchFamily="34" charset="-122"/>
                <a:cs typeface="Aptos" pitchFamily="34" charset="-120"/>
              </a:rPr>
              <a:t>LIMITS</a:t>
            </a:r>
            <a:endParaRPr lang="en-US" sz="870" dirty="0"/>
          </a:p>
        </p:txBody>
      </p:sp>
      <p:sp>
        <p:nvSpPr>
          <p:cNvPr id="44" name="Shape 42"/>
          <p:cNvSpPr/>
          <p:nvPr/>
        </p:nvSpPr>
        <p:spPr>
          <a:xfrm>
            <a:off x="868680" y="5577840"/>
            <a:ext cx="1965960" cy="411480"/>
          </a:xfrm>
          <a:prstGeom prst="roundRect">
            <a:avLst>
              <a:gd name="adj" fmla="val 17778"/>
            </a:avLst>
          </a:prstGeom>
          <a:solidFill>
            <a:srgbClr val="FFF4F4"/>
          </a:solidFill>
          <a:ln w="12700">
            <a:solidFill>
              <a:srgbClr val="EDB5B5"/>
            </a:solidFill>
            <a:prstDash val="solid"/>
          </a:ln>
        </p:spPr>
      </p:sp>
      <p:sp>
        <p:nvSpPr>
          <p:cNvPr id="45" name="Text 43"/>
          <p:cNvSpPr/>
          <p:nvPr/>
        </p:nvSpPr>
        <p:spPr>
          <a:xfrm>
            <a:off x="941832" y="5696712"/>
            <a:ext cx="1810512" cy="164592"/>
          </a:xfrm>
          <a:prstGeom prst="rect">
            <a:avLst/>
          </a:prstGeom>
          <a:noFill/>
          <a:ln/>
        </p:spPr>
        <p:txBody>
          <a:bodyPr wrap="square" lIns="508" tIns="508" rIns="508" bIns="508" rtlCol="0" anchor="ctr">
            <a:normAutofit/>
          </a:bodyPr>
          <a:lstStyle/>
          <a:p>
            <a:pPr algn="ctr" indent="0" marL="0">
              <a:buNone/>
            </a:pPr>
            <a:r>
              <a:rPr lang="en-US" sz="980" b="1" dirty="0">
                <a:solidFill>
                  <a:srgbClr val="C73B3B"/>
                </a:solidFill>
                <a:latin typeface="Aptos" pitchFamily="34" charset="0"/>
                <a:ea typeface="Aptos" pitchFamily="34" charset="-122"/>
                <a:cs typeface="Aptos" pitchFamily="34" charset="-120"/>
              </a:rPr>
              <a:t>N = 31</a:t>
            </a:r>
            <a:endParaRPr lang="en-US" sz="980" dirty="0"/>
          </a:p>
        </p:txBody>
      </p:sp>
      <p:sp>
        <p:nvSpPr>
          <p:cNvPr id="46" name="Shape 44"/>
          <p:cNvSpPr/>
          <p:nvPr/>
        </p:nvSpPr>
        <p:spPr>
          <a:xfrm>
            <a:off x="3099816" y="5577840"/>
            <a:ext cx="1965960" cy="411480"/>
          </a:xfrm>
          <a:prstGeom prst="roundRect">
            <a:avLst>
              <a:gd name="adj" fmla="val 17778"/>
            </a:avLst>
          </a:prstGeom>
          <a:solidFill>
            <a:srgbClr val="FFF4F4"/>
          </a:solidFill>
          <a:ln w="12700">
            <a:solidFill>
              <a:srgbClr val="EDB5B5"/>
            </a:solidFill>
            <a:prstDash val="solid"/>
          </a:ln>
        </p:spPr>
      </p:sp>
      <p:sp>
        <p:nvSpPr>
          <p:cNvPr id="47" name="Text 45"/>
          <p:cNvSpPr/>
          <p:nvPr/>
        </p:nvSpPr>
        <p:spPr>
          <a:xfrm>
            <a:off x="3172968" y="5696712"/>
            <a:ext cx="1810512" cy="164592"/>
          </a:xfrm>
          <a:prstGeom prst="rect">
            <a:avLst/>
          </a:prstGeom>
          <a:noFill/>
          <a:ln/>
        </p:spPr>
        <p:txBody>
          <a:bodyPr wrap="square" lIns="508" tIns="508" rIns="508" bIns="508" rtlCol="0" anchor="ctr">
            <a:normAutofit/>
          </a:bodyPr>
          <a:lstStyle/>
          <a:p>
            <a:pPr algn="ctr" indent="0" marL="0">
              <a:buNone/>
            </a:pPr>
            <a:r>
              <a:rPr lang="en-US" sz="980" b="1" dirty="0">
                <a:solidFill>
                  <a:srgbClr val="C73B3B"/>
                </a:solidFill>
                <a:latin typeface="Aptos" pitchFamily="34" charset="0"/>
                <a:ea typeface="Aptos" pitchFamily="34" charset="-122"/>
                <a:cs typeface="Aptos" pitchFamily="34" charset="-120"/>
              </a:rPr>
              <a:t>final test N = 7</a:t>
            </a:r>
            <a:endParaRPr lang="en-US" sz="980" dirty="0"/>
          </a:p>
        </p:txBody>
      </p:sp>
      <p:sp>
        <p:nvSpPr>
          <p:cNvPr id="48" name="Shape 46"/>
          <p:cNvSpPr/>
          <p:nvPr/>
        </p:nvSpPr>
        <p:spPr>
          <a:xfrm>
            <a:off x="5330952" y="5577840"/>
            <a:ext cx="1965960" cy="411480"/>
          </a:xfrm>
          <a:prstGeom prst="roundRect">
            <a:avLst>
              <a:gd name="adj" fmla="val 17778"/>
            </a:avLst>
          </a:prstGeom>
          <a:solidFill>
            <a:srgbClr val="FFF4F4"/>
          </a:solidFill>
          <a:ln w="12700">
            <a:solidFill>
              <a:srgbClr val="EDB5B5"/>
            </a:solidFill>
            <a:prstDash val="solid"/>
          </a:ln>
        </p:spPr>
      </p:sp>
      <p:sp>
        <p:nvSpPr>
          <p:cNvPr id="49" name="Text 47"/>
          <p:cNvSpPr/>
          <p:nvPr/>
        </p:nvSpPr>
        <p:spPr>
          <a:xfrm>
            <a:off x="5404104" y="5696712"/>
            <a:ext cx="1810512" cy="164592"/>
          </a:xfrm>
          <a:prstGeom prst="rect">
            <a:avLst/>
          </a:prstGeom>
          <a:noFill/>
          <a:ln/>
        </p:spPr>
        <p:txBody>
          <a:bodyPr wrap="square" lIns="508" tIns="508" rIns="508" bIns="508" rtlCol="0" anchor="ctr">
            <a:normAutofit/>
          </a:bodyPr>
          <a:lstStyle/>
          <a:p>
            <a:pPr algn="ctr" indent="0" marL="0">
              <a:buNone/>
            </a:pPr>
            <a:r>
              <a:rPr lang="en-US" sz="980" b="1" dirty="0">
                <a:solidFill>
                  <a:srgbClr val="E86F1C"/>
                </a:solidFill>
                <a:latin typeface="Aptos" pitchFamily="34" charset="0"/>
                <a:ea typeface="Aptos" pitchFamily="34" charset="-122"/>
                <a:cs typeface="Aptos" pitchFamily="34" charset="-120"/>
              </a:rPr>
              <a:t>complete separation</a:t>
            </a:r>
            <a:endParaRPr lang="en-US" sz="980" dirty="0"/>
          </a:p>
        </p:txBody>
      </p:sp>
      <p:sp>
        <p:nvSpPr>
          <p:cNvPr id="50" name="Shape 48"/>
          <p:cNvSpPr/>
          <p:nvPr/>
        </p:nvSpPr>
        <p:spPr>
          <a:xfrm>
            <a:off x="7562088" y="5577840"/>
            <a:ext cx="1965960" cy="411480"/>
          </a:xfrm>
          <a:prstGeom prst="roundRect">
            <a:avLst>
              <a:gd name="adj" fmla="val 17778"/>
            </a:avLst>
          </a:prstGeom>
          <a:solidFill>
            <a:srgbClr val="FFF4F4"/>
          </a:solidFill>
          <a:ln w="12700">
            <a:solidFill>
              <a:srgbClr val="EDB5B5"/>
            </a:solidFill>
            <a:prstDash val="solid"/>
          </a:ln>
        </p:spPr>
      </p:sp>
      <p:sp>
        <p:nvSpPr>
          <p:cNvPr id="51" name="Text 49"/>
          <p:cNvSpPr/>
          <p:nvPr/>
        </p:nvSpPr>
        <p:spPr>
          <a:xfrm>
            <a:off x="7635240" y="5696712"/>
            <a:ext cx="1810512" cy="164592"/>
          </a:xfrm>
          <a:prstGeom prst="rect">
            <a:avLst/>
          </a:prstGeom>
          <a:noFill/>
          <a:ln/>
        </p:spPr>
        <p:txBody>
          <a:bodyPr wrap="square" lIns="508" tIns="508" rIns="508" bIns="508" rtlCol="0" anchor="ctr">
            <a:normAutofit/>
          </a:bodyPr>
          <a:lstStyle/>
          <a:p>
            <a:pPr algn="ctr" indent="0" marL="0">
              <a:buNone/>
            </a:pPr>
            <a:r>
              <a:rPr lang="en-US" sz="980" b="1" dirty="0">
                <a:solidFill>
                  <a:srgbClr val="E86F1C"/>
                </a:solidFill>
                <a:latin typeface="Aptos" pitchFamily="34" charset="0"/>
                <a:ea typeface="Aptos" pitchFamily="34" charset="-122"/>
                <a:cs typeface="Aptos" pitchFamily="34" charset="-120"/>
              </a:rPr>
              <a:t>high multicollinearity</a:t>
            </a:r>
            <a:endParaRPr lang="en-US" sz="980" dirty="0"/>
          </a:p>
        </p:txBody>
      </p:sp>
      <p:sp>
        <p:nvSpPr>
          <p:cNvPr id="52" name="Shape 50"/>
          <p:cNvSpPr/>
          <p:nvPr/>
        </p:nvSpPr>
        <p:spPr>
          <a:xfrm>
            <a:off x="9793224" y="5577840"/>
            <a:ext cx="1965960" cy="411480"/>
          </a:xfrm>
          <a:prstGeom prst="roundRect">
            <a:avLst>
              <a:gd name="adj" fmla="val 17778"/>
            </a:avLst>
          </a:prstGeom>
          <a:solidFill>
            <a:srgbClr val="FFF4F4"/>
          </a:solidFill>
          <a:ln w="12700">
            <a:solidFill>
              <a:srgbClr val="EDB5B5"/>
            </a:solidFill>
            <a:prstDash val="solid"/>
          </a:ln>
        </p:spPr>
      </p:sp>
      <p:sp>
        <p:nvSpPr>
          <p:cNvPr id="53" name="Text 51"/>
          <p:cNvSpPr/>
          <p:nvPr/>
        </p:nvSpPr>
        <p:spPr>
          <a:xfrm>
            <a:off x="9866376" y="5696712"/>
            <a:ext cx="1810512" cy="164592"/>
          </a:xfrm>
          <a:prstGeom prst="rect">
            <a:avLst/>
          </a:prstGeom>
          <a:noFill/>
          <a:ln/>
        </p:spPr>
        <p:txBody>
          <a:bodyPr wrap="square" lIns="508" tIns="508" rIns="508" bIns="508" rtlCol="0" anchor="ctr">
            <a:normAutofit/>
          </a:bodyPr>
          <a:lstStyle/>
          <a:p>
            <a:pPr algn="ctr" indent="0" marL="0">
              <a:buNone/>
            </a:pPr>
            <a:r>
              <a:rPr lang="en-US" sz="980" b="1" dirty="0">
                <a:solidFill>
                  <a:srgbClr val="C73B3B"/>
                </a:solidFill>
                <a:latin typeface="Aptos" pitchFamily="34" charset="0"/>
                <a:ea typeface="Aptos" pitchFamily="34" charset="-122"/>
                <a:cs typeface="Aptos" pitchFamily="34" charset="-120"/>
              </a:rPr>
              <a:t>no external validation</a:t>
            </a:r>
            <a:endParaRPr lang="en-US" sz="980" dirty="0"/>
          </a:p>
        </p:txBody>
      </p:sp>
      <p:sp>
        <p:nvSpPr>
          <p:cNvPr id="54" name="Shape 52"/>
          <p:cNvSpPr/>
          <p:nvPr/>
        </p:nvSpPr>
        <p:spPr>
          <a:xfrm>
            <a:off x="2011680" y="6108192"/>
            <a:ext cx="8183880" cy="384048"/>
          </a:xfrm>
          <a:prstGeom prst="roundRect">
            <a:avLst>
              <a:gd name="adj" fmla="val 19048"/>
            </a:avLst>
          </a:prstGeom>
          <a:solidFill>
            <a:srgbClr val="F4F9FD"/>
          </a:solidFill>
          <a:ln w="12700">
            <a:solidFill>
              <a:srgbClr val="1C67B5"/>
            </a:solidFill>
            <a:prstDash val="solid"/>
          </a:ln>
        </p:spPr>
      </p:sp>
      <p:sp>
        <p:nvSpPr>
          <p:cNvPr id="55" name="Text 53"/>
          <p:cNvSpPr/>
          <p:nvPr/>
        </p:nvSpPr>
        <p:spPr>
          <a:xfrm>
            <a:off x="2121408" y="6181344"/>
            <a:ext cx="7964424" cy="237744"/>
          </a:xfrm>
          <a:prstGeom prst="rect">
            <a:avLst/>
          </a:prstGeom>
          <a:noFill/>
          <a:ln/>
        </p:spPr>
        <p:txBody>
          <a:bodyPr wrap="square" lIns="508" tIns="508" rIns="508" bIns="508" rtlCol="0" anchor="ctr">
            <a:normAutofit/>
          </a:bodyPr>
          <a:lstStyle/>
          <a:p>
            <a:pPr algn="ctr" indent="0" marL="0">
              <a:buNone/>
            </a:pPr>
            <a:r>
              <a:rPr lang="en-US" sz="1150" dirty="0">
                <a:solidFill>
                  <a:srgbClr val="18334F"/>
                </a:solidFill>
                <a:latin typeface="Aptos" pitchFamily="34" charset="0"/>
                <a:ea typeface="Aptos" pitchFamily="34" charset="-122"/>
                <a:cs typeface="Aptos" pitchFamily="34" charset="-120"/>
              </a:rPr>
              <a:t>Undergraduate statistical proof-of-concept for solar-event detection and severity nowcasting.</a:t>
            </a:r>
            <a:endParaRPr lang="en-US" sz="1150" dirty="0"/>
          </a:p>
        </p:txBody>
      </p:sp>
      <p:sp>
        <p:nvSpPr>
          <p:cNvPr id="56" name="Text 54"/>
          <p:cNvSpPr/>
          <p:nvPr/>
        </p:nvSpPr>
        <p:spPr>
          <a:xfrm>
            <a:off x="1115568" y="6400800"/>
            <a:ext cx="9966960" cy="155448"/>
          </a:xfrm>
          <a:prstGeom prst="rect">
            <a:avLst/>
          </a:prstGeom>
          <a:noFill/>
          <a:ln/>
        </p:spPr>
        <p:txBody>
          <a:bodyPr wrap="square" lIns="508" tIns="508" rIns="508" bIns="508" rtlCol="0" anchor="ctr">
            <a:normAutofit/>
          </a:bodyPr>
          <a:lstStyle/>
          <a:p>
            <a:pPr algn="ctr" indent="0" marL="0">
              <a:buNone/>
            </a:pPr>
            <a:r>
              <a:rPr lang="en-US" sz="790" dirty="0">
                <a:solidFill>
                  <a:srgbClr val="637B93"/>
                </a:solidFill>
                <a:latin typeface="Aptos" pitchFamily="34" charset="0"/>
                <a:ea typeface="Aptos" pitchFamily="34" charset="-122"/>
                <a:cs typeface="Aptos" pitchFamily="34" charset="-120"/>
              </a:rPr>
              <a:t>Live demonstration → R Shiny: GOES Data → Statistical Baseline → Event Detection &amp; NOAA → Severity Nowcasting → ML Evaluation</a:t>
            </a:r>
            <a:endParaRPr lang="en-US" sz="790" dirty="0"/>
          </a:p>
        </p:txBody>
      </p:sp>
      <p:sp>
        <p:nvSpPr>
          <p:cNvPr id="25" name="Slide Number Placeholder 0"/>
          <p:cNvSpPr>
            <a:spLocks noGrp="1"/>
          </p:cNvSpPr>
          <p:nvPr>
            <p:ph type="sldNum" sz="quarter" idx="4294967295"/>
          </p:nvPr>
        </p:nvSpPr>
        <p:spPr>
          <a:xfrm>
            <a:off x="11384280" y="6556248"/>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6D86A2"/>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Geethanjali College of Engineering and Technology (Autonomous)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Detection and Classification of Solar Activity Using Real-Time X-Ray Time-Series Data</dc:title>
  <dc:subject>SML PBL - Solar Activity</dc:subject>
  <dc:creator>OpenAI</dc:creator>
  <cp:lastModifiedBy>OpenAI</cp:lastModifiedBy>
  <cp:revision>1</cp:revision>
  <dcterms:created xsi:type="dcterms:W3CDTF">2026-09-19T19:12:21Z</dcterms:created>
  <dcterms:modified xsi:type="dcterms:W3CDTF">2026-09-19T19:12:21Z</dcterms:modified>
</cp:coreProperties>
</file>